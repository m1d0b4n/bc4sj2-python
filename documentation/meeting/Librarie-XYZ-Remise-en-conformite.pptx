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PT Serif"/>
      <p:regular r:id="rId17"/>
    </p:embeddedFont>
    <p:embeddedFont>
      <p:font typeface="PT Serif Bold"/>
      <p:regular r:id="rId18"/>
    </p:embeddedFont>
    <p:embeddedFont>
      <p:font typeface="DM Sans"/>
      <p:regular r:id="rId19"/>
    </p:embeddedFont>
    <p:embeddedFont>
      <p:font typeface="DM Sans Bold"/>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pic>
        <p:nvPicPr>
          <p:cNvPr id="3"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users/m1d0b4n/projects/6/views/1" TargetMode="External"/><Relationship Id="rId3" Type="http://schemas.openxmlformats.org/officeDocument/2006/relationships/hyperlink" Target="https://github.com/users/m1d0b4n/projects/6/views/1" TargetMode="External"/><Relationship Id="rId2" Type="http://schemas.openxmlformats.org/officeDocument/2006/relationships/image" Target="../media/image-2-1.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m1d0b4n/BC4SJ2-PYTHON/issues/2" TargetMode="External"/><Relationship Id="rId2" Type="http://schemas.openxmlformats.org/officeDocument/2006/relationships/hyperlink" Target="https://github.com/m1d0b4n/BC4SJ2-PYTHON/issues/3" TargetMode="External"/><Relationship Id="rId3" Type="http://schemas.openxmlformats.org/officeDocument/2006/relationships/hyperlink" Target="https://github.com/m1d0b4n/BC4SJ2-PYTHON/issues/1" TargetMode="External"/><Relationship Id="rId4" Type="http://schemas.openxmlformats.org/officeDocument/2006/relationships/hyperlink" Target="https://github.com/m1d0b4n/BC4SJ2-PYTHON/issues/6" TargetMode="External"/><Relationship Id="rId5" Type="http://schemas.openxmlformats.org/officeDocument/2006/relationships/image" Target="../media/image-3-1.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sonarcloud.io/summary/overall?id=m1d0b4n_BC4SJ2-PYTHON&amp;branch=main" TargetMode="External"/><Relationship Id="rId2" Type="http://schemas.openxmlformats.org/officeDocument/2006/relationships/image" Target="../media/image-5-1.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m1d0b4n/BC4SJ2-PYTHON/blob/main/documentation/rapport_OWASP.pdf" TargetMode="External"/><Relationship Id="rId3" Type="http://schemas.openxmlformats.org/officeDocument/2006/relationships/hyperlink" Target="https://github.com/m1d0b4n/BC4SJ2-PYTHON/blob/main/documentation/rapport_OWASP.pdf" TargetMode="External"/><Relationship Id="rId2" Type="http://schemas.openxmlformats.org/officeDocument/2006/relationships/image" Target="../media/image-7-1.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m1d0b4n/BC4SJ2-PYTHON"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F2EEEE"/>
          </a:solidFill>
          <a:ln/>
        </p:spPr>
      </p:sp>
      <p:pic>
        <p:nvPicPr>
          <p:cNvPr id="3" name="Image 0" descr="preencoded.png">    </p:cNvPr>
          <p:cNvPicPr>
            <a:picLocks noChangeAspect="1"/>
          </p:cNvPicPr>
          <p:nvPr/>
        </p:nvPicPr>
        <p:blipFill>
          <a:blip r:embed="rId1"/>
          <a:stretch>
            <a:fillRect/>
          </a:stretch>
        </p:blipFill>
        <p:spPr>
          <a:xfrm>
            <a:off x="53280" y="79921"/>
            <a:ext cx="3322439" cy="4983659"/>
          </a:xfrm>
          <a:prstGeom prst="rect">
            <a:avLst/>
          </a:prstGeom>
        </p:spPr>
      </p:pic>
      <p:sp>
        <p:nvSpPr>
          <p:cNvPr id="4" name="Shape 1"/>
          <p:cNvSpPr/>
          <p:nvPr/>
        </p:nvSpPr>
        <p:spPr>
          <a:xfrm>
            <a:off x="3855393" y="330622"/>
            <a:ext cx="2192164" cy="190649"/>
          </a:xfrm>
          <a:prstGeom prst="roundRect">
            <a:avLst>
              <a:gd name="adj" fmla="val 6710"/>
            </a:avLst>
          </a:prstGeom>
          <a:solidFill>
            <a:srgbClr val="FFDECC"/>
          </a:solidFill>
          <a:ln/>
        </p:spPr>
      </p:sp>
      <p:sp>
        <p:nvSpPr>
          <p:cNvPr id="5" name="Text 2"/>
          <p:cNvSpPr/>
          <p:nvPr/>
        </p:nvSpPr>
        <p:spPr>
          <a:xfrm>
            <a:off x="3919314" y="362545"/>
            <a:ext cx="2521521" cy="126802"/>
          </a:xfrm>
          <a:prstGeom prst="rect">
            <a:avLst/>
          </a:prstGeom>
          <a:noFill/>
          <a:ln/>
        </p:spPr>
        <p:txBody>
          <a:bodyPr wrap="none" lIns="0" tIns="0" rIns="0" bIns="0" rtlCol="0" anchor="t"/>
          <a:lstStyle/>
          <a:p>
            <a:pPr algn="l" indent="0" marL="0">
              <a:lnSpc>
                <a:spcPct val="124000"/>
              </a:lnSpc>
              <a:buNone/>
            </a:pPr>
            <a:r>
              <a:rPr lang="en-US" sz="650" dirty="0">
                <a:solidFill>
                  <a:srgbClr val="383838"/>
                </a:solidFill>
                <a:latin typeface="DM Sans" pitchFamily="34" charset="0"/>
                <a:ea typeface="DM Sans" pitchFamily="34" charset="-122"/>
                <a:cs typeface="DM Sans" pitchFamily="34" charset="-120"/>
              </a:rPr>
              <a:t>AT4 · AUDIT DE SÉCURITÉ APPLICATIVE · 28 MAI 2026</a:t>
            </a:r>
            <a:endParaRPr lang="en-US" sz="650" dirty="0"/>
          </a:p>
        </p:txBody>
      </p:sp>
      <p:sp>
        <p:nvSpPr>
          <p:cNvPr id="6" name="Text 3"/>
          <p:cNvSpPr/>
          <p:nvPr/>
        </p:nvSpPr>
        <p:spPr>
          <a:xfrm>
            <a:off x="3855393" y="557882"/>
            <a:ext cx="2798266" cy="699492"/>
          </a:xfrm>
          <a:prstGeom prst="rect">
            <a:avLst/>
          </a:prstGeom>
          <a:noFill/>
          <a:ln/>
        </p:spPr>
        <p:txBody>
          <a:bodyPr wrap="square" lIns="0" tIns="0" rIns="0" bIns="0" rtlCol="0" anchor="t">
            <a:normAutofit/>
          </a:bodyPr>
          <a:lstStyle/>
          <a:p>
            <a:pPr algn="l" indent="0" marL="0">
              <a:lnSpc>
                <a:spcPct val="104000"/>
              </a:lnSpc>
              <a:buNone/>
            </a:pPr>
            <a:r>
              <a:rPr lang="en-US" sz="2200" dirty="0">
                <a:solidFill>
                  <a:srgbClr val="020202"/>
                </a:solidFill>
                <a:latin typeface="PT Serif" pitchFamily="34" charset="0"/>
                <a:ea typeface="PT Serif" pitchFamily="34" charset="-122"/>
                <a:cs typeface="PT Serif" pitchFamily="34" charset="-120"/>
              </a:rPr>
              <a:t>Librarie XYZ</a:t>
            </a:r>
            <a:endParaRPr lang="en-US" sz="2200" dirty="0"/>
          </a:p>
          <a:p>
            <a:pPr algn="l" indent="0" marL="0">
              <a:lnSpc>
                <a:spcPct val="104000"/>
              </a:lnSpc>
              <a:buNone/>
            </a:pPr>
            <a:r>
              <a:rPr lang="en-US" sz="2200" dirty="0">
                <a:solidFill>
                  <a:srgbClr val="020202"/>
                </a:solidFill>
                <a:latin typeface="PT Serif" pitchFamily="34" charset="0"/>
                <a:ea typeface="PT Serif" pitchFamily="34" charset="-122"/>
                <a:cs typeface="PT Serif" pitchFamily="34" charset="-120"/>
              </a:rPr>
              <a:t>Remise en conformité </a:t>
            </a:r>
            <a:endParaRPr lang="en-US" sz="2200" dirty="0"/>
          </a:p>
        </p:txBody>
      </p:sp>
      <p:sp>
        <p:nvSpPr>
          <p:cNvPr id="7" name="Text 4"/>
          <p:cNvSpPr/>
          <p:nvPr/>
        </p:nvSpPr>
        <p:spPr>
          <a:xfrm>
            <a:off x="3855393" y="1394743"/>
            <a:ext cx="4862215" cy="634305"/>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383838"/>
                </a:solidFill>
                <a:latin typeface="DM Sans" pitchFamily="34" charset="0"/>
                <a:ea typeface="DM Sans" pitchFamily="34" charset="-122"/>
                <a:cs typeface="DM Sans" pitchFamily="34" charset="-120"/>
              </a:rPr>
              <a:t>Audit de sécurité complet d'une application web de gestion de livres et d'emprunts, réalisé dans le cadre de l'AT4. Quatre experts ont analysé l'ensemble de la stack technique — Django 5.0.6, Python 3.12, MySQL 8.0, Apache, Docker — pour identifier, qualifier et prioriser les vulnérabilités avant déploiement en production.</a:t>
            </a:r>
            <a:endParaRPr lang="en-US" sz="800" dirty="0"/>
          </a:p>
        </p:txBody>
      </p:sp>
      <p:sp>
        <p:nvSpPr>
          <p:cNvPr id="8" name="Shape 5"/>
          <p:cNvSpPr/>
          <p:nvPr/>
        </p:nvSpPr>
        <p:spPr>
          <a:xfrm>
            <a:off x="3855393" y="2132037"/>
            <a:ext cx="4862215" cy="601489"/>
          </a:xfrm>
          <a:prstGeom prst="roundRect">
            <a:avLst>
              <a:gd name="adj" fmla="val 2658"/>
            </a:avLst>
          </a:prstGeom>
          <a:solidFill>
            <a:srgbClr val="F2EEEE"/>
          </a:solidFill>
          <a:ln/>
        </p:spPr>
      </p:sp>
      <p:sp>
        <p:nvSpPr>
          <p:cNvPr id="9" name="Text 6"/>
          <p:cNvSpPr/>
          <p:nvPr/>
        </p:nvSpPr>
        <p:spPr>
          <a:xfrm>
            <a:off x="3961954" y="2238598"/>
            <a:ext cx="1822475" cy="174873"/>
          </a:xfrm>
          <a:prstGeom prst="rect">
            <a:avLst/>
          </a:prstGeom>
          <a:noFill/>
          <a:ln/>
        </p:spPr>
        <p:txBody>
          <a:bodyPr wrap="none" lIns="0" tIns="0" rIns="0" bIns="0" rtlCol="0" anchor="t"/>
          <a:lstStyle/>
          <a:p>
            <a:pPr algn="l" indent="0" marL="0">
              <a:lnSpc>
                <a:spcPct val="104000"/>
              </a:lnSpc>
              <a:buNone/>
            </a:pPr>
            <a:r>
              <a:rPr lang="en-US" sz="1100" dirty="0">
                <a:solidFill>
                  <a:srgbClr val="383838"/>
                </a:solidFill>
                <a:latin typeface="PT Serif" pitchFamily="34" charset="0"/>
                <a:ea typeface="PT Serif" pitchFamily="34" charset="-122"/>
                <a:cs typeface="PT Serif" pitchFamily="34" charset="-120"/>
              </a:rPr>
              <a:t>Diego D.   | alias @diegodudn</a:t>
            </a:r>
            <a:endParaRPr lang="en-US" sz="1100" dirty="0"/>
          </a:p>
        </p:txBody>
      </p:sp>
      <p:sp>
        <p:nvSpPr>
          <p:cNvPr id="10" name="Text 7"/>
          <p:cNvSpPr/>
          <p:nvPr/>
        </p:nvSpPr>
        <p:spPr>
          <a:xfrm>
            <a:off x="3961954" y="2468389"/>
            <a:ext cx="4649093" cy="158576"/>
          </a:xfrm>
          <a:prstGeom prst="rect">
            <a:avLst/>
          </a:prstGeom>
          <a:noFill/>
          <a:ln/>
        </p:spPr>
        <p:txBody>
          <a:bodyPr wrap="none" lIns="0" tIns="0" rIns="0" bIns="0" rtlCol="0" anchor="t"/>
          <a:lstStyle/>
          <a:p>
            <a:pPr algn="l" indent="0" marL="0">
              <a:lnSpc>
                <a:spcPct val="124000"/>
              </a:lnSpc>
              <a:buNone/>
            </a:pPr>
            <a:r>
              <a:rPr lang="en-US" sz="800" dirty="0">
                <a:solidFill>
                  <a:srgbClr val="383838"/>
                </a:solidFill>
                <a:latin typeface="DM Sans" pitchFamily="34" charset="0"/>
                <a:ea typeface="DM Sans" pitchFamily="34" charset="-122"/>
                <a:cs typeface="DM Sans" pitchFamily="34" charset="-120"/>
              </a:rPr>
              <a:t>Scrum Master · Coordination</a:t>
            </a:r>
            <a:endParaRPr lang="en-US" sz="800" dirty="0"/>
          </a:p>
        </p:txBody>
      </p:sp>
      <p:sp>
        <p:nvSpPr>
          <p:cNvPr id="11" name="Shape 8"/>
          <p:cNvSpPr/>
          <p:nvPr/>
        </p:nvSpPr>
        <p:spPr>
          <a:xfrm>
            <a:off x="3855393" y="2825130"/>
            <a:ext cx="4862215" cy="601489"/>
          </a:xfrm>
          <a:prstGeom prst="roundRect">
            <a:avLst>
              <a:gd name="adj" fmla="val 2658"/>
            </a:avLst>
          </a:prstGeom>
          <a:solidFill>
            <a:srgbClr val="F2EEEE"/>
          </a:solidFill>
          <a:ln/>
        </p:spPr>
      </p:sp>
      <p:sp>
        <p:nvSpPr>
          <p:cNvPr id="12" name="Text 9"/>
          <p:cNvSpPr/>
          <p:nvPr/>
        </p:nvSpPr>
        <p:spPr>
          <a:xfrm>
            <a:off x="3961954" y="2931691"/>
            <a:ext cx="1503983" cy="174873"/>
          </a:xfrm>
          <a:prstGeom prst="rect">
            <a:avLst/>
          </a:prstGeom>
          <a:noFill/>
          <a:ln/>
        </p:spPr>
        <p:txBody>
          <a:bodyPr wrap="none" lIns="0" tIns="0" rIns="0" bIns="0" rtlCol="0" anchor="t"/>
          <a:lstStyle/>
          <a:p>
            <a:pPr algn="l" indent="0" marL="0">
              <a:lnSpc>
                <a:spcPct val="104000"/>
              </a:lnSpc>
              <a:buNone/>
            </a:pPr>
            <a:r>
              <a:rPr lang="en-US" sz="1100" dirty="0">
                <a:solidFill>
                  <a:srgbClr val="383838"/>
                </a:solidFill>
                <a:latin typeface="PT Serif" pitchFamily="34" charset="0"/>
                <a:ea typeface="PT Serif" pitchFamily="34" charset="-122"/>
                <a:cs typeface="PT Serif" pitchFamily="34" charset="-120"/>
              </a:rPr>
              <a:t>Kevin L.   | alias @kevljn</a:t>
            </a:r>
            <a:endParaRPr lang="en-US" sz="1100" dirty="0"/>
          </a:p>
        </p:txBody>
      </p:sp>
      <p:sp>
        <p:nvSpPr>
          <p:cNvPr id="13" name="Text 10"/>
          <p:cNvSpPr/>
          <p:nvPr/>
        </p:nvSpPr>
        <p:spPr>
          <a:xfrm>
            <a:off x="3961954" y="3161481"/>
            <a:ext cx="4649093" cy="158576"/>
          </a:xfrm>
          <a:prstGeom prst="rect">
            <a:avLst/>
          </a:prstGeom>
          <a:noFill/>
          <a:ln/>
        </p:spPr>
        <p:txBody>
          <a:bodyPr wrap="none" lIns="0" tIns="0" rIns="0" bIns="0" rtlCol="0" anchor="t"/>
          <a:lstStyle/>
          <a:p>
            <a:pPr algn="l" indent="0" marL="0">
              <a:lnSpc>
                <a:spcPct val="124000"/>
              </a:lnSpc>
              <a:buNone/>
            </a:pPr>
            <a:r>
              <a:rPr lang="en-US" sz="800" dirty="0">
                <a:solidFill>
                  <a:srgbClr val="383838"/>
                </a:solidFill>
                <a:latin typeface="DM Sans" pitchFamily="34" charset="0"/>
                <a:ea typeface="DM Sans" pitchFamily="34" charset="-122"/>
                <a:cs typeface="DM Sans" pitchFamily="34" charset="-120"/>
              </a:rPr>
              <a:t>Pentest &amp; tests manuels</a:t>
            </a:r>
            <a:endParaRPr lang="en-US" sz="800" dirty="0"/>
          </a:p>
        </p:txBody>
      </p:sp>
      <p:sp>
        <p:nvSpPr>
          <p:cNvPr id="14" name="Shape 11"/>
          <p:cNvSpPr/>
          <p:nvPr/>
        </p:nvSpPr>
        <p:spPr>
          <a:xfrm>
            <a:off x="3855393" y="3518222"/>
            <a:ext cx="4862215" cy="601489"/>
          </a:xfrm>
          <a:prstGeom prst="roundRect">
            <a:avLst>
              <a:gd name="adj" fmla="val 2658"/>
            </a:avLst>
          </a:prstGeom>
          <a:solidFill>
            <a:srgbClr val="F2EEEE"/>
          </a:solidFill>
          <a:ln/>
        </p:spPr>
      </p:sp>
      <p:sp>
        <p:nvSpPr>
          <p:cNvPr id="15" name="Text 12"/>
          <p:cNvSpPr/>
          <p:nvPr/>
        </p:nvSpPr>
        <p:spPr>
          <a:xfrm>
            <a:off x="3961954" y="3624783"/>
            <a:ext cx="1858566" cy="174873"/>
          </a:xfrm>
          <a:prstGeom prst="rect">
            <a:avLst/>
          </a:prstGeom>
          <a:noFill/>
          <a:ln/>
        </p:spPr>
        <p:txBody>
          <a:bodyPr wrap="none" lIns="0" tIns="0" rIns="0" bIns="0" rtlCol="0" anchor="t"/>
          <a:lstStyle/>
          <a:p>
            <a:pPr algn="l" indent="0" marL="0">
              <a:lnSpc>
                <a:spcPct val="104000"/>
              </a:lnSpc>
              <a:buNone/>
            </a:pPr>
            <a:r>
              <a:rPr lang="en-US" sz="1100" dirty="0">
                <a:solidFill>
                  <a:srgbClr val="383838"/>
                </a:solidFill>
                <a:latin typeface="PT Serif" pitchFamily="34" charset="0"/>
                <a:ea typeface="PT Serif" pitchFamily="34" charset="-122"/>
                <a:cs typeface="PT Serif" pitchFamily="34" charset="-120"/>
              </a:rPr>
              <a:t>Thomas G.   | alias @orAAKLe</a:t>
            </a:r>
            <a:endParaRPr lang="en-US" sz="1100" dirty="0"/>
          </a:p>
        </p:txBody>
      </p:sp>
      <p:sp>
        <p:nvSpPr>
          <p:cNvPr id="16" name="Text 13"/>
          <p:cNvSpPr/>
          <p:nvPr/>
        </p:nvSpPr>
        <p:spPr>
          <a:xfrm>
            <a:off x="3961954" y="3854574"/>
            <a:ext cx="4649093" cy="158576"/>
          </a:xfrm>
          <a:prstGeom prst="rect">
            <a:avLst/>
          </a:prstGeom>
          <a:noFill/>
          <a:ln/>
        </p:spPr>
        <p:txBody>
          <a:bodyPr wrap="none" lIns="0" tIns="0" rIns="0" bIns="0" rtlCol="0" anchor="t"/>
          <a:lstStyle/>
          <a:p>
            <a:pPr algn="l" indent="0" marL="0">
              <a:lnSpc>
                <a:spcPct val="124000"/>
              </a:lnSpc>
              <a:buNone/>
            </a:pPr>
            <a:r>
              <a:rPr lang="en-US" sz="800" dirty="0">
                <a:solidFill>
                  <a:srgbClr val="383838"/>
                </a:solidFill>
                <a:latin typeface="DM Sans" pitchFamily="34" charset="0"/>
                <a:ea typeface="DM Sans" pitchFamily="34" charset="-122"/>
                <a:cs typeface="DM Sans" pitchFamily="34" charset="-120"/>
              </a:rPr>
              <a:t>Revue de code &amp; sécurité Django</a:t>
            </a:r>
            <a:endParaRPr lang="en-US" sz="800" dirty="0"/>
          </a:p>
        </p:txBody>
      </p:sp>
      <p:sp>
        <p:nvSpPr>
          <p:cNvPr id="17" name="Shape 14"/>
          <p:cNvSpPr/>
          <p:nvPr/>
        </p:nvSpPr>
        <p:spPr>
          <a:xfrm>
            <a:off x="3855393" y="4211315"/>
            <a:ext cx="4862215" cy="601489"/>
          </a:xfrm>
          <a:prstGeom prst="roundRect">
            <a:avLst>
              <a:gd name="adj" fmla="val 2658"/>
            </a:avLst>
          </a:prstGeom>
          <a:solidFill>
            <a:srgbClr val="F2EEEE"/>
          </a:solidFill>
          <a:ln/>
        </p:spPr>
      </p:sp>
      <p:sp>
        <p:nvSpPr>
          <p:cNvPr id="18" name="Text 15"/>
          <p:cNvSpPr/>
          <p:nvPr/>
        </p:nvSpPr>
        <p:spPr>
          <a:xfrm>
            <a:off x="3961954" y="4317876"/>
            <a:ext cx="1689795" cy="174873"/>
          </a:xfrm>
          <a:prstGeom prst="rect">
            <a:avLst/>
          </a:prstGeom>
          <a:noFill/>
          <a:ln/>
        </p:spPr>
        <p:txBody>
          <a:bodyPr wrap="none" lIns="0" tIns="0" rIns="0" bIns="0" rtlCol="0" anchor="t"/>
          <a:lstStyle/>
          <a:p>
            <a:pPr algn="l" indent="0" marL="0">
              <a:lnSpc>
                <a:spcPct val="104000"/>
              </a:lnSpc>
              <a:buNone/>
            </a:pPr>
            <a:r>
              <a:rPr lang="en-US" sz="1100" dirty="0">
                <a:solidFill>
                  <a:srgbClr val="383838"/>
                </a:solidFill>
                <a:latin typeface="PT Serif" pitchFamily="34" charset="0"/>
                <a:ea typeface="PT Serif" pitchFamily="34" charset="-122"/>
                <a:cs typeface="PT Serif" pitchFamily="34" charset="-120"/>
              </a:rPr>
              <a:t>Rudy B.   | alias @m1d0b4n</a:t>
            </a:r>
            <a:endParaRPr lang="en-US" sz="1100" dirty="0"/>
          </a:p>
        </p:txBody>
      </p:sp>
      <p:sp>
        <p:nvSpPr>
          <p:cNvPr id="19" name="Text 16"/>
          <p:cNvSpPr/>
          <p:nvPr/>
        </p:nvSpPr>
        <p:spPr>
          <a:xfrm>
            <a:off x="3961954" y="4547667"/>
            <a:ext cx="4649093" cy="158576"/>
          </a:xfrm>
          <a:prstGeom prst="rect">
            <a:avLst/>
          </a:prstGeom>
          <a:noFill/>
          <a:ln/>
        </p:spPr>
        <p:txBody>
          <a:bodyPr wrap="none" lIns="0" tIns="0" rIns="0" bIns="0" rtlCol="0" anchor="t"/>
          <a:lstStyle/>
          <a:p>
            <a:pPr algn="l" indent="0" marL="0">
              <a:lnSpc>
                <a:spcPct val="124000"/>
              </a:lnSpc>
              <a:buNone/>
            </a:pPr>
            <a:r>
              <a:rPr lang="en-US" sz="800" dirty="0">
                <a:solidFill>
                  <a:srgbClr val="383838"/>
                </a:solidFill>
                <a:latin typeface="DM Sans" pitchFamily="34" charset="0"/>
                <a:ea typeface="DM Sans" pitchFamily="34" charset="-122"/>
                <a:cs typeface="DM Sans" pitchFamily="34" charset="-120"/>
              </a:rPr>
              <a:t>Analyse statique SonarCloud</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33029" y="288950"/>
            <a:ext cx="649486" cy="156865"/>
          </a:xfrm>
          <a:prstGeom prst="roundRect">
            <a:avLst>
              <a:gd name="adj" fmla="val 6672"/>
            </a:avLst>
          </a:prstGeom>
          <a:noFill/>
          <a:ln w="4763">
            <a:solidFill>
              <a:srgbClr val="E04F00"/>
            </a:solidFill>
            <a:prstDash val="solid"/>
          </a:ln>
        </p:spPr>
      </p:sp>
      <p:sp>
        <p:nvSpPr>
          <p:cNvPr id="3" name="Text 1"/>
          <p:cNvSpPr/>
          <p:nvPr/>
        </p:nvSpPr>
        <p:spPr>
          <a:xfrm>
            <a:off x="1190104" y="319832"/>
            <a:ext cx="992535" cy="95101"/>
          </a:xfrm>
          <a:prstGeom prst="rect">
            <a:avLst/>
          </a:prstGeom>
          <a:noFill/>
          <a:ln/>
        </p:spPr>
        <p:txBody>
          <a:bodyPr wrap="none" lIns="0" tIns="0" rIns="0" bIns="0" rtlCol="0" anchor="t"/>
          <a:lstStyle/>
          <a:p>
            <a:pPr algn="l" indent="0" marL="0">
              <a:lnSpc>
                <a:spcPct val="114000"/>
              </a:lnSpc>
              <a:buNone/>
            </a:pPr>
            <a:r>
              <a:rPr lang="en-US" sz="500" dirty="0">
                <a:solidFill>
                  <a:srgbClr val="E04F00"/>
                </a:solidFill>
                <a:latin typeface="DM Sans" pitchFamily="34" charset="0"/>
                <a:ea typeface="DM Sans" pitchFamily="34" charset="-122"/>
                <a:cs typeface="DM Sans" pitchFamily="34" charset="-120"/>
              </a:rPr>
              <a:t>MÉTHODOLOGIE</a:t>
            </a:r>
            <a:endParaRPr lang="en-US" sz="500" dirty="0"/>
          </a:p>
        </p:txBody>
      </p:sp>
      <p:sp>
        <p:nvSpPr>
          <p:cNvPr id="4" name="Text 2"/>
          <p:cNvSpPr/>
          <p:nvPr/>
        </p:nvSpPr>
        <p:spPr>
          <a:xfrm>
            <a:off x="1133029" y="470297"/>
            <a:ext cx="3672334" cy="286196"/>
          </a:xfrm>
          <a:prstGeom prst="rect">
            <a:avLst/>
          </a:prstGeom>
          <a:noFill/>
          <a:ln/>
        </p:spPr>
        <p:txBody>
          <a:bodyPr wrap="none" lIns="0" tIns="0" rIns="0" bIns="0" rtlCol="0" anchor="t"/>
          <a:lstStyle/>
          <a:p>
            <a:pPr algn="l" indent="0" marL="0">
              <a:lnSpc>
                <a:spcPct val="104000"/>
              </a:lnSpc>
              <a:buNone/>
            </a:pPr>
            <a:r>
              <a:rPr lang="en-US" sz="1800" dirty="0">
                <a:solidFill>
                  <a:srgbClr val="020202"/>
                </a:solidFill>
                <a:latin typeface="PT Serif" pitchFamily="34" charset="0"/>
                <a:ea typeface="PT Serif" pitchFamily="34" charset="-122"/>
                <a:cs typeface="PT Serif" pitchFamily="34" charset="-120"/>
              </a:rPr>
              <a:t>Contexte &amp; Méthodologie Agile</a:t>
            </a:r>
            <a:endParaRPr lang="en-US" sz="1800" dirty="0"/>
          </a:p>
        </p:txBody>
      </p:sp>
      <p:sp>
        <p:nvSpPr>
          <p:cNvPr id="5" name="Shape 3"/>
          <p:cNvSpPr/>
          <p:nvPr/>
        </p:nvSpPr>
        <p:spPr>
          <a:xfrm>
            <a:off x="1070297" y="848469"/>
            <a:ext cx="3458021" cy="1182737"/>
          </a:xfrm>
          <a:prstGeom prst="roundRect">
            <a:avLst>
              <a:gd name="adj" fmla="val 1106"/>
            </a:avLst>
          </a:prstGeom>
          <a:solidFill>
            <a:srgbClr val="E04F00"/>
          </a:solidFill>
          <a:ln/>
        </p:spPr>
      </p:sp>
      <p:sp>
        <p:nvSpPr>
          <p:cNvPr id="6" name="Text 4"/>
          <p:cNvSpPr/>
          <p:nvPr/>
        </p:nvSpPr>
        <p:spPr>
          <a:xfrm>
            <a:off x="1157511" y="909786"/>
            <a:ext cx="1601912" cy="143024"/>
          </a:xfrm>
          <a:prstGeom prst="rect">
            <a:avLst/>
          </a:prstGeom>
          <a:noFill/>
          <a:ln/>
        </p:spPr>
        <p:txBody>
          <a:bodyPr wrap="none" lIns="0" tIns="0" rIns="0" bIns="0" rtlCol="0" anchor="t"/>
          <a:lstStyle/>
          <a:p>
            <a:pPr algn="l" indent="0" marL="0">
              <a:lnSpc>
                <a:spcPct val="104000"/>
              </a:lnSpc>
              <a:buNone/>
            </a:pPr>
            <a:r>
              <a:rPr lang="en-US" sz="900" dirty="0">
                <a:solidFill>
                  <a:srgbClr val="020202"/>
                </a:solidFill>
                <a:latin typeface="PT Serif" pitchFamily="34" charset="0"/>
                <a:ea typeface="PT Serif" pitchFamily="34" charset="-122"/>
                <a:cs typeface="PT Serif" pitchFamily="34" charset="-120"/>
              </a:rPr>
              <a:t>Contexte de l'audit</a:t>
            </a:r>
            <a:endParaRPr lang="en-US" sz="900" dirty="0"/>
          </a:p>
        </p:txBody>
      </p:sp>
      <p:sp>
        <p:nvSpPr>
          <p:cNvPr id="7" name="Text 5"/>
          <p:cNvSpPr/>
          <p:nvPr/>
        </p:nvSpPr>
        <p:spPr>
          <a:xfrm>
            <a:off x="1157511" y="1114127"/>
            <a:ext cx="3283595" cy="648965"/>
          </a:xfrm>
          <a:prstGeom prst="rect">
            <a:avLst/>
          </a:prstGeom>
          <a:noFill/>
          <a:ln/>
        </p:spPr>
        <p:txBody>
          <a:bodyPr wrap="square" lIns="0" tIns="0" rIns="0" bIns="0" rtlCol="0" anchor="t">
            <a:normAutofit/>
          </a:bodyPr>
          <a:lstStyle/>
          <a:p>
            <a:pPr algn="l" indent="0" marL="0">
              <a:lnSpc>
                <a:spcPct val="114000"/>
              </a:lnSpc>
              <a:spcAft>
                <a:spcPts val="400"/>
              </a:spcAft>
              <a:buNone/>
            </a:pPr>
            <a:r>
              <a:rPr lang="en-US" sz="650" dirty="0">
                <a:solidFill>
                  <a:srgbClr val="000000"/>
                </a:solidFill>
                <a:latin typeface="DM Sans" pitchFamily="34" charset="0"/>
                <a:ea typeface="DM Sans" pitchFamily="34" charset="-122"/>
                <a:cs typeface="DM Sans" pitchFamily="34" charset="-120"/>
              </a:rPr>
              <a:t>La librairie XYZ a reçu une première version de son application web (gestion de livres et d'emprunts). Bien que fonctionnelle, elle contient de nombreuses failles de sécurité. Notre équipe réalise un audit complet avant tout déploiement en production.</a:t>
            </a:r>
            <a:endParaRPr lang="en-US" sz="650" dirty="0"/>
          </a:p>
          <a:p>
            <a:pPr algn="l" indent="0" marL="0">
              <a:lnSpc>
                <a:spcPct val="114000"/>
              </a:lnSpc>
              <a:buNone/>
            </a:pPr>
            <a:r>
              <a:rPr lang="en-US" sz="650" b="1" dirty="0">
                <a:solidFill>
                  <a:srgbClr val="000000"/>
                </a:solidFill>
                <a:latin typeface="DM Sans" pitchFamily="34" charset="0"/>
                <a:ea typeface="DM Sans" pitchFamily="34" charset="-122"/>
                <a:cs typeface="DM Sans" pitchFamily="34" charset="-120"/>
              </a:rPr>
              <a:t>Périmètre :</a:t>
            </a:r>
            <a:pPr algn="l" indent="0" marL="0">
              <a:lnSpc>
                <a:spcPct val="114000"/>
              </a:lnSpc>
              <a:buNone/>
            </a:pPr>
            <a:r>
              <a:rPr lang="en-US" sz="650" dirty="0">
                <a:solidFill>
                  <a:srgbClr val="000000"/>
                </a:solidFill>
                <a:latin typeface="DM Sans" pitchFamily="34" charset="0"/>
                <a:ea typeface="DM Sans" pitchFamily="34" charset="-122"/>
                <a:cs typeface="DM Sans" pitchFamily="34" charset="-120"/>
              </a:rPr>
              <a:t> settings.py · module loan/ · module books/ · accounts/ · templates</a:t>
            </a:r>
            <a:endParaRPr lang="en-US" sz="650" dirty="0"/>
          </a:p>
        </p:txBody>
      </p:sp>
      <p:sp>
        <p:nvSpPr>
          <p:cNvPr id="8" name="Text 6"/>
          <p:cNvSpPr/>
          <p:nvPr/>
        </p:nvSpPr>
        <p:spPr>
          <a:xfrm>
            <a:off x="4683026" y="909786"/>
            <a:ext cx="2558728" cy="143024"/>
          </a:xfrm>
          <a:prstGeom prst="rect">
            <a:avLst/>
          </a:prstGeom>
          <a:noFill/>
          <a:ln/>
        </p:spPr>
        <p:txBody>
          <a:bodyPr wrap="none" lIns="0" tIns="0" rIns="0" bIns="0" rtlCol="0" anchor="t"/>
          <a:lstStyle/>
          <a:p>
            <a:pPr algn="l" indent="0" marL="0">
              <a:lnSpc>
                <a:spcPct val="104000"/>
              </a:lnSpc>
              <a:buNone/>
            </a:pPr>
            <a:r>
              <a:rPr lang="en-US" sz="900" dirty="0">
                <a:solidFill>
                  <a:srgbClr val="020202"/>
                </a:solidFill>
                <a:latin typeface="PT Serif" pitchFamily="34" charset="0"/>
                <a:ea typeface="PT Serif" pitchFamily="34" charset="-122"/>
                <a:cs typeface="PT Serif" pitchFamily="34" charset="-120"/>
              </a:rPr>
              <a:t>Organisation Scrum adaptée (examen 4h)</a:t>
            </a:r>
            <a:endParaRPr lang="en-US" sz="900" dirty="0"/>
          </a:p>
        </p:txBody>
      </p:sp>
      <p:sp>
        <p:nvSpPr>
          <p:cNvPr id="9" name="Text 7"/>
          <p:cNvSpPr/>
          <p:nvPr/>
        </p:nvSpPr>
        <p:spPr>
          <a:xfrm>
            <a:off x="4683026" y="1114127"/>
            <a:ext cx="3332559" cy="895648"/>
          </a:xfrm>
          <a:prstGeom prst="rect">
            <a:avLst/>
          </a:prstGeom>
          <a:noFill/>
          <a:ln/>
        </p:spPr>
        <p:txBody>
          <a:bodyPr wrap="square" lIns="0" tIns="0" rIns="0" bIns="0" rtlCol="0" anchor="t">
            <a:normAutofit/>
          </a:bodyPr>
          <a:lstStyle/>
          <a:p>
            <a:pPr algn="l" marL="342900" indent="-342900">
              <a:lnSpc>
                <a:spcPct val="114000"/>
              </a:lnSpc>
              <a:buSzPct val="100000"/>
              <a:buChar char="•"/>
            </a:pPr>
            <a:r>
              <a:rPr lang="en-US" sz="650" dirty="0">
                <a:solidFill>
                  <a:srgbClr val="383838"/>
                </a:solidFill>
                <a:latin typeface="DM Sans" pitchFamily="34" charset="0"/>
                <a:ea typeface="DM Sans" pitchFamily="34" charset="-122"/>
                <a:cs typeface="DM Sans" pitchFamily="34" charset="-120"/>
              </a:rPr>
              <a:t>1 sprint unique découpé en itérations de 45 min</a:t>
            </a:r>
            <a:endParaRPr lang="en-US" sz="650" dirty="0"/>
          </a:p>
          <a:p>
            <a:pPr algn="l" marL="342900" indent="-342900">
              <a:lnSpc>
                <a:spcPct val="114000"/>
              </a:lnSpc>
              <a:buSzPct val="100000"/>
              <a:buChar char="•"/>
            </a:pPr>
            <a:r>
              <a:rPr lang="en-US" sz="650" dirty="0">
                <a:solidFill>
                  <a:srgbClr val="383838"/>
                </a:solidFill>
                <a:latin typeface="DM Sans" pitchFamily="34" charset="0"/>
                <a:ea typeface="DM Sans" pitchFamily="34" charset="-122"/>
                <a:cs typeface="DM Sans" pitchFamily="34" charset="-120"/>
              </a:rPr>
              <a:t>Sprint Planning (15 min) → Stand-up toutes les 45 min → Review → Rétrospective</a:t>
            </a:r>
            <a:endParaRPr lang="en-US" sz="650" dirty="0"/>
          </a:p>
          <a:p>
            <a:pPr algn="l" marL="342900" indent="-342900">
              <a:lnSpc>
                <a:spcPct val="114000"/>
              </a:lnSpc>
              <a:buSzPct val="100000"/>
              <a:buChar char="•"/>
            </a:pPr>
            <a:r>
              <a:rPr lang="en-US" sz="650" b="1" dirty="0">
                <a:solidFill>
                  <a:srgbClr val="383838"/>
                </a:solidFill>
                <a:latin typeface="DM Sans" pitchFamily="34" charset="0"/>
                <a:ea typeface="DM Sans" pitchFamily="34" charset="-122"/>
                <a:cs typeface="DM Sans" pitchFamily="34" charset="-120"/>
              </a:rPr>
              <a:t>55 issues</a:t>
            </a:r>
            <a:pPr algn="l" marL="342900" indent="-342900">
              <a:lnSpc>
                <a:spcPct val="114000"/>
              </a:lnSpc>
              <a:buSzPct val="100000"/>
              <a:buChar char="•"/>
            </a:pPr>
            <a:r>
              <a:rPr lang="en-US" sz="650" dirty="0">
                <a:solidFill>
                  <a:srgbClr val="383838"/>
                </a:solidFill>
                <a:latin typeface="DM Sans" pitchFamily="34" charset="0"/>
                <a:ea typeface="DM Sans" pitchFamily="34" charset="-122"/>
                <a:cs typeface="DM Sans" pitchFamily="34" charset="-120"/>
              </a:rPr>
              <a:t> créées sur GitHub Projects (</a:t>
            </a:r>
            <a:pPr algn="l" marL="342900" indent="-342900">
              <a:lnSpc>
                <a:spcPct val="114000"/>
              </a:lnSpc>
              <a:buSzPct val="100000"/>
              <a:buChar char="•"/>
            </a:pPr>
            <a:r>
              <a:rPr lang="en-US" sz="650" u="sng" dirty="0">
                <a:solidFill>
                  <a:srgbClr val="E04F00"/>
                </a:solidFill>
                <a:latin typeface="DM Sans" pitchFamily="34" charset="0"/>
                <a:ea typeface="DM Sans" pitchFamily="34" charset="-122"/>
                <a:cs typeface="DM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Kanban</a:t>
            </a:r>
            <a:pPr algn="l" marL="342900" indent="-342900">
              <a:lnSpc>
                <a:spcPct val="114000"/>
              </a:lnSpc>
              <a:buSzPct val="100000"/>
              <a:buChar char="•"/>
            </a:pPr>
            <a:r>
              <a:rPr lang="en-US" sz="650" dirty="0">
                <a:solidFill>
                  <a:srgbClr val="383838"/>
                </a:solidFill>
                <a:latin typeface="DM Sans" pitchFamily="34" charset="0"/>
                <a:ea typeface="DM Sans" pitchFamily="34" charset="-122"/>
                <a:cs typeface="DM Sans" pitchFamily="34" charset="-120"/>
              </a:rPr>
              <a:t>) : classifiées HIGH / MEDIUM / LOW ou Agile</a:t>
            </a:r>
            <a:endParaRPr lang="en-US" sz="650" dirty="0"/>
          </a:p>
          <a:p>
            <a:pPr algn="l" marL="342900" indent="-342900">
              <a:lnSpc>
                <a:spcPct val="114000"/>
              </a:lnSpc>
              <a:buSzPct val="100000"/>
              <a:buChar char="•"/>
            </a:pPr>
            <a:r>
              <a:rPr lang="en-US" sz="650" b="1" dirty="0">
                <a:solidFill>
                  <a:srgbClr val="383838"/>
                </a:solidFill>
                <a:latin typeface="DM Sans" pitchFamily="34" charset="0"/>
                <a:ea typeface="DM Sans" pitchFamily="34" charset="-122"/>
                <a:cs typeface="DM Sans" pitchFamily="34" charset="-120"/>
              </a:rPr>
              <a:t>Outils :</a:t>
            </a:r>
            <a:pPr algn="l" marL="342900" indent="-342900">
              <a:lnSpc>
                <a:spcPct val="114000"/>
              </a:lnSpc>
              <a:buSzPct val="100000"/>
              <a:buChar char="•"/>
            </a:pPr>
            <a:r>
              <a:rPr lang="en-US" sz="650" dirty="0">
                <a:solidFill>
                  <a:srgbClr val="383838"/>
                </a:solidFill>
                <a:latin typeface="DM Sans" pitchFamily="34" charset="0"/>
                <a:ea typeface="DM Sans" pitchFamily="34" charset="-122"/>
                <a:cs typeface="DM Sans" pitchFamily="34" charset="-120"/>
              </a:rPr>
              <a:t> SonarCloud (analyse statique) · OWASP PTK (DAST/IAST) · Pentest boîte grise</a:t>
            </a:r>
            <a:endParaRPr lang="en-US" sz="650" dirty="0"/>
          </a:p>
        </p:txBody>
      </p:sp>
      <p:pic>
        <p:nvPicPr>
          <p:cNvPr id="10" name="Image 0" descr="preencoded.png">    </p:cNvPr>
          <p:cNvPicPr>
            <a:picLocks noChangeAspect="1"/>
          </p:cNvPicPr>
          <p:nvPr/>
        </p:nvPicPr>
        <p:blipFill>
          <a:blip r:embed="rId2"/>
          <a:stretch>
            <a:fillRect/>
          </a:stretch>
        </p:blipFill>
        <p:spPr>
          <a:xfrm>
            <a:off x="1897633" y="2100188"/>
            <a:ext cx="5348585" cy="2447851"/>
          </a:xfrm>
          <a:prstGeom prst="rect">
            <a:avLst/>
          </a:prstGeom>
        </p:spPr>
      </p:pic>
      <p:sp>
        <p:nvSpPr>
          <p:cNvPr id="11" name="Text 8"/>
          <p:cNvSpPr/>
          <p:nvPr/>
        </p:nvSpPr>
        <p:spPr>
          <a:xfrm>
            <a:off x="5764457" y="3961915"/>
            <a:ext cx="1232748" cy="203108"/>
          </a:xfrm>
          <a:prstGeom prst="rect">
            <a:avLst/>
          </a:prstGeom>
          <a:noFill/>
          <a:ln/>
        </p:spPr>
        <p:txBody>
          <a:bodyPr wrap="none" lIns="0" tIns="0" rIns="0" bIns="0" rtlCol="0" anchor="t"/>
          <a:lstStyle/>
          <a:p>
            <a:pPr algn="ctr" indent="0" marL="0">
              <a:lnSpc>
                <a:spcPct val="104000"/>
              </a:lnSpc>
              <a:buNone/>
            </a:pPr>
            <a:r>
              <a:rPr lang="en-US" sz="1250" dirty="0">
                <a:solidFill>
                  <a:srgbClr val="383838"/>
                </a:solidFill>
                <a:latin typeface="PT Serif" pitchFamily="34" charset="0"/>
                <a:ea typeface="PT Serif" pitchFamily="34" charset="-122"/>
                <a:cs typeface="PT Serif" pitchFamily="34" charset="-120"/>
              </a:rPr>
              <a:t>Rétrospective</a:t>
            </a:r>
            <a:endParaRPr lang="en-US" sz="1250" dirty="0"/>
          </a:p>
        </p:txBody>
      </p:sp>
      <p:sp>
        <p:nvSpPr>
          <p:cNvPr id="12" name="Text 9"/>
          <p:cNvSpPr/>
          <p:nvPr/>
        </p:nvSpPr>
        <p:spPr>
          <a:xfrm>
            <a:off x="4498955" y="3961915"/>
            <a:ext cx="1232748" cy="203108"/>
          </a:xfrm>
          <a:prstGeom prst="rect">
            <a:avLst/>
          </a:prstGeom>
          <a:noFill/>
          <a:ln/>
        </p:spPr>
        <p:txBody>
          <a:bodyPr wrap="none" lIns="0" tIns="0" rIns="0" bIns="0" rtlCol="0" anchor="t"/>
          <a:lstStyle/>
          <a:p>
            <a:pPr algn="ctr" indent="0" marL="0">
              <a:lnSpc>
                <a:spcPct val="104000"/>
              </a:lnSpc>
              <a:buNone/>
            </a:pPr>
            <a:r>
              <a:rPr lang="en-US" sz="1250" dirty="0">
                <a:solidFill>
                  <a:srgbClr val="383838"/>
                </a:solidFill>
                <a:latin typeface="PT Serif" pitchFamily="34" charset="0"/>
                <a:ea typeface="PT Serif" pitchFamily="34" charset="-122"/>
                <a:cs typeface="PT Serif" pitchFamily="34" charset="-120"/>
              </a:rPr>
              <a:t>Review</a:t>
            </a:r>
            <a:endParaRPr lang="en-US" sz="1250" dirty="0"/>
          </a:p>
        </p:txBody>
      </p:sp>
      <p:sp>
        <p:nvSpPr>
          <p:cNvPr id="13" name="Text 10"/>
          <p:cNvSpPr/>
          <p:nvPr/>
        </p:nvSpPr>
        <p:spPr>
          <a:xfrm>
            <a:off x="3240331" y="3961915"/>
            <a:ext cx="1232748" cy="203108"/>
          </a:xfrm>
          <a:prstGeom prst="rect">
            <a:avLst/>
          </a:prstGeom>
          <a:noFill/>
          <a:ln/>
        </p:spPr>
        <p:txBody>
          <a:bodyPr wrap="none" lIns="0" tIns="0" rIns="0" bIns="0" rtlCol="0" anchor="t"/>
          <a:lstStyle/>
          <a:p>
            <a:pPr algn="ctr" indent="0" marL="0">
              <a:lnSpc>
                <a:spcPct val="104000"/>
              </a:lnSpc>
              <a:buNone/>
            </a:pPr>
            <a:r>
              <a:rPr lang="en-US" sz="1250" dirty="0">
                <a:solidFill>
                  <a:srgbClr val="383838"/>
                </a:solidFill>
                <a:latin typeface="PT Serif" pitchFamily="34" charset="0"/>
                <a:ea typeface="PT Serif" pitchFamily="34" charset="-122"/>
                <a:cs typeface="PT Serif" pitchFamily="34" charset="-120"/>
              </a:rPr>
              <a:t>Itération</a:t>
            </a:r>
            <a:endParaRPr lang="en-US" sz="1250" dirty="0"/>
          </a:p>
        </p:txBody>
      </p:sp>
      <p:sp>
        <p:nvSpPr>
          <p:cNvPr id="14" name="Text 11"/>
          <p:cNvSpPr/>
          <p:nvPr/>
        </p:nvSpPr>
        <p:spPr>
          <a:xfrm>
            <a:off x="1954195" y="3961915"/>
            <a:ext cx="1232748" cy="203108"/>
          </a:xfrm>
          <a:prstGeom prst="rect">
            <a:avLst/>
          </a:prstGeom>
          <a:noFill/>
          <a:ln/>
        </p:spPr>
        <p:txBody>
          <a:bodyPr wrap="none" lIns="0" tIns="0" rIns="0" bIns="0" rtlCol="0" anchor="t"/>
          <a:lstStyle/>
          <a:p>
            <a:pPr algn="ctr" indent="0" marL="0">
              <a:lnSpc>
                <a:spcPct val="104000"/>
              </a:lnSpc>
              <a:buNone/>
            </a:pPr>
            <a:r>
              <a:rPr lang="en-US" sz="1250" dirty="0">
                <a:solidFill>
                  <a:srgbClr val="383838"/>
                </a:solidFill>
                <a:latin typeface="PT Serif" pitchFamily="34" charset="0"/>
                <a:ea typeface="PT Serif" pitchFamily="34" charset="-122"/>
                <a:cs typeface="PT Serif" pitchFamily="34" charset="-120"/>
              </a:rPr>
              <a:t>Planification</a:t>
            </a:r>
            <a:endParaRPr lang="en-US" sz="1250" dirty="0"/>
          </a:p>
        </p:txBody>
      </p:sp>
      <p:sp>
        <p:nvSpPr>
          <p:cNvPr id="15" name="Text 12"/>
          <p:cNvSpPr/>
          <p:nvPr/>
        </p:nvSpPr>
        <p:spPr>
          <a:xfrm>
            <a:off x="1133029" y="4617021"/>
            <a:ext cx="6877869" cy="237530"/>
          </a:xfrm>
          <a:prstGeom prst="rect">
            <a:avLst/>
          </a:prstGeom>
          <a:noFill/>
          <a:ln/>
        </p:spPr>
        <p:txBody>
          <a:bodyPr wrap="square" lIns="0" tIns="0" rIns="0" bIns="0" rtlCol="0" anchor="t">
            <a:normAutofit/>
          </a:bodyPr>
          <a:lstStyle/>
          <a:p>
            <a:pPr algn="l" indent="0" marL="0">
              <a:lnSpc>
                <a:spcPct val="114000"/>
              </a:lnSpc>
              <a:buNone/>
            </a:pPr>
            <a:r>
              <a:rPr lang="en-US" sz="650" dirty="0">
                <a:solidFill>
                  <a:srgbClr val="383838"/>
                </a:solidFill>
                <a:latin typeface="DM Sans" pitchFamily="34" charset="0"/>
                <a:ea typeface="DM Sans" pitchFamily="34" charset="-122"/>
                <a:cs typeface="DM Sans" pitchFamily="34" charset="-120"/>
              </a:rPr>
              <a:t>Ce cycle Scrum condensé permet de maintenir une cadence de travail structurée tout en s'adaptant aux contraintes d'un examen de 4 heures, avec une visibilité complète sur l'avancement via le </a:t>
            </a:r>
            <a:pPr algn="l" indent="0" marL="0">
              <a:lnSpc>
                <a:spcPct val="114000"/>
              </a:lnSpc>
              <a:buNone/>
            </a:pPr>
            <a:r>
              <a:rPr lang="en-US" sz="650" u="sng" dirty="0">
                <a:solidFill>
                  <a:srgbClr val="E04F00"/>
                </a:solidFill>
                <a:latin typeface="DM Sans" pitchFamily="34" charset="0"/>
                <a:ea typeface="DM Sans" pitchFamily="34" charset="-122"/>
                <a:cs typeface="DM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Kanban GitHub</a:t>
            </a:r>
            <a:pPr algn="l" indent="0" marL="0">
              <a:lnSpc>
                <a:spcPct val="114000"/>
              </a:lnSpc>
              <a:buNone/>
            </a:pPr>
            <a:r>
              <a:rPr lang="en-US" sz="650" dirty="0">
                <a:solidFill>
                  <a:srgbClr val="383838"/>
                </a:solidFill>
                <a:latin typeface="DM Sans" pitchFamily="34" charset="0"/>
                <a:ea typeface="DM Sans" pitchFamily="34" charset="-122"/>
                <a:cs typeface="DM Sans" pitchFamily="34" charset="-120"/>
              </a:rPr>
              <a:t>.</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65162" y="449907"/>
            <a:ext cx="853232" cy="223317"/>
          </a:xfrm>
          <a:prstGeom prst="roundRect">
            <a:avLst>
              <a:gd name="adj" fmla="val 6249"/>
            </a:avLst>
          </a:prstGeom>
          <a:noFill/>
          <a:ln w="4763">
            <a:solidFill>
              <a:srgbClr val="E04F00"/>
            </a:solidFill>
            <a:prstDash val="solid"/>
          </a:ln>
        </p:spPr>
      </p:sp>
      <p:sp>
        <p:nvSpPr>
          <p:cNvPr id="3" name="Text 1"/>
          <p:cNvSpPr/>
          <p:nvPr/>
        </p:nvSpPr>
        <p:spPr>
          <a:xfrm>
            <a:off x="539651" y="489496"/>
            <a:ext cx="1161455" cy="144140"/>
          </a:xfrm>
          <a:prstGeom prst="rect">
            <a:avLst/>
          </a:prstGeom>
          <a:noFill/>
          <a:ln/>
        </p:spPr>
        <p:txBody>
          <a:bodyPr wrap="none" lIns="0" tIns="0" rIns="0" bIns="0" rtlCol="0" anchor="t"/>
          <a:lstStyle/>
          <a:p>
            <a:pPr algn="l" indent="0" marL="0">
              <a:lnSpc>
                <a:spcPct val="129000"/>
              </a:lnSpc>
              <a:buNone/>
            </a:pPr>
            <a:r>
              <a:rPr lang="en-US" sz="700" dirty="0">
                <a:solidFill>
                  <a:srgbClr val="E04F00"/>
                </a:solidFill>
                <a:latin typeface="DM Sans" pitchFamily="34" charset="0"/>
                <a:ea typeface="DM Sans" pitchFamily="34" charset="-122"/>
                <a:cs typeface="DM Sans" pitchFamily="34" charset="-120"/>
              </a:rPr>
              <a:t>REVUE DE CODE</a:t>
            </a:r>
            <a:endParaRPr lang="en-US" sz="700" dirty="0"/>
          </a:p>
        </p:txBody>
      </p:sp>
      <p:sp>
        <p:nvSpPr>
          <p:cNvPr id="4" name="Text 2"/>
          <p:cNvSpPr/>
          <p:nvPr/>
        </p:nvSpPr>
        <p:spPr>
          <a:xfrm>
            <a:off x="465162" y="716831"/>
            <a:ext cx="6926238" cy="381521"/>
          </a:xfrm>
          <a:prstGeom prst="rect">
            <a:avLst/>
          </a:prstGeom>
          <a:noFill/>
          <a:ln/>
        </p:spPr>
        <p:txBody>
          <a:bodyPr wrap="none" lIns="0" tIns="0" rIns="0" bIns="0" rtlCol="0" anchor="t"/>
          <a:lstStyle/>
          <a:p>
            <a:pPr algn="l" indent="0" marL="0">
              <a:lnSpc>
                <a:spcPct val="104000"/>
              </a:lnSpc>
              <a:buNone/>
            </a:pPr>
            <a:r>
              <a:rPr lang="en-US" sz="2400" dirty="0">
                <a:solidFill>
                  <a:srgbClr val="020202"/>
                </a:solidFill>
                <a:latin typeface="PT Serif" pitchFamily="34" charset="0"/>
                <a:ea typeface="PT Serif" pitchFamily="34" charset="-122"/>
                <a:cs typeface="PT Serif" pitchFamily="34" charset="-120"/>
              </a:rPr>
              <a:t>Revue de code — settings.py &amp; Authentification</a:t>
            </a:r>
            <a:endParaRPr lang="en-US" sz="2400" dirty="0"/>
          </a:p>
        </p:txBody>
      </p:sp>
      <p:sp>
        <p:nvSpPr>
          <p:cNvPr id="5" name="Text 3"/>
          <p:cNvSpPr/>
          <p:nvPr/>
        </p:nvSpPr>
        <p:spPr>
          <a:xfrm>
            <a:off x="465162" y="1141958"/>
            <a:ext cx="3143622" cy="190723"/>
          </a:xfrm>
          <a:prstGeom prst="rect">
            <a:avLst/>
          </a:prstGeom>
          <a:noFill/>
          <a:ln/>
        </p:spPr>
        <p:txBody>
          <a:bodyPr wrap="none" lIns="0" tIns="0" rIns="0" bIns="0" rtlCol="0" anchor="t"/>
          <a:lstStyle/>
          <a:p>
            <a:pPr algn="l" indent="0" marL="0">
              <a:lnSpc>
                <a:spcPct val="104000"/>
              </a:lnSpc>
              <a:buNone/>
            </a:pPr>
            <a:r>
              <a:rPr lang="en-US" sz="1200" dirty="0">
                <a:solidFill>
                  <a:srgbClr val="020202"/>
                </a:solidFill>
                <a:latin typeface="PT Serif" pitchFamily="34" charset="0"/>
                <a:ea typeface="PT Serif" pitchFamily="34" charset="-122"/>
                <a:cs typeface="PT Serif" pitchFamily="34" charset="-120"/>
              </a:rPr>
              <a:t>librairie/settings.py — 4 failles critiques</a:t>
            </a:r>
            <a:endParaRPr lang="en-US" sz="1200" dirty="0"/>
          </a:p>
        </p:txBody>
      </p:sp>
      <p:sp>
        <p:nvSpPr>
          <p:cNvPr id="6" name="Shape 4"/>
          <p:cNvSpPr/>
          <p:nvPr/>
        </p:nvSpPr>
        <p:spPr>
          <a:xfrm>
            <a:off x="465162" y="1496169"/>
            <a:ext cx="8213675" cy="1631454"/>
          </a:xfrm>
          <a:prstGeom prst="roundRect">
            <a:avLst>
              <a:gd name="adj" fmla="val 1069"/>
            </a:avLst>
          </a:prstGeom>
          <a:noFill/>
          <a:ln w="4763">
            <a:solidFill>
              <a:srgbClr val="000000">
                <a:alpha val="8000"/>
              </a:srgbClr>
            </a:solidFill>
            <a:prstDash val="solid"/>
          </a:ln>
        </p:spPr>
      </p:sp>
      <p:sp>
        <p:nvSpPr>
          <p:cNvPr id="7" name="Shape 5"/>
          <p:cNvSpPr/>
          <p:nvPr/>
        </p:nvSpPr>
        <p:spPr>
          <a:xfrm>
            <a:off x="469925" y="1500932"/>
            <a:ext cx="8204150" cy="320576"/>
          </a:xfrm>
          <a:prstGeom prst="rect">
            <a:avLst/>
          </a:prstGeom>
          <a:solidFill>
            <a:srgbClr val="FFFFFF">
              <a:alpha val="4000"/>
            </a:srgbClr>
          </a:solidFill>
          <a:ln/>
        </p:spPr>
      </p:sp>
      <p:sp>
        <p:nvSpPr>
          <p:cNvPr id="8" name="Text 6"/>
          <p:cNvSpPr/>
          <p:nvPr/>
        </p:nvSpPr>
        <p:spPr>
          <a:xfrm>
            <a:off x="586234" y="1571104"/>
            <a:ext cx="3093765" cy="180231"/>
          </a:xfrm>
          <a:prstGeom prst="rect">
            <a:avLst/>
          </a:prstGeom>
          <a:noFill/>
          <a:ln/>
        </p:spPr>
        <p:txBody>
          <a:bodyPr wrap="none" lIns="0" tIns="0" rIns="0" bIns="0" rtlCol="0" anchor="t"/>
          <a:lstStyle/>
          <a:p>
            <a:pPr algn="l" indent="0" marL="0">
              <a:lnSpc>
                <a:spcPct val="129000"/>
              </a:lnSpc>
              <a:buNone/>
            </a:pPr>
            <a:r>
              <a:rPr lang="en-US" sz="900" b="1" dirty="0">
                <a:solidFill>
                  <a:srgbClr val="383838"/>
                </a:solidFill>
                <a:latin typeface="DM Sans" pitchFamily="34" charset="0"/>
                <a:ea typeface="DM Sans" pitchFamily="34" charset="-122"/>
                <a:cs typeface="DM Sans" pitchFamily="34" charset="-120"/>
              </a:rPr>
              <a:t>Faille</a:t>
            </a:r>
            <a:endParaRPr lang="en-US" sz="900" dirty="0"/>
          </a:p>
        </p:txBody>
      </p:sp>
      <p:sp>
        <p:nvSpPr>
          <p:cNvPr id="9" name="Text 7"/>
          <p:cNvSpPr/>
          <p:nvPr/>
        </p:nvSpPr>
        <p:spPr>
          <a:xfrm>
            <a:off x="3460031" y="1571104"/>
            <a:ext cx="3911798" cy="180231"/>
          </a:xfrm>
          <a:prstGeom prst="rect">
            <a:avLst/>
          </a:prstGeom>
          <a:noFill/>
          <a:ln/>
        </p:spPr>
        <p:txBody>
          <a:bodyPr wrap="none" lIns="0" tIns="0" rIns="0" bIns="0" rtlCol="0" anchor="t"/>
          <a:lstStyle/>
          <a:p>
            <a:pPr algn="l" indent="0" marL="0">
              <a:lnSpc>
                <a:spcPct val="129000"/>
              </a:lnSpc>
              <a:buNone/>
            </a:pPr>
            <a:r>
              <a:rPr lang="en-US" sz="900" b="1" dirty="0">
                <a:solidFill>
                  <a:srgbClr val="383838"/>
                </a:solidFill>
                <a:latin typeface="DM Sans" pitchFamily="34" charset="0"/>
                <a:ea typeface="DM Sans" pitchFamily="34" charset="-122"/>
                <a:cs typeface="DM Sans" pitchFamily="34" charset="-120"/>
              </a:rPr>
              <a:t>Impact</a:t>
            </a:r>
            <a:endParaRPr lang="en-US" sz="900" dirty="0"/>
          </a:p>
        </p:txBody>
      </p:sp>
      <p:sp>
        <p:nvSpPr>
          <p:cNvPr id="10" name="Text 8"/>
          <p:cNvSpPr/>
          <p:nvPr/>
        </p:nvSpPr>
        <p:spPr>
          <a:xfrm>
            <a:off x="7151861" y="1571104"/>
            <a:ext cx="1863179" cy="180231"/>
          </a:xfrm>
          <a:prstGeom prst="rect">
            <a:avLst/>
          </a:prstGeom>
          <a:noFill/>
          <a:ln/>
        </p:spPr>
        <p:txBody>
          <a:bodyPr wrap="none" lIns="0" tIns="0" rIns="0" bIns="0" rtlCol="0" anchor="t"/>
          <a:lstStyle/>
          <a:p>
            <a:pPr algn="l" indent="0" marL="0">
              <a:lnSpc>
                <a:spcPct val="129000"/>
              </a:lnSpc>
              <a:buNone/>
            </a:pPr>
            <a:r>
              <a:rPr lang="en-US" sz="900" b="1" dirty="0">
                <a:solidFill>
                  <a:srgbClr val="383838"/>
                </a:solidFill>
                <a:latin typeface="DM Sans" pitchFamily="34" charset="0"/>
                <a:ea typeface="DM Sans" pitchFamily="34" charset="-122"/>
                <a:cs typeface="DM Sans" pitchFamily="34" charset="-120"/>
              </a:rPr>
              <a:t>CVSS</a:t>
            </a:r>
            <a:endParaRPr lang="en-US" sz="900" dirty="0"/>
          </a:p>
        </p:txBody>
      </p:sp>
      <p:sp>
        <p:nvSpPr>
          <p:cNvPr id="11" name="Shape 9"/>
          <p:cNvSpPr/>
          <p:nvPr/>
        </p:nvSpPr>
        <p:spPr>
          <a:xfrm>
            <a:off x="469925" y="1821507"/>
            <a:ext cx="8204150" cy="325338"/>
          </a:xfrm>
          <a:prstGeom prst="rect">
            <a:avLst/>
          </a:prstGeom>
          <a:solidFill>
            <a:srgbClr val="000000">
              <a:alpha val="4000"/>
            </a:srgbClr>
          </a:solidFill>
          <a:ln/>
        </p:spPr>
      </p:sp>
      <p:sp>
        <p:nvSpPr>
          <p:cNvPr id="12" name="Text 10"/>
          <p:cNvSpPr/>
          <p:nvPr/>
        </p:nvSpPr>
        <p:spPr>
          <a:xfrm>
            <a:off x="586234" y="1891680"/>
            <a:ext cx="3093765" cy="180231"/>
          </a:xfrm>
          <a:prstGeom prst="rect">
            <a:avLst/>
          </a:prstGeom>
          <a:noFill/>
          <a:ln/>
        </p:spPr>
        <p:txBody>
          <a:bodyPr wrap="none" lIns="0" tIns="0" rIns="0" bIns="0" rtlCol="0" anchor="t"/>
          <a:lstStyle/>
          <a:p>
            <a:pPr algn="l" indent="0" marL="0">
              <a:lnSpc>
                <a:spcPct val="129000"/>
              </a:lnSpc>
              <a:buNone/>
            </a:pPr>
            <a:r>
              <a:rPr lang="en-US" sz="900" u="sng" dirty="0">
                <a:solidFill>
                  <a:srgbClr val="E04F00"/>
                </a:solidFill>
                <a:latin typeface="DM Sans" pitchFamily="34" charset="0"/>
                <a:ea typeface="DM Sans" pitchFamily="34" charset="-122"/>
                <a:cs typeface="DM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SECRET_KEY hardcodée en clair</a:t>
            </a:r>
            <a:endParaRPr lang="en-US" sz="900" dirty="0"/>
          </a:p>
        </p:txBody>
      </p:sp>
      <p:sp>
        <p:nvSpPr>
          <p:cNvPr id="13" name="Text 11"/>
          <p:cNvSpPr/>
          <p:nvPr/>
        </p:nvSpPr>
        <p:spPr>
          <a:xfrm>
            <a:off x="3460031" y="1891680"/>
            <a:ext cx="3911798" cy="180231"/>
          </a:xfrm>
          <a:prstGeom prst="rect">
            <a:avLst/>
          </a:prstGeom>
          <a:noFill/>
          <a:ln/>
        </p:spPr>
        <p:txBody>
          <a:bodyPr wrap="none" lIns="0" tIns="0" rIns="0" bIns="0" rtlCol="0" anchor="t"/>
          <a:lstStyle/>
          <a:p>
            <a:pPr algn="l" indent="0" marL="0">
              <a:lnSpc>
                <a:spcPct val="129000"/>
              </a:lnSpc>
              <a:buNone/>
            </a:pPr>
            <a:r>
              <a:rPr lang="en-US" sz="900" dirty="0">
                <a:solidFill>
                  <a:srgbClr val="383838"/>
                </a:solidFill>
                <a:latin typeface="DM Sans" pitchFamily="34" charset="0"/>
                <a:ea typeface="DM Sans" pitchFamily="34" charset="-122"/>
                <a:cs typeface="DM Sans" pitchFamily="34" charset="-120"/>
              </a:rPr>
              <a:t>Compromet toute la crypto Django</a:t>
            </a:r>
            <a:endParaRPr lang="en-US" sz="900" dirty="0"/>
          </a:p>
        </p:txBody>
      </p:sp>
      <p:sp>
        <p:nvSpPr>
          <p:cNvPr id="14" name="Text 12"/>
          <p:cNvSpPr/>
          <p:nvPr/>
        </p:nvSpPr>
        <p:spPr>
          <a:xfrm>
            <a:off x="7151861" y="1891680"/>
            <a:ext cx="1863179" cy="184993"/>
          </a:xfrm>
          <a:prstGeom prst="rect">
            <a:avLst/>
          </a:prstGeom>
          <a:noFill/>
          <a:ln/>
        </p:spPr>
        <p:txBody>
          <a:bodyPr wrap="none" lIns="0" tIns="0" rIns="0" bIns="0" rtlCol="0" anchor="t"/>
          <a:lstStyle/>
          <a:p>
            <a:pPr algn="l" indent="0" marL="0">
              <a:lnSpc>
                <a:spcPct val="129000"/>
              </a:lnSpc>
              <a:buNone/>
            </a:pPr>
            <a:r>
              <a:rPr lang="en-US" sz="900" dirty="0">
                <a:solidFill>
                  <a:srgbClr val="E04F00"/>
                </a:solidFill>
                <a:latin typeface="DM Sans" pitchFamily="34" charset="0"/>
                <a:ea typeface="DM Sans" pitchFamily="34" charset="-122"/>
                <a:cs typeface="DM Sans" pitchFamily="34" charset="-120"/>
              </a:rPr>
              <a:t>9.1 </a:t>
            </a:r>
            <a:pPr algn="l" indent="0" marL="0">
              <a:lnSpc>
                <a:spcPct val="129000"/>
              </a:lnSpc>
              <a:buNone/>
            </a:pPr>
            <a:r>
              <a:rPr lang="en-US" sz="900" dirty="0">
                <a:solidFill>
                  <a:srgbClr val="000000"/>
                </a:solidFill>
                <a:latin typeface="DM Sans" pitchFamily="34" charset="0"/>
                <a:ea typeface="DM Sans" pitchFamily="34" charset="-122"/>
                <a:cs typeface="DM Sans" pitchFamily="34" charset="-120"/>
              </a:rPr>
              <a:t>🔴</a:t>
            </a:r>
            <a:endParaRPr lang="en-US" sz="900" dirty="0"/>
          </a:p>
        </p:txBody>
      </p:sp>
      <p:sp>
        <p:nvSpPr>
          <p:cNvPr id="15" name="Shape 13"/>
          <p:cNvSpPr/>
          <p:nvPr/>
        </p:nvSpPr>
        <p:spPr>
          <a:xfrm>
            <a:off x="469925" y="2146846"/>
            <a:ext cx="8204150" cy="325338"/>
          </a:xfrm>
          <a:prstGeom prst="rect">
            <a:avLst/>
          </a:prstGeom>
          <a:solidFill>
            <a:srgbClr val="FFFFFF">
              <a:alpha val="4000"/>
            </a:srgbClr>
          </a:solidFill>
          <a:ln/>
        </p:spPr>
      </p:sp>
      <p:sp>
        <p:nvSpPr>
          <p:cNvPr id="16" name="Text 14"/>
          <p:cNvSpPr/>
          <p:nvPr/>
        </p:nvSpPr>
        <p:spPr>
          <a:xfrm>
            <a:off x="586234" y="2217018"/>
            <a:ext cx="3093765" cy="180231"/>
          </a:xfrm>
          <a:prstGeom prst="rect">
            <a:avLst/>
          </a:prstGeom>
          <a:noFill/>
          <a:ln/>
        </p:spPr>
        <p:txBody>
          <a:bodyPr wrap="none" lIns="0" tIns="0" rIns="0" bIns="0" rtlCol="0" anchor="t"/>
          <a:lstStyle/>
          <a:p>
            <a:pPr algn="l" indent="0" marL="0">
              <a:lnSpc>
                <a:spcPct val="129000"/>
              </a:lnSpc>
              <a:buNone/>
            </a:pPr>
            <a:r>
              <a:rPr lang="en-US" sz="900" u="sng" dirty="0">
                <a:solidFill>
                  <a:srgbClr val="E04F00"/>
                </a:solidFill>
                <a:latin typeface="DM Sans" pitchFamily="34" charset="0"/>
                <a:ea typeface="DM Sans" pitchFamily="34" charset="-122"/>
                <a:cs typeface="DM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Password MySQL en dur</a:t>
            </a:r>
            <a:endParaRPr lang="en-US" sz="900" dirty="0"/>
          </a:p>
        </p:txBody>
      </p:sp>
      <p:sp>
        <p:nvSpPr>
          <p:cNvPr id="17" name="Text 15"/>
          <p:cNvSpPr/>
          <p:nvPr/>
        </p:nvSpPr>
        <p:spPr>
          <a:xfrm>
            <a:off x="3460031" y="2217018"/>
            <a:ext cx="3911798" cy="180231"/>
          </a:xfrm>
          <a:prstGeom prst="rect">
            <a:avLst/>
          </a:prstGeom>
          <a:noFill/>
          <a:ln/>
        </p:spPr>
        <p:txBody>
          <a:bodyPr wrap="none" lIns="0" tIns="0" rIns="0" bIns="0" rtlCol="0" anchor="t"/>
          <a:lstStyle/>
          <a:p>
            <a:pPr algn="l" indent="0" marL="0">
              <a:lnSpc>
                <a:spcPct val="129000"/>
              </a:lnSpc>
              <a:buNone/>
            </a:pPr>
            <a:r>
              <a:rPr lang="en-US" sz="900" dirty="0">
                <a:solidFill>
                  <a:srgbClr val="383838"/>
                </a:solidFill>
                <a:latin typeface="DM Sans" pitchFamily="34" charset="0"/>
                <a:ea typeface="DM Sans" pitchFamily="34" charset="-122"/>
                <a:cs typeface="DM Sans" pitchFamily="34" charset="-120"/>
              </a:rPr>
              <a:t>Accès DB si code source exposé</a:t>
            </a:r>
            <a:endParaRPr lang="en-US" sz="900" dirty="0"/>
          </a:p>
        </p:txBody>
      </p:sp>
      <p:sp>
        <p:nvSpPr>
          <p:cNvPr id="18" name="Text 16"/>
          <p:cNvSpPr/>
          <p:nvPr/>
        </p:nvSpPr>
        <p:spPr>
          <a:xfrm>
            <a:off x="7151861" y="2217018"/>
            <a:ext cx="1863179" cy="184993"/>
          </a:xfrm>
          <a:prstGeom prst="rect">
            <a:avLst/>
          </a:prstGeom>
          <a:noFill/>
          <a:ln/>
        </p:spPr>
        <p:txBody>
          <a:bodyPr wrap="none" lIns="0" tIns="0" rIns="0" bIns="0" rtlCol="0" anchor="t"/>
          <a:lstStyle/>
          <a:p>
            <a:pPr algn="l" indent="0" marL="0">
              <a:lnSpc>
                <a:spcPct val="129000"/>
              </a:lnSpc>
              <a:buNone/>
            </a:pPr>
            <a:r>
              <a:rPr lang="en-US" sz="900" dirty="0">
                <a:solidFill>
                  <a:srgbClr val="E04F00"/>
                </a:solidFill>
                <a:latin typeface="DM Sans" pitchFamily="34" charset="0"/>
                <a:ea typeface="DM Sans" pitchFamily="34" charset="-122"/>
                <a:cs typeface="DM Sans" pitchFamily="34" charset="-120"/>
              </a:rPr>
              <a:t>9.8 </a:t>
            </a:r>
            <a:pPr algn="l" indent="0" marL="0">
              <a:lnSpc>
                <a:spcPct val="129000"/>
              </a:lnSpc>
              <a:buNone/>
            </a:pPr>
            <a:r>
              <a:rPr lang="en-US" sz="900" dirty="0">
                <a:solidFill>
                  <a:srgbClr val="000000"/>
                </a:solidFill>
                <a:latin typeface="DM Sans" pitchFamily="34" charset="0"/>
                <a:ea typeface="DM Sans" pitchFamily="34" charset="-122"/>
                <a:cs typeface="DM Sans" pitchFamily="34" charset="-120"/>
              </a:rPr>
              <a:t>🔴</a:t>
            </a:r>
            <a:endParaRPr lang="en-US" sz="900" dirty="0"/>
          </a:p>
        </p:txBody>
      </p:sp>
      <p:sp>
        <p:nvSpPr>
          <p:cNvPr id="19" name="Shape 17"/>
          <p:cNvSpPr/>
          <p:nvPr/>
        </p:nvSpPr>
        <p:spPr>
          <a:xfrm>
            <a:off x="469925" y="2472184"/>
            <a:ext cx="8204150" cy="325338"/>
          </a:xfrm>
          <a:prstGeom prst="rect">
            <a:avLst/>
          </a:prstGeom>
          <a:solidFill>
            <a:srgbClr val="000000">
              <a:alpha val="4000"/>
            </a:srgbClr>
          </a:solidFill>
          <a:ln/>
        </p:spPr>
      </p:sp>
      <p:sp>
        <p:nvSpPr>
          <p:cNvPr id="20" name="Text 18"/>
          <p:cNvSpPr/>
          <p:nvPr/>
        </p:nvSpPr>
        <p:spPr>
          <a:xfrm>
            <a:off x="586234" y="2542356"/>
            <a:ext cx="3093765" cy="180231"/>
          </a:xfrm>
          <a:prstGeom prst="rect">
            <a:avLst/>
          </a:prstGeom>
          <a:noFill/>
          <a:ln/>
        </p:spPr>
        <p:txBody>
          <a:bodyPr wrap="none" lIns="0" tIns="0" rIns="0" bIns="0" rtlCol="0" anchor="t"/>
          <a:lstStyle/>
          <a:p>
            <a:pPr algn="l" indent="0" marL="0">
              <a:lnSpc>
                <a:spcPct val="129000"/>
              </a:lnSpc>
              <a:buNone/>
            </a:pPr>
            <a:r>
              <a:rPr lang="en-US" sz="900" u="sng" dirty="0">
                <a:solidFill>
                  <a:srgbClr val="E04F00"/>
                </a:solidFill>
                <a:latin typeface="DM Sans" pitchFamily="34" charset="0"/>
                <a:ea typeface="DM Sans" pitchFamily="34" charset="-122"/>
                <a:cs typeface="DM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DEBUG = True en production</a:t>
            </a:r>
            <a:endParaRPr lang="en-US" sz="900" dirty="0"/>
          </a:p>
        </p:txBody>
      </p:sp>
      <p:sp>
        <p:nvSpPr>
          <p:cNvPr id="21" name="Text 19"/>
          <p:cNvSpPr/>
          <p:nvPr/>
        </p:nvSpPr>
        <p:spPr>
          <a:xfrm>
            <a:off x="3460031" y="2542356"/>
            <a:ext cx="3911798" cy="180231"/>
          </a:xfrm>
          <a:prstGeom prst="rect">
            <a:avLst/>
          </a:prstGeom>
          <a:noFill/>
          <a:ln/>
        </p:spPr>
        <p:txBody>
          <a:bodyPr wrap="none" lIns="0" tIns="0" rIns="0" bIns="0" rtlCol="0" anchor="t"/>
          <a:lstStyle/>
          <a:p>
            <a:pPr algn="l" indent="0" marL="0">
              <a:lnSpc>
                <a:spcPct val="129000"/>
              </a:lnSpc>
              <a:buNone/>
            </a:pPr>
            <a:r>
              <a:rPr lang="en-US" sz="900" dirty="0">
                <a:solidFill>
                  <a:srgbClr val="383838"/>
                </a:solidFill>
                <a:latin typeface="DM Sans" pitchFamily="34" charset="0"/>
                <a:ea typeface="DM Sans" pitchFamily="34" charset="-122"/>
                <a:cs typeface="DM Sans" pitchFamily="34" charset="-120"/>
              </a:rPr>
              <a:t>Expose stack traces, code source, IP interne</a:t>
            </a:r>
            <a:endParaRPr lang="en-US" sz="900" dirty="0"/>
          </a:p>
        </p:txBody>
      </p:sp>
      <p:sp>
        <p:nvSpPr>
          <p:cNvPr id="22" name="Text 20"/>
          <p:cNvSpPr/>
          <p:nvPr/>
        </p:nvSpPr>
        <p:spPr>
          <a:xfrm>
            <a:off x="7151861" y="2542356"/>
            <a:ext cx="1863179" cy="184993"/>
          </a:xfrm>
          <a:prstGeom prst="rect">
            <a:avLst/>
          </a:prstGeom>
          <a:noFill/>
          <a:ln/>
        </p:spPr>
        <p:txBody>
          <a:bodyPr wrap="none" lIns="0" tIns="0" rIns="0" bIns="0" rtlCol="0" anchor="t"/>
          <a:lstStyle/>
          <a:p>
            <a:pPr algn="l" indent="0" marL="0">
              <a:lnSpc>
                <a:spcPct val="129000"/>
              </a:lnSpc>
              <a:buNone/>
            </a:pPr>
            <a:r>
              <a:rPr lang="en-US" sz="900" dirty="0">
                <a:solidFill>
                  <a:srgbClr val="E04F00"/>
                </a:solidFill>
                <a:latin typeface="DM Sans" pitchFamily="34" charset="0"/>
                <a:ea typeface="DM Sans" pitchFamily="34" charset="-122"/>
                <a:cs typeface="DM Sans" pitchFamily="34" charset="-120"/>
              </a:rPr>
              <a:t>7.5 </a:t>
            </a:r>
            <a:pPr algn="l" indent="0" marL="0">
              <a:lnSpc>
                <a:spcPct val="129000"/>
              </a:lnSpc>
              <a:buNone/>
            </a:pPr>
            <a:r>
              <a:rPr lang="en-US" sz="900" dirty="0">
                <a:solidFill>
                  <a:srgbClr val="000000"/>
                </a:solidFill>
                <a:latin typeface="DM Sans" pitchFamily="34" charset="0"/>
                <a:ea typeface="DM Sans" pitchFamily="34" charset="-122"/>
                <a:cs typeface="DM Sans" pitchFamily="34" charset="-120"/>
              </a:rPr>
              <a:t>🔴</a:t>
            </a:r>
            <a:endParaRPr lang="en-US" sz="900" dirty="0"/>
          </a:p>
        </p:txBody>
      </p:sp>
      <p:sp>
        <p:nvSpPr>
          <p:cNvPr id="23" name="Shape 21"/>
          <p:cNvSpPr/>
          <p:nvPr/>
        </p:nvSpPr>
        <p:spPr>
          <a:xfrm>
            <a:off x="469925" y="2797522"/>
            <a:ext cx="8204150" cy="325338"/>
          </a:xfrm>
          <a:prstGeom prst="rect">
            <a:avLst/>
          </a:prstGeom>
          <a:solidFill>
            <a:srgbClr val="FFFFFF">
              <a:alpha val="4000"/>
            </a:srgbClr>
          </a:solidFill>
          <a:ln/>
        </p:spPr>
      </p:sp>
      <p:sp>
        <p:nvSpPr>
          <p:cNvPr id="24" name="Text 22"/>
          <p:cNvSpPr/>
          <p:nvPr/>
        </p:nvSpPr>
        <p:spPr>
          <a:xfrm>
            <a:off x="586234" y="2867695"/>
            <a:ext cx="3093765" cy="180231"/>
          </a:xfrm>
          <a:prstGeom prst="rect">
            <a:avLst/>
          </a:prstGeom>
          <a:noFill/>
          <a:ln/>
        </p:spPr>
        <p:txBody>
          <a:bodyPr wrap="none" lIns="0" tIns="0" rIns="0" bIns="0" rtlCol="0" anchor="t"/>
          <a:lstStyle/>
          <a:p>
            <a:pPr algn="l" indent="0" marL="0">
              <a:lnSpc>
                <a:spcPct val="129000"/>
              </a:lnSpc>
              <a:buNone/>
            </a:pPr>
            <a:r>
              <a:rPr lang="en-US" sz="900" u="sng" dirty="0">
                <a:solidFill>
                  <a:srgbClr val="E04F00"/>
                </a:solidFill>
                <a:latin typeface="DM Sans" pitchFamily="34" charset="0"/>
                <a:ea typeface="DM Sans" pitchFamily="34" charset="-122"/>
                <a:cs typeface="DM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ALLOWED_HOSTS = []</a:t>
            </a:r>
            <a:endParaRPr lang="en-US" sz="900" dirty="0"/>
          </a:p>
        </p:txBody>
      </p:sp>
      <p:sp>
        <p:nvSpPr>
          <p:cNvPr id="25" name="Text 23"/>
          <p:cNvSpPr/>
          <p:nvPr/>
        </p:nvSpPr>
        <p:spPr>
          <a:xfrm>
            <a:off x="3460031" y="2867695"/>
            <a:ext cx="3911798" cy="180231"/>
          </a:xfrm>
          <a:prstGeom prst="rect">
            <a:avLst/>
          </a:prstGeom>
          <a:noFill/>
          <a:ln/>
        </p:spPr>
        <p:txBody>
          <a:bodyPr wrap="none" lIns="0" tIns="0" rIns="0" bIns="0" rtlCol="0" anchor="t"/>
          <a:lstStyle/>
          <a:p>
            <a:pPr algn="l" indent="0" marL="0">
              <a:lnSpc>
                <a:spcPct val="129000"/>
              </a:lnSpc>
              <a:buNone/>
            </a:pPr>
            <a:r>
              <a:rPr lang="en-US" sz="900" dirty="0">
                <a:solidFill>
                  <a:srgbClr val="383838"/>
                </a:solidFill>
                <a:latin typeface="DM Sans" pitchFamily="34" charset="0"/>
                <a:ea typeface="DM Sans" pitchFamily="34" charset="-122"/>
                <a:cs typeface="DM Sans" pitchFamily="34" charset="-120"/>
              </a:rPr>
              <a:t>Aucun filtre sur les hôtes HTTP</a:t>
            </a:r>
            <a:endParaRPr lang="en-US" sz="900" dirty="0"/>
          </a:p>
        </p:txBody>
      </p:sp>
      <p:sp>
        <p:nvSpPr>
          <p:cNvPr id="26" name="Text 24"/>
          <p:cNvSpPr/>
          <p:nvPr/>
        </p:nvSpPr>
        <p:spPr>
          <a:xfrm>
            <a:off x="7151861" y="2867695"/>
            <a:ext cx="1863179" cy="184993"/>
          </a:xfrm>
          <a:prstGeom prst="rect">
            <a:avLst/>
          </a:prstGeom>
          <a:noFill/>
          <a:ln/>
        </p:spPr>
        <p:txBody>
          <a:bodyPr wrap="none" lIns="0" tIns="0" rIns="0" bIns="0" rtlCol="0" anchor="t"/>
          <a:lstStyle/>
          <a:p>
            <a:pPr algn="l" indent="0" marL="0">
              <a:lnSpc>
                <a:spcPct val="129000"/>
              </a:lnSpc>
              <a:buNone/>
            </a:pPr>
            <a:r>
              <a:rPr lang="en-US" sz="900" dirty="0">
                <a:solidFill>
                  <a:srgbClr val="E04F00"/>
                </a:solidFill>
                <a:latin typeface="DM Sans" pitchFamily="34" charset="0"/>
                <a:ea typeface="DM Sans" pitchFamily="34" charset="-122"/>
                <a:cs typeface="DM Sans" pitchFamily="34" charset="-120"/>
              </a:rPr>
              <a:t>6.5 </a:t>
            </a:r>
            <a:pPr algn="l" indent="0" marL="0">
              <a:lnSpc>
                <a:spcPct val="129000"/>
              </a:lnSpc>
              <a:buNone/>
            </a:pPr>
            <a:r>
              <a:rPr lang="en-US" sz="900" dirty="0">
                <a:solidFill>
                  <a:srgbClr val="000000"/>
                </a:solidFill>
                <a:latin typeface="DM Sans" pitchFamily="34" charset="0"/>
                <a:ea typeface="DM Sans" pitchFamily="34" charset="-122"/>
                <a:cs typeface="DM Sans" pitchFamily="34" charset="-120"/>
              </a:rPr>
              <a:t>🔴</a:t>
            </a:r>
            <a:endParaRPr lang="en-US" sz="900" dirty="0"/>
          </a:p>
        </p:txBody>
      </p:sp>
      <p:sp>
        <p:nvSpPr>
          <p:cNvPr id="27" name="Text 25"/>
          <p:cNvSpPr/>
          <p:nvPr/>
        </p:nvSpPr>
        <p:spPr>
          <a:xfrm>
            <a:off x="465162" y="3359274"/>
            <a:ext cx="3548807" cy="190723"/>
          </a:xfrm>
          <a:prstGeom prst="rect">
            <a:avLst/>
          </a:prstGeom>
          <a:noFill/>
          <a:ln/>
        </p:spPr>
        <p:txBody>
          <a:bodyPr wrap="none" lIns="0" tIns="0" rIns="0" bIns="0" rtlCol="0" anchor="t"/>
          <a:lstStyle/>
          <a:p>
            <a:pPr algn="l" indent="0" marL="0">
              <a:lnSpc>
                <a:spcPct val="104000"/>
              </a:lnSpc>
              <a:buNone/>
            </a:pPr>
            <a:r>
              <a:rPr lang="en-US" sz="1200" dirty="0">
                <a:solidFill>
                  <a:srgbClr val="020202"/>
                </a:solidFill>
                <a:latin typeface="PT Serif" pitchFamily="34" charset="0"/>
                <a:ea typeface="PT Serif" pitchFamily="34" charset="-122"/>
                <a:cs typeface="PT Serif" pitchFamily="34" charset="-120"/>
              </a:rPr>
              <a:t>accounts/views.py — Authentification custom</a:t>
            </a:r>
            <a:endParaRPr lang="en-US" sz="1200" dirty="0"/>
          </a:p>
        </p:txBody>
      </p:sp>
      <p:sp>
        <p:nvSpPr>
          <p:cNvPr id="28" name="Text 26"/>
          <p:cNvSpPr/>
          <p:nvPr/>
        </p:nvSpPr>
        <p:spPr>
          <a:xfrm>
            <a:off x="465162" y="3659014"/>
            <a:ext cx="3965004" cy="996404"/>
          </a:xfrm>
          <a:prstGeom prst="rect">
            <a:avLst/>
          </a:prstGeom>
          <a:noFill/>
          <a:ln/>
        </p:spPr>
        <p:txBody>
          <a:bodyPr wrap="square" lIns="0" tIns="0" rIns="0" bIns="0" rtlCol="0" anchor="t">
            <a:normAutofit/>
          </a:bodyPr>
          <a:lstStyle/>
          <a:p>
            <a:pPr algn="l" marL="342900" indent="-342900">
              <a:lnSpc>
                <a:spcPct val="129000"/>
              </a:lnSpc>
              <a:buSzPct val="100000"/>
              <a:buChar char="•"/>
            </a:pPr>
            <a:r>
              <a:rPr lang="en-US" sz="900" dirty="0">
                <a:solidFill>
                  <a:srgbClr val="383838"/>
                </a:solidFill>
                <a:latin typeface="DM Sans" pitchFamily="34" charset="0"/>
                <a:ea typeface="DM Sans" pitchFamily="34" charset="-122"/>
                <a:cs typeface="DM Sans" pitchFamily="34" charset="-120"/>
              </a:rPr>
              <a:t>Contourne Django Auth natif → gestion manuelle via </a:t>
            </a:r>
            <a:pPr algn="l" marL="342900" indent="-342900">
              <a:lnSpc>
                <a:spcPct val="129000"/>
              </a:lnSpc>
              <a:buSzPct val="100000"/>
              <a:buChar char="•"/>
            </a:pPr>
            <a:r>
              <a:rPr lang="en-US" sz="900" dirty="0">
                <a:solidFill>
                  <a:srgbClr val="383838"/>
                </a:solidFill>
                <a:highlight>
                  <a:srgbClr val="F2F2F2"/>
                </a:highlight>
                <a:latin typeface="Consolas" pitchFamily="34" charset="0"/>
                <a:ea typeface="Consolas" pitchFamily="34" charset="-122"/>
                <a:cs typeface="Consolas" pitchFamily="34" charset="-120"/>
              </a:rPr>
              <a:t>session['user_id']</a:t>
            </a:r>
            <a:endParaRPr lang="en-US" sz="900" dirty="0"/>
          </a:p>
          <a:p>
            <a:pPr algn="l" marL="342900" indent="-342900">
              <a:lnSpc>
                <a:spcPct val="129000"/>
              </a:lnSpc>
              <a:buSzPct val="100000"/>
              <a:buChar char="•"/>
            </a:pPr>
            <a:r>
              <a:rPr lang="en-US" sz="900" dirty="0">
                <a:solidFill>
                  <a:srgbClr val="383838"/>
                </a:solidFill>
                <a:latin typeface="DM Sans" pitchFamily="34" charset="0"/>
                <a:ea typeface="DM Sans" pitchFamily="34" charset="-122"/>
                <a:cs typeface="DM Sans" pitchFamily="34" charset="-120"/>
              </a:rPr>
              <a:t>Aucun </a:t>
            </a:r>
            <a:pPr algn="l" marL="342900" indent="-342900">
              <a:lnSpc>
                <a:spcPct val="129000"/>
              </a:lnSpc>
              <a:buSzPct val="100000"/>
              <a:buChar char="•"/>
            </a:pPr>
            <a:r>
              <a:rPr lang="en-US" sz="900" dirty="0">
                <a:solidFill>
                  <a:srgbClr val="383838"/>
                </a:solidFill>
                <a:highlight>
                  <a:srgbClr val="F2F2F2"/>
                </a:highlight>
                <a:latin typeface="Consolas" pitchFamily="34" charset="0"/>
                <a:ea typeface="Consolas" pitchFamily="34" charset="-122"/>
                <a:cs typeface="Consolas" pitchFamily="34" charset="-120"/>
              </a:rPr>
              <a:t>@login_required</a:t>
            </a:r>
            <a:pPr algn="l" marL="342900" indent="-342900">
              <a:lnSpc>
                <a:spcPct val="129000"/>
              </a:lnSpc>
              <a:buSzPct val="100000"/>
              <a:buChar char="•"/>
            </a:pPr>
            <a:r>
              <a:rPr lang="en-US" sz="900" dirty="0">
                <a:solidFill>
                  <a:srgbClr val="383838"/>
                </a:solidFill>
                <a:latin typeface="DM Sans" pitchFamily="34" charset="0"/>
                <a:ea typeface="DM Sans" pitchFamily="34" charset="-122"/>
                <a:cs typeface="DM Sans" pitchFamily="34" charset="-120"/>
              </a:rPr>
              <a:t> → vérification </a:t>
            </a:r>
            <a:pPr algn="l" marL="342900" indent="-342900">
              <a:lnSpc>
                <a:spcPct val="129000"/>
              </a:lnSpc>
              <a:buSzPct val="100000"/>
              <a:buChar char="•"/>
            </a:pPr>
            <a:r>
              <a:rPr lang="en-US" sz="900" dirty="0">
                <a:solidFill>
                  <a:srgbClr val="383838"/>
                </a:solidFill>
                <a:highlight>
                  <a:srgbClr val="F2F2F2"/>
                </a:highlight>
                <a:latin typeface="Consolas" pitchFamily="34" charset="0"/>
                <a:ea typeface="Consolas" pitchFamily="34" charset="-122"/>
                <a:cs typeface="Consolas" pitchFamily="34" charset="-120"/>
              </a:rPr>
              <a:t>session.get('is_authenticated')</a:t>
            </a:r>
            <a:pPr algn="l" marL="342900" indent="-342900">
              <a:lnSpc>
                <a:spcPct val="129000"/>
              </a:lnSpc>
              <a:buSzPct val="100000"/>
              <a:buChar char="•"/>
            </a:pPr>
            <a:r>
              <a:rPr lang="en-US" sz="900" dirty="0">
                <a:solidFill>
                  <a:srgbClr val="383838"/>
                </a:solidFill>
                <a:latin typeface="DM Sans" pitchFamily="34" charset="0"/>
                <a:ea typeface="DM Sans" pitchFamily="34" charset="-122"/>
                <a:cs typeface="DM Sans" pitchFamily="34" charset="-120"/>
              </a:rPr>
              <a:t> non fiable</a:t>
            </a:r>
            <a:endParaRPr lang="en-US" sz="900" dirty="0"/>
          </a:p>
          <a:p>
            <a:pPr algn="l" marL="342900" indent="-342900">
              <a:lnSpc>
                <a:spcPct val="129000"/>
              </a:lnSpc>
              <a:buSzPct val="100000"/>
              <a:buChar char="•"/>
            </a:pPr>
            <a:r>
              <a:rPr lang="en-US" sz="900" dirty="0">
                <a:solidFill>
                  <a:srgbClr val="383838"/>
                </a:solidFill>
                <a:latin typeface="DM Sans" pitchFamily="34" charset="0"/>
                <a:ea typeface="DM Sans" pitchFamily="34" charset="-122"/>
                <a:cs typeface="DM Sans" pitchFamily="34" charset="-120"/>
              </a:rPr>
              <a:t>Absence de middleware d'authentification robuste sur les vues sensibles</a:t>
            </a:r>
            <a:endParaRPr lang="en-US" sz="900" dirty="0"/>
          </a:p>
        </p:txBody>
      </p:sp>
      <p:sp>
        <p:nvSpPr>
          <p:cNvPr id="29" name="Shape 27"/>
          <p:cNvSpPr/>
          <p:nvPr/>
        </p:nvSpPr>
        <p:spPr>
          <a:xfrm>
            <a:off x="4718596" y="3372892"/>
            <a:ext cx="3965004" cy="1015157"/>
          </a:xfrm>
          <a:prstGeom prst="roundRect">
            <a:avLst>
              <a:gd name="adj" fmla="val 1718"/>
            </a:avLst>
          </a:prstGeom>
          <a:solidFill>
            <a:srgbClr val="FCF2B5"/>
          </a:solidFill>
          <a:ln/>
        </p:spPr>
      </p:sp>
      <p:pic>
        <p:nvPicPr>
          <p:cNvPr id="30" name="Image 0" descr="preencoded.png">    </p:cNvPr>
          <p:cNvPicPr>
            <a:picLocks noChangeAspect="1"/>
          </p:cNvPicPr>
          <p:nvPr/>
        </p:nvPicPr>
        <p:blipFill>
          <a:blip r:embed="rId5"/>
          <a:stretch>
            <a:fillRect/>
          </a:stretch>
        </p:blipFill>
        <p:spPr>
          <a:xfrm>
            <a:off x="4834830" y="3540249"/>
            <a:ext cx="145331" cy="116235"/>
          </a:xfrm>
          <a:prstGeom prst="rect">
            <a:avLst/>
          </a:prstGeom>
        </p:spPr>
      </p:pic>
      <p:sp>
        <p:nvSpPr>
          <p:cNvPr id="31" name="Text 28"/>
          <p:cNvSpPr/>
          <p:nvPr/>
        </p:nvSpPr>
        <p:spPr>
          <a:xfrm>
            <a:off x="5096396" y="3510930"/>
            <a:ext cx="3470970" cy="720923"/>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000000"/>
                </a:solidFill>
                <a:latin typeface="DM Sans" pitchFamily="34" charset="0"/>
                <a:ea typeface="DM Sans" pitchFamily="34" charset="-122"/>
                <a:cs typeface="DM Sans" pitchFamily="34" charset="-120"/>
              </a:rPr>
              <a:t>Le contournement du système d'authentification natif de Django expose l'application à des risques d'élévation de privilèges et de bypass d'accès non détectés par les mécanismes de sécurité standards.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F2EEEE"/>
          </a:solidFill>
          <a:ln/>
        </p:spPr>
      </p:sp>
      <p:pic>
        <p:nvPicPr>
          <p:cNvPr id="3" name="Image 0" descr="preencoded.png">    </p:cNvPr>
          <p:cNvPicPr>
            <a:picLocks noChangeAspect="1"/>
          </p:cNvPicPr>
          <p:nvPr/>
        </p:nvPicPr>
        <p:blipFill>
          <a:blip r:embed="rId1"/>
          <a:stretch>
            <a:fillRect/>
          </a:stretch>
        </p:blipFill>
        <p:spPr>
          <a:xfrm>
            <a:off x="54248" y="81335"/>
            <a:ext cx="3320504" cy="4980756"/>
          </a:xfrm>
          <a:prstGeom prst="rect">
            <a:avLst/>
          </a:prstGeom>
        </p:spPr>
      </p:pic>
      <p:sp>
        <p:nvSpPr>
          <p:cNvPr id="4" name="Shape 1"/>
          <p:cNvSpPr/>
          <p:nvPr/>
        </p:nvSpPr>
        <p:spPr>
          <a:xfrm>
            <a:off x="3863132" y="343421"/>
            <a:ext cx="797198" cy="204788"/>
          </a:xfrm>
          <a:prstGeom prst="roundRect">
            <a:avLst>
              <a:gd name="adj" fmla="val 6360"/>
            </a:avLst>
          </a:prstGeom>
          <a:noFill/>
          <a:ln w="4763">
            <a:solidFill>
              <a:srgbClr val="E04F00"/>
            </a:solidFill>
            <a:prstDash val="solid"/>
          </a:ln>
        </p:spPr>
      </p:sp>
      <p:sp>
        <p:nvSpPr>
          <p:cNvPr id="5" name="Text 2"/>
          <p:cNvSpPr/>
          <p:nvPr/>
        </p:nvSpPr>
        <p:spPr>
          <a:xfrm>
            <a:off x="3933006" y="380702"/>
            <a:ext cx="1114648" cy="130225"/>
          </a:xfrm>
          <a:prstGeom prst="rect">
            <a:avLst/>
          </a:prstGeom>
          <a:noFill/>
          <a:ln/>
        </p:spPr>
        <p:txBody>
          <a:bodyPr wrap="none" lIns="0" tIns="0" rIns="0" bIns="0" rtlCol="0" anchor="t"/>
          <a:lstStyle/>
          <a:p>
            <a:pPr algn="l" indent="0" marL="0">
              <a:lnSpc>
                <a:spcPct val="125000"/>
              </a:lnSpc>
              <a:buNone/>
            </a:pPr>
            <a:r>
              <a:rPr lang="en-US" sz="650" dirty="0">
                <a:solidFill>
                  <a:srgbClr val="E04F00"/>
                </a:solidFill>
                <a:latin typeface="DM Sans" pitchFamily="34" charset="0"/>
                <a:ea typeface="DM Sans" pitchFamily="34" charset="-122"/>
                <a:cs typeface="DM Sans" pitchFamily="34" charset="-120"/>
              </a:rPr>
              <a:t>REVUE DE CODE</a:t>
            </a:r>
            <a:endParaRPr lang="en-US" sz="650" dirty="0"/>
          </a:p>
        </p:txBody>
      </p:sp>
      <p:sp>
        <p:nvSpPr>
          <p:cNvPr id="6" name="Text 3"/>
          <p:cNvSpPr/>
          <p:nvPr/>
        </p:nvSpPr>
        <p:spPr>
          <a:xfrm>
            <a:off x="3863132" y="586160"/>
            <a:ext cx="4846737" cy="712291"/>
          </a:xfrm>
          <a:prstGeom prst="rect">
            <a:avLst/>
          </a:prstGeom>
          <a:noFill/>
          <a:ln/>
        </p:spPr>
        <p:txBody>
          <a:bodyPr wrap="square" lIns="0" tIns="0" rIns="0" bIns="0" rtlCol="0" anchor="t">
            <a:normAutofit/>
          </a:bodyPr>
          <a:lstStyle/>
          <a:p>
            <a:pPr algn="l" indent="0" marL="0">
              <a:lnSpc>
                <a:spcPct val="104000"/>
              </a:lnSpc>
              <a:buNone/>
            </a:pPr>
            <a:r>
              <a:rPr lang="en-US" sz="2200" dirty="0">
                <a:solidFill>
                  <a:srgbClr val="020202"/>
                </a:solidFill>
                <a:latin typeface="PT Serif" pitchFamily="34" charset="0"/>
                <a:ea typeface="PT Serif" pitchFamily="34" charset="-122"/>
                <a:cs typeface="PT Serif" pitchFamily="34" charset="-120"/>
              </a:rPr>
              <a:t>Revue de code — Module LOAN &amp; Livres</a:t>
            </a:r>
            <a:endParaRPr lang="en-US" sz="2200" dirty="0"/>
          </a:p>
        </p:txBody>
      </p:sp>
      <p:sp>
        <p:nvSpPr>
          <p:cNvPr id="7" name="Shape 4"/>
          <p:cNvSpPr/>
          <p:nvPr/>
        </p:nvSpPr>
        <p:spPr>
          <a:xfrm>
            <a:off x="3863132" y="1440879"/>
            <a:ext cx="4846737" cy="1198141"/>
          </a:xfrm>
          <a:prstGeom prst="roundRect">
            <a:avLst>
              <a:gd name="adj" fmla="val 5724"/>
            </a:avLst>
          </a:prstGeom>
          <a:solidFill>
            <a:srgbClr val="FFFFFF"/>
          </a:solidFill>
          <a:ln w="14288">
            <a:solidFill>
              <a:srgbClr val="D8D4D4"/>
            </a:solidFill>
            <a:prstDash val="solid"/>
          </a:ln>
        </p:spPr>
      </p:sp>
      <p:sp>
        <p:nvSpPr>
          <p:cNvPr id="8" name="Shape 5"/>
          <p:cNvSpPr/>
          <p:nvPr/>
        </p:nvSpPr>
        <p:spPr>
          <a:xfrm>
            <a:off x="3848844" y="1440879"/>
            <a:ext cx="57150" cy="1198141"/>
          </a:xfrm>
          <a:prstGeom prst="roundRect">
            <a:avLst>
              <a:gd name="adj" fmla="val 28488"/>
            </a:avLst>
          </a:prstGeom>
          <a:solidFill>
            <a:srgbClr val="E04F00"/>
          </a:solidFill>
          <a:ln/>
        </p:spPr>
      </p:sp>
      <p:sp>
        <p:nvSpPr>
          <p:cNvPr id="9" name="Text 6"/>
          <p:cNvSpPr/>
          <p:nvPr/>
        </p:nvSpPr>
        <p:spPr>
          <a:xfrm>
            <a:off x="4028777" y="1563663"/>
            <a:ext cx="2200573" cy="177998"/>
          </a:xfrm>
          <a:prstGeom prst="rect">
            <a:avLst/>
          </a:prstGeom>
          <a:noFill/>
          <a:ln/>
        </p:spPr>
        <p:txBody>
          <a:bodyPr wrap="none" lIns="0" tIns="0" rIns="0" bIns="0" rtlCol="0" anchor="t"/>
          <a:lstStyle/>
          <a:p>
            <a:pPr algn="l" indent="0" marL="0">
              <a:lnSpc>
                <a:spcPct val="104000"/>
              </a:lnSpc>
              <a:buNone/>
            </a:pPr>
            <a:r>
              <a:rPr lang="en-US" sz="1100" dirty="0">
                <a:solidFill>
                  <a:srgbClr val="383838"/>
                </a:solidFill>
                <a:latin typeface="PT Serif" pitchFamily="34" charset="0"/>
                <a:ea typeface="PT Serif" pitchFamily="34" charset="-122"/>
                <a:cs typeface="PT Serif" pitchFamily="34" charset="-120"/>
              </a:rPr>
              <a:t>loan/views.py — Failles bloquantes</a:t>
            </a:r>
            <a:endParaRPr lang="en-US" sz="1100" dirty="0"/>
          </a:p>
        </p:txBody>
      </p:sp>
      <p:sp>
        <p:nvSpPr>
          <p:cNvPr id="10" name="Text 7"/>
          <p:cNvSpPr/>
          <p:nvPr/>
        </p:nvSpPr>
        <p:spPr>
          <a:xfrm>
            <a:off x="4028777" y="1798588"/>
            <a:ext cx="4558308" cy="717649"/>
          </a:xfrm>
          <a:prstGeom prst="rect">
            <a:avLst/>
          </a:prstGeom>
          <a:noFill/>
          <a:ln/>
        </p:spPr>
        <p:txBody>
          <a:bodyPr wrap="square" lIns="0" tIns="0" rIns="0" bIns="0" rtlCol="0" anchor="t">
            <a:normAutofit/>
          </a:bodyPr>
          <a:lstStyle/>
          <a:p>
            <a:pPr algn="l" marL="342900" indent="-342900">
              <a:lnSpc>
                <a:spcPct val="125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@csrf_exempt</a:t>
            </a:r>
            <a:pPr algn="l" marL="342900" indent="-342900">
              <a:lnSpc>
                <a:spcPct val="125000"/>
              </a:lnSpc>
              <a:buSzPct val="100000"/>
              <a:buChar char="•"/>
            </a:pPr>
            <a:r>
              <a:rPr lang="en-US" sz="850" dirty="0">
                <a:solidFill>
                  <a:srgbClr val="383838"/>
                </a:solidFill>
                <a:latin typeface="DM Sans" pitchFamily="34" charset="0"/>
                <a:ea typeface="DM Sans" pitchFamily="34" charset="-122"/>
                <a:cs typeface="DM Sans" pitchFamily="34" charset="-120"/>
              </a:rPr>
              <a:t> sur </a:t>
            </a:r>
            <a:pPr algn="l" marL="342900" indent="-342900">
              <a:lnSpc>
                <a:spcPct val="125000"/>
              </a:lnSpc>
              <a:buSzPct val="100000"/>
              <a:buChar char="•"/>
            </a:pPr>
            <a:r>
              <a:rPr lang="en-US" sz="850" b="1" dirty="0">
                <a:solidFill>
                  <a:srgbClr val="383838"/>
                </a:solidFill>
                <a:latin typeface="DM Sans" pitchFamily="34" charset="0"/>
                <a:ea typeface="DM Sans" pitchFamily="34" charset="-122"/>
                <a:cs typeface="DM Sans" pitchFamily="34" charset="-120"/>
              </a:rPr>
              <a:t>toutes</a:t>
            </a:r>
            <a:pPr algn="l" marL="342900" indent="-342900">
              <a:lnSpc>
                <a:spcPct val="125000"/>
              </a:lnSpc>
              <a:buSzPct val="100000"/>
              <a:buChar char="•"/>
            </a:pPr>
            <a:r>
              <a:rPr lang="en-US" sz="850" dirty="0">
                <a:solidFill>
                  <a:srgbClr val="383838"/>
                </a:solidFill>
                <a:latin typeface="DM Sans" pitchFamily="34" charset="0"/>
                <a:ea typeface="DM Sans" pitchFamily="34" charset="-122"/>
                <a:cs typeface="DM Sans" pitchFamily="34" charset="-120"/>
              </a:rPr>
              <a:t> les vues (loan, new_loan, return_loan) → bypass CSRF total — CVSS </a:t>
            </a:r>
            <a:pPr algn="l" marL="342900" indent="-342900">
              <a:lnSpc>
                <a:spcPct val="125000"/>
              </a:lnSpc>
              <a:buSzPct val="100000"/>
              <a:buChar char="•"/>
            </a:pPr>
            <a:r>
              <a:rPr lang="en-US" sz="850" dirty="0">
                <a:solidFill>
                  <a:srgbClr val="E04F00"/>
                </a:solidFill>
                <a:latin typeface="DM Sans" pitchFamily="34" charset="0"/>
                <a:ea typeface="DM Sans" pitchFamily="34" charset="-122"/>
                <a:cs typeface="DM Sans" pitchFamily="34" charset="-120"/>
              </a:rPr>
              <a:t>8.8</a:t>
            </a:r>
            <a:endParaRPr lang="en-US" sz="850" dirty="0"/>
          </a:p>
          <a:p>
            <a:pPr algn="l" marL="342900" indent="-342900">
              <a:lnSpc>
                <a:spcPct val="125000"/>
              </a:lnSpc>
              <a:buSzPct val="100000"/>
              <a:buChar char="•"/>
            </a:pPr>
            <a:r>
              <a:rPr lang="en-US" sz="850" dirty="0">
                <a:solidFill>
                  <a:srgbClr val="383838"/>
                </a:solidFill>
                <a:latin typeface="DM Sans" pitchFamily="34" charset="0"/>
                <a:ea typeface="DM Sans" pitchFamily="34" charset="-122"/>
                <a:cs typeface="DM Sans" pitchFamily="34" charset="-120"/>
              </a:rPr>
              <a:t>Vue </a:t>
            </a:r>
            <a:pPr algn="l" marL="342900" indent="-342900">
              <a:lnSpc>
                <a:spcPct val="125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loan()</a:t>
            </a:r>
            <a:pPr algn="l" marL="342900" indent="-342900">
              <a:lnSpc>
                <a:spcPct val="125000"/>
              </a:lnSpc>
              <a:buSzPct val="100000"/>
              <a:buChar char="•"/>
            </a:pPr>
            <a:r>
              <a:rPr lang="en-US" sz="850" dirty="0">
                <a:solidFill>
                  <a:srgbClr val="383838"/>
                </a:solidFill>
                <a:latin typeface="DM Sans" pitchFamily="34" charset="0"/>
                <a:ea typeface="DM Sans" pitchFamily="34" charset="-122"/>
                <a:cs typeface="DM Sans" pitchFamily="34" charset="-120"/>
              </a:rPr>
              <a:t> accessible </a:t>
            </a:r>
            <a:pPr algn="l" marL="342900" indent="-342900">
              <a:lnSpc>
                <a:spcPct val="125000"/>
              </a:lnSpc>
              <a:buSzPct val="100000"/>
              <a:buChar char="•"/>
            </a:pPr>
            <a:r>
              <a:rPr lang="en-US" sz="850" b="1" dirty="0">
                <a:solidFill>
                  <a:srgbClr val="383838"/>
                </a:solidFill>
                <a:latin typeface="DM Sans" pitchFamily="34" charset="0"/>
                <a:ea typeface="DM Sans" pitchFamily="34" charset="-122"/>
                <a:cs typeface="DM Sans" pitchFamily="34" charset="-120"/>
              </a:rPr>
              <a:t>sans authentification</a:t>
            </a:r>
            <a:pPr algn="l" marL="342900" indent="-342900">
              <a:lnSpc>
                <a:spcPct val="125000"/>
              </a:lnSpc>
              <a:buSzPct val="100000"/>
              <a:buChar char="•"/>
            </a:pPr>
            <a:r>
              <a:rPr lang="en-US" sz="850" dirty="0">
                <a:solidFill>
                  <a:srgbClr val="383838"/>
                </a:solidFill>
                <a:latin typeface="DM Sans" pitchFamily="34" charset="0"/>
                <a:ea typeface="DM Sans" pitchFamily="34" charset="-122"/>
                <a:cs typeface="DM Sans" pitchFamily="34" charset="-120"/>
              </a:rPr>
              <a:t> — CVSS </a:t>
            </a:r>
            <a:pPr algn="l" marL="342900" indent="-342900">
              <a:lnSpc>
                <a:spcPct val="125000"/>
              </a:lnSpc>
              <a:buSzPct val="100000"/>
              <a:buChar char="•"/>
            </a:pPr>
            <a:r>
              <a:rPr lang="en-US" sz="850" dirty="0">
                <a:solidFill>
                  <a:srgbClr val="E04F00"/>
                </a:solidFill>
                <a:latin typeface="DM Sans" pitchFamily="34" charset="0"/>
                <a:ea typeface="DM Sans" pitchFamily="34" charset="-122"/>
                <a:cs typeface="DM Sans" pitchFamily="34" charset="-120"/>
              </a:rPr>
              <a:t>7.5</a:t>
            </a:r>
            <a:endParaRPr lang="en-US" sz="850" dirty="0"/>
          </a:p>
          <a:p>
            <a:pPr algn="l" marL="342900" indent="-342900">
              <a:lnSpc>
                <a:spcPct val="125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return_loan()</a:t>
            </a:r>
            <a:pPr algn="l" marL="342900" indent="-342900">
              <a:lnSpc>
                <a:spcPct val="125000"/>
              </a:lnSpc>
              <a:buSzPct val="100000"/>
              <a:buChar char="•"/>
            </a:pPr>
            <a:r>
              <a:rPr lang="en-US" sz="850" dirty="0">
                <a:solidFill>
                  <a:srgbClr val="383838"/>
                </a:solidFill>
                <a:latin typeface="DM Sans" pitchFamily="34" charset="0"/>
                <a:ea typeface="DM Sans" pitchFamily="34" charset="-122"/>
                <a:cs typeface="DM Sans" pitchFamily="34" charset="-120"/>
              </a:rPr>
              <a:t> — aucune vérification que l'emprunt appartient à l'utilisateur courant</a:t>
            </a:r>
            <a:endParaRPr lang="en-US" sz="850" dirty="0"/>
          </a:p>
        </p:txBody>
      </p:sp>
      <p:sp>
        <p:nvSpPr>
          <p:cNvPr id="11" name="Shape 8"/>
          <p:cNvSpPr/>
          <p:nvPr/>
        </p:nvSpPr>
        <p:spPr>
          <a:xfrm>
            <a:off x="3863132" y="2733973"/>
            <a:ext cx="4846737" cy="1164952"/>
          </a:xfrm>
          <a:prstGeom prst="roundRect">
            <a:avLst>
              <a:gd name="adj" fmla="val 5887"/>
            </a:avLst>
          </a:prstGeom>
          <a:solidFill>
            <a:srgbClr val="FFFFFF"/>
          </a:solidFill>
          <a:ln w="14288">
            <a:solidFill>
              <a:srgbClr val="D8D4D4"/>
            </a:solidFill>
            <a:prstDash val="solid"/>
          </a:ln>
        </p:spPr>
      </p:sp>
      <p:sp>
        <p:nvSpPr>
          <p:cNvPr id="12" name="Shape 9"/>
          <p:cNvSpPr/>
          <p:nvPr/>
        </p:nvSpPr>
        <p:spPr>
          <a:xfrm>
            <a:off x="3848844" y="2733973"/>
            <a:ext cx="57150" cy="1164952"/>
          </a:xfrm>
          <a:prstGeom prst="roundRect">
            <a:avLst>
              <a:gd name="adj" fmla="val 28488"/>
            </a:avLst>
          </a:prstGeom>
          <a:solidFill>
            <a:srgbClr val="E04F00"/>
          </a:solidFill>
          <a:ln/>
        </p:spPr>
      </p:sp>
      <p:sp>
        <p:nvSpPr>
          <p:cNvPr id="13" name="Text 10"/>
          <p:cNvSpPr/>
          <p:nvPr/>
        </p:nvSpPr>
        <p:spPr>
          <a:xfrm>
            <a:off x="4028777" y="2856756"/>
            <a:ext cx="2749748" cy="177998"/>
          </a:xfrm>
          <a:prstGeom prst="rect">
            <a:avLst/>
          </a:prstGeom>
          <a:noFill/>
          <a:ln/>
        </p:spPr>
        <p:txBody>
          <a:bodyPr wrap="none" lIns="0" tIns="0" rIns="0" bIns="0" rtlCol="0" anchor="t"/>
          <a:lstStyle/>
          <a:p>
            <a:pPr algn="l" indent="0" marL="0">
              <a:lnSpc>
                <a:spcPct val="104000"/>
              </a:lnSpc>
              <a:buNone/>
            </a:pPr>
            <a:r>
              <a:rPr lang="en-US" sz="1100" dirty="0">
                <a:solidFill>
                  <a:srgbClr val="383838"/>
                </a:solidFill>
                <a:latin typeface="PT Serif" pitchFamily="34" charset="0"/>
                <a:ea typeface="PT Serif" pitchFamily="34" charset="-122"/>
                <a:cs typeface="PT Serif" pitchFamily="34" charset="-120"/>
              </a:rPr>
              <a:t>books/views.py — Contrôles d'accès absents</a:t>
            </a:r>
            <a:endParaRPr lang="en-US" sz="1100" dirty="0"/>
          </a:p>
        </p:txBody>
      </p:sp>
      <p:sp>
        <p:nvSpPr>
          <p:cNvPr id="14" name="Text 11"/>
          <p:cNvSpPr/>
          <p:nvPr/>
        </p:nvSpPr>
        <p:spPr>
          <a:xfrm>
            <a:off x="4028777" y="3091681"/>
            <a:ext cx="4558308" cy="684461"/>
          </a:xfrm>
          <a:prstGeom prst="rect">
            <a:avLst/>
          </a:prstGeom>
          <a:noFill/>
          <a:ln/>
        </p:spPr>
        <p:txBody>
          <a:bodyPr wrap="square" lIns="0" tIns="0" rIns="0" bIns="0" rtlCol="0" anchor="t">
            <a:normAutofit/>
          </a:bodyPr>
          <a:lstStyle/>
          <a:p>
            <a:pPr algn="l" marL="342900" indent="-342900">
              <a:lnSpc>
                <a:spcPct val="125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add_book_view()</a:t>
            </a:r>
            <a:pPr algn="l" marL="342900" indent="-342900">
              <a:lnSpc>
                <a:spcPct val="125000"/>
              </a:lnSpc>
              <a:buSzPct val="100000"/>
              <a:buChar char="•"/>
            </a:pPr>
            <a:r>
              <a:rPr lang="en-US" sz="850" dirty="0">
                <a:solidFill>
                  <a:srgbClr val="383838"/>
                </a:solidFill>
                <a:latin typeface="DM Sans" pitchFamily="34" charset="0"/>
                <a:ea typeface="DM Sans" pitchFamily="34" charset="-122"/>
                <a:cs typeface="DM Sans" pitchFamily="34" charset="-120"/>
              </a:rPr>
              <a:t> — </a:t>
            </a:r>
            <a:pPr algn="l" marL="342900" indent="-342900">
              <a:lnSpc>
                <a:spcPct val="125000"/>
              </a:lnSpc>
              <a:buSzPct val="100000"/>
              <a:buChar char="•"/>
            </a:pPr>
            <a:r>
              <a:rPr lang="en-US" sz="850" b="1" dirty="0">
                <a:solidFill>
                  <a:srgbClr val="383838"/>
                </a:solidFill>
                <a:latin typeface="DM Sans" pitchFamily="34" charset="0"/>
                <a:ea typeface="DM Sans" pitchFamily="34" charset="-122"/>
                <a:cs typeface="DM Sans" pitchFamily="34" charset="-120"/>
              </a:rPr>
              <a:t>aucun contrôle de rôle admin</a:t>
            </a:r>
            <a:pPr algn="l" marL="342900" indent="-342900">
              <a:lnSpc>
                <a:spcPct val="125000"/>
              </a:lnSpc>
              <a:buSzPct val="100000"/>
              <a:buChar char="•"/>
            </a:pPr>
            <a:r>
              <a:rPr lang="en-US" sz="850" dirty="0">
                <a:solidFill>
                  <a:srgbClr val="383838"/>
                </a:solidFill>
                <a:latin typeface="DM Sans" pitchFamily="34" charset="0"/>
                <a:ea typeface="DM Sans" pitchFamily="34" charset="-122"/>
                <a:cs typeface="DM Sans" pitchFamily="34" charset="-120"/>
              </a:rPr>
              <a:t> → utilisateur standard peut ajouter des livres — CVSS </a:t>
            </a:r>
            <a:pPr algn="l" marL="342900" indent="-342900">
              <a:lnSpc>
                <a:spcPct val="125000"/>
              </a:lnSpc>
              <a:buSzPct val="100000"/>
              <a:buChar char="•"/>
            </a:pPr>
            <a:r>
              <a:rPr lang="en-US" sz="850" dirty="0">
                <a:solidFill>
                  <a:srgbClr val="E04F00"/>
                </a:solidFill>
                <a:latin typeface="DM Sans" pitchFamily="34" charset="0"/>
                <a:ea typeface="DM Sans" pitchFamily="34" charset="-122"/>
                <a:cs typeface="DM Sans" pitchFamily="34" charset="-120"/>
              </a:rPr>
              <a:t>8.1</a:t>
            </a:r>
            <a:endParaRPr lang="en-US" sz="850" dirty="0"/>
          </a:p>
          <a:p>
            <a:pPr algn="l" marL="342900" indent="-342900">
              <a:lnSpc>
                <a:spcPct val="125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delete_book_view()</a:t>
            </a:r>
            <a:pPr algn="l" marL="342900" indent="-342900">
              <a:lnSpc>
                <a:spcPct val="125000"/>
              </a:lnSpc>
              <a:buSzPct val="100000"/>
              <a:buChar char="•"/>
            </a:pPr>
            <a:r>
              <a:rPr lang="en-US" sz="850" dirty="0">
                <a:solidFill>
                  <a:srgbClr val="383838"/>
                </a:solidFill>
                <a:latin typeface="DM Sans" pitchFamily="34" charset="0"/>
                <a:ea typeface="DM Sans" pitchFamily="34" charset="-122"/>
                <a:cs typeface="DM Sans" pitchFamily="34" charset="-120"/>
              </a:rPr>
              <a:t> — IntegrityError non gérée → HTTP 500 + traceback complet exposé</a:t>
            </a:r>
            <a:endParaRPr lang="en-US" sz="850" dirty="0"/>
          </a:p>
        </p:txBody>
      </p:sp>
      <p:sp>
        <p:nvSpPr>
          <p:cNvPr id="15" name="Shape 12"/>
          <p:cNvSpPr/>
          <p:nvPr/>
        </p:nvSpPr>
        <p:spPr>
          <a:xfrm>
            <a:off x="3863132" y="3993877"/>
            <a:ext cx="4846737" cy="806128"/>
          </a:xfrm>
          <a:prstGeom prst="roundRect">
            <a:avLst>
              <a:gd name="adj" fmla="val 8507"/>
            </a:avLst>
          </a:prstGeom>
          <a:solidFill>
            <a:srgbClr val="FFFFFF"/>
          </a:solidFill>
          <a:ln w="14288">
            <a:solidFill>
              <a:srgbClr val="D8D4D4"/>
            </a:solidFill>
            <a:prstDash val="solid"/>
          </a:ln>
        </p:spPr>
      </p:sp>
      <p:sp>
        <p:nvSpPr>
          <p:cNvPr id="16" name="Shape 13"/>
          <p:cNvSpPr/>
          <p:nvPr/>
        </p:nvSpPr>
        <p:spPr>
          <a:xfrm>
            <a:off x="3848844" y="3993877"/>
            <a:ext cx="57150" cy="806128"/>
          </a:xfrm>
          <a:prstGeom prst="roundRect">
            <a:avLst>
              <a:gd name="adj" fmla="val 28488"/>
            </a:avLst>
          </a:prstGeom>
          <a:solidFill>
            <a:srgbClr val="E04F00"/>
          </a:solidFill>
          <a:ln/>
        </p:spPr>
      </p:sp>
      <p:sp>
        <p:nvSpPr>
          <p:cNvPr id="17" name="Text 14"/>
          <p:cNvSpPr/>
          <p:nvPr/>
        </p:nvSpPr>
        <p:spPr>
          <a:xfrm>
            <a:off x="4028777" y="4116660"/>
            <a:ext cx="2087761" cy="177998"/>
          </a:xfrm>
          <a:prstGeom prst="rect">
            <a:avLst/>
          </a:prstGeom>
          <a:noFill/>
          <a:ln/>
        </p:spPr>
        <p:txBody>
          <a:bodyPr wrap="none" lIns="0" tIns="0" rIns="0" bIns="0" rtlCol="0" anchor="t"/>
          <a:lstStyle/>
          <a:p>
            <a:pPr algn="l" indent="0" marL="0">
              <a:lnSpc>
                <a:spcPct val="104000"/>
              </a:lnSpc>
              <a:buNone/>
            </a:pPr>
            <a:r>
              <a:rPr lang="en-US" sz="1100" dirty="0">
                <a:solidFill>
                  <a:srgbClr val="383838"/>
                </a:solidFill>
                <a:latin typeface="PT Serif" pitchFamily="34" charset="0"/>
                <a:ea typeface="PT Serif" pitchFamily="34" charset="-122"/>
                <a:cs typeface="PT Serif" pitchFamily="34" charset="-120"/>
              </a:rPr>
              <a:t>sql/library.sql — Secret committé</a:t>
            </a:r>
            <a:endParaRPr lang="en-US" sz="1100" dirty="0"/>
          </a:p>
        </p:txBody>
      </p:sp>
      <p:sp>
        <p:nvSpPr>
          <p:cNvPr id="18" name="Text 15"/>
          <p:cNvSpPr/>
          <p:nvPr/>
        </p:nvSpPr>
        <p:spPr>
          <a:xfrm>
            <a:off x="4028777" y="4351586"/>
            <a:ext cx="4558308" cy="325636"/>
          </a:xfrm>
          <a:prstGeom prst="rect">
            <a:avLst/>
          </a:prstGeom>
          <a:noFill/>
          <a:ln/>
        </p:spPr>
        <p:txBody>
          <a:bodyPr wrap="square" lIns="0" tIns="0" rIns="0" bIns="0" rtlCol="0" anchor="t">
            <a:normAutofit/>
          </a:bodyPr>
          <a:lstStyle/>
          <a:p>
            <a:pPr algn="l" marL="342900" indent="-342900">
              <a:lnSpc>
                <a:spcPct val="125000"/>
              </a:lnSpc>
              <a:buSzPct val="100000"/>
              <a:buChar char="•"/>
            </a:pPr>
            <a:r>
              <a:rPr lang="en-US" sz="850" b="1" dirty="0">
                <a:solidFill>
                  <a:srgbClr val="383838"/>
                </a:solidFill>
                <a:latin typeface="DM Sans" pitchFamily="34" charset="0"/>
                <a:ea typeface="DM Sans" pitchFamily="34" charset="-122"/>
                <a:cs typeface="DM Sans" pitchFamily="34" charset="-120"/>
              </a:rPr>
              <a:t>Hash bcrypt d'utilisateurs committé</a:t>
            </a:r>
            <a:pPr algn="l" indent="0" marL="0">
              <a:lnSpc>
                <a:spcPct val="125000"/>
              </a:lnSpc>
              <a:buNone/>
            </a:pPr>
            <a:r>
              <a:rPr lang="en-US" sz="850" dirty="0">
                <a:solidFill>
                  <a:srgbClr val="383838"/>
                </a:solidFill>
                <a:latin typeface="DM Sans" pitchFamily="34" charset="0"/>
                <a:ea typeface="DM Sans" pitchFamily="34" charset="-122"/>
                <a:cs typeface="DM Sans" pitchFamily="34" charset="-120"/>
              </a:rPr>
              <a:t> dans le dépôt Git — exposition de credentials — CVSS </a:t>
            </a:r>
            <a:pPr algn="l" indent="0" marL="0">
              <a:lnSpc>
                <a:spcPct val="125000"/>
              </a:lnSpc>
              <a:buNone/>
            </a:pPr>
            <a:r>
              <a:rPr lang="en-US" sz="850" dirty="0">
                <a:solidFill>
                  <a:srgbClr val="E04F00"/>
                </a:solidFill>
                <a:latin typeface="DM Sans" pitchFamily="34" charset="0"/>
                <a:ea typeface="DM Sans" pitchFamily="34" charset="-122"/>
                <a:cs typeface="DM Sans" pitchFamily="34" charset="-120"/>
              </a:rPr>
              <a:t>7.4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74489" y="321171"/>
            <a:ext cx="824880" cy="182463"/>
          </a:xfrm>
          <a:prstGeom prst="roundRect">
            <a:avLst>
              <a:gd name="adj" fmla="val 6501"/>
            </a:avLst>
          </a:prstGeom>
          <a:noFill/>
          <a:ln w="4763">
            <a:solidFill>
              <a:srgbClr val="E04F00"/>
            </a:solidFill>
            <a:prstDash val="solid"/>
          </a:ln>
        </p:spPr>
      </p:sp>
      <p:sp>
        <p:nvSpPr>
          <p:cNvPr id="3" name="Text 1"/>
          <p:cNvSpPr/>
          <p:nvPr/>
        </p:nvSpPr>
        <p:spPr>
          <a:xfrm>
            <a:off x="738560" y="355550"/>
            <a:ext cx="1153939" cy="113705"/>
          </a:xfrm>
          <a:prstGeom prst="rect">
            <a:avLst/>
          </a:prstGeom>
          <a:noFill/>
          <a:ln/>
        </p:spPr>
        <p:txBody>
          <a:bodyPr wrap="none" lIns="0" tIns="0" rIns="0" bIns="0" rtlCol="0" anchor="t"/>
          <a:lstStyle/>
          <a:p>
            <a:pPr algn="l" indent="0" marL="0">
              <a:lnSpc>
                <a:spcPct val="120000"/>
              </a:lnSpc>
              <a:buNone/>
            </a:pPr>
            <a:r>
              <a:rPr lang="en-US" sz="600" dirty="0">
                <a:solidFill>
                  <a:srgbClr val="E04F00"/>
                </a:solidFill>
                <a:latin typeface="DM Sans" pitchFamily="34" charset="0"/>
                <a:ea typeface="DM Sans" pitchFamily="34" charset="-122"/>
                <a:cs typeface="DM Sans" pitchFamily="34" charset="-120"/>
              </a:rPr>
              <a:t>ANALYSE STATIQUE</a:t>
            </a:r>
            <a:endParaRPr lang="en-US" sz="600" dirty="0"/>
          </a:p>
        </p:txBody>
      </p:sp>
      <p:sp>
        <p:nvSpPr>
          <p:cNvPr id="4" name="Text 2"/>
          <p:cNvSpPr/>
          <p:nvPr/>
        </p:nvSpPr>
        <p:spPr>
          <a:xfrm>
            <a:off x="674489" y="535112"/>
            <a:ext cx="6114157" cy="324296"/>
          </a:xfrm>
          <a:prstGeom prst="rect">
            <a:avLst/>
          </a:prstGeom>
          <a:noFill/>
          <a:ln/>
        </p:spPr>
        <p:txBody>
          <a:bodyPr wrap="none" lIns="0" tIns="0" rIns="0" bIns="0" rtlCol="0" anchor="t"/>
          <a:lstStyle/>
          <a:p>
            <a:pPr algn="l" indent="0" marL="0">
              <a:lnSpc>
                <a:spcPct val="104000"/>
              </a:lnSpc>
              <a:buNone/>
            </a:pPr>
            <a:r>
              <a:rPr lang="en-US" sz="2000" u="sng" dirty="0">
                <a:solidFill>
                  <a:srgbClr val="E04F00"/>
                </a:solidFill>
                <a:latin typeface="PT Serif" pitchFamily="34" charset="0"/>
                <a:ea typeface="PT Serif" pitchFamily="34" charset="-122"/>
                <a:cs typeface="PT Serif"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SonarCloud </a:t>
            </a:r>
            <a:pPr algn="l" indent="0" marL="0">
              <a:lnSpc>
                <a:spcPct val="104000"/>
              </a:lnSpc>
              <a:buNone/>
            </a:pPr>
            <a:r>
              <a:rPr lang="en-US" sz="2000" dirty="0">
                <a:solidFill>
                  <a:srgbClr val="020202"/>
                </a:solidFill>
                <a:latin typeface="PT Serif" pitchFamily="34" charset="0"/>
                <a:ea typeface="PT Serif" pitchFamily="34" charset="-122"/>
                <a:cs typeface="PT Serif" pitchFamily="34" charset="-120"/>
              </a:rPr>
              <a:t>— Résultats sur 1 400 lignes de code</a:t>
            </a:r>
            <a:endParaRPr lang="en-US" sz="2000" dirty="0"/>
          </a:p>
        </p:txBody>
      </p:sp>
      <p:sp>
        <p:nvSpPr>
          <p:cNvPr id="5" name="Text 3"/>
          <p:cNvSpPr/>
          <p:nvPr/>
        </p:nvSpPr>
        <p:spPr>
          <a:xfrm>
            <a:off x="674489" y="1056233"/>
            <a:ext cx="1754535" cy="162074"/>
          </a:xfrm>
          <a:prstGeom prst="rect">
            <a:avLst/>
          </a:prstGeom>
          <a:noFill/>
          <a:ln/>
        </p:spPr>
        <p:txBody>
          <a:bodyPr wrap="none" lIns="0" tIns="0" rIns="0" bIns="0" rtlCol="0" anchor="t"/>
          <a:lstStyle/>
          <a:p>
            <a:pPr algn="l" indent="0" marL="0">
              <a:lnSpc>
                <a:spcPct val="104000"/>
              </a:lnSpc>
              <a:buNone/>
            </a:pPr>
            <a:r>
              <a:rPr lang="en-US" sz="1000" dirty="0">
                <a:solidFill>
                  <a:srgbClr val="020202"/>
                </a:solidFill>
                <a:latin typeface="PT Serif" pitchFamily="34" charset="0"/>
                <a:ea typeface="PT Serif" pitchFamily="34" charset="-122"/>
                <a:cs typeface="PT Serif" pitchFamily="34" charset="-120"/>
              </a:rPr>
              <a:t>Bilan par catégorie</a:t>
            </a:r>
            <a:endParaRPr lang="en-US" sz="1000" dirty="0"/>
          </a:p>
        </p:txBody>
      </p:sp>
      <p:sp>
        <p:nvSpPr>
          <p:cNvPr id="6" name="Shape 4"/>
          <p:cNvSpPr/>
          <p:nvPr/>
        </p:nvSpPr>
        <p:spPr>
          <a:xfrm>
            <a:off x="674489" y="1306860"/>
            <a:ext cx="3776886" cy="1509861"/>
          </a:xfrm>
          <a:prstGeom prst="roundRect">
            <a:avLst>
              <a:gd name="adj" fmla="val 982"/>
            </a:avLst>
          </a:prstGeom>
          <a:noFill/>
          <a:ln w="4763">
            <a:solidFill>
              <a:srgbClr val="000000">
                <a:alpha val="8000"/>
              </a:srgbClr>
            </a:solidFill>
            <a:prstDash val="solid"/>
          </a:ln>
        </p:spPr>
      </p:sp>
      <p:sp>
        <p:nvSpPr>
          <p:cNvPr id="7" name="Shape 5"/>
          <p:cNvSpPr/>
          <p:nvPr/>
        </p:nvSpPr>
        <p:spPr>
          <a:xfrm>
            <a:off x="679252" y="1311622"/>
            <a:ext cx="3767361" cy="246087"/>
          </a:xfrm>
          <a:prstGeom prst="rect">
            <a:avLst/>
          </a:prstGeom>
          <a:solidFill>
            <a:srgbClr val="FFFFFF">
              <a:alpha val="4000"/>
            </a:srgbClr>
          </a:solidFill>
          <a:ln/>
        </p:spPr>
      </p:sp>
      <p:sp>
        <p:nvSpPr>
          <p:cNvPr id="8" name="Text 6"/>
          <p:cNvSpPr/>
          <p:nvPr/>
        </p:nvSpPr>
        <p:spPr>
          <a:xfrm>
            <a:off x="778148" y="1363638"/>
            <a:ext cx="1764060" cy="142056"/>
          </a:xfrm>
          <a:prstGeom prst="rect">
            <a:avLst/>
          </a:prstGeom>
          <a:noFill/>
          <a:ln/>
        </p:spPr>
        <p:txBody>
          <a:bodyPr wrap="none" lIns="0" tIns="0" rIns="0" bIns="0" rtlCol="0" anchor="t"/>
          <a:lstStyle/>
          <a:p>
            <a:pPr algn="l" indent="0" marL="0">
              <a:lnSpc>
                <a:spcPct val="120000"/>
              </a:lnSpc>
              <a:buNone/>
            </a:pPr>
            <a:r>
              <a:rPr lang="en-US" sz="750" b="1" dirty="0">
                <a:solidFill>
                  <a:srgbClr val="383838"/>
                </a:solidFill>
                <a:latin typeface="DM Sans" pitchFamily="34" charset="0"/>
                <a:ea typeface="DM Sans" pitchFamily="34" charset="-122"/>
                <a:cs typeface="DM Sans" pitchFamily="34" charset="-120"/>
              </a:rPr>
              <a:t>Catégorie</a:t>
            </a:r>
            <a:endParaRPr lang="en-US" sz="750" dirty="0"/>
          </a:p>
        </p:txBody>
      </p:sp>
      <p:sp>
        <p:nvSpPr>
          <p:cNvPr id="9" name="Text 7"/>
          <p:cNvSpPr/>
          <p:nvPr/>
        </p:nvSpPr>
        <p:spPr>
          <a:xfrm>
            <a:off x="2287414" y="1363638"/>
            <a:ext cx="1384995" cy="142056"/>
          </a:xfrm>
          <a:prstGeom prst="rect">
            <a:avLst/>
          </a:prstGeom>
          <a:noFill/>
          <a:ln/>
        </p:spPr>
        <p:txBody>
          <a:bodyPr wrap="none" lIns="0" tIns="0" rIns="0" bIns="0" rtlCol="0" anchor="t"/>
          <a:lstStyle/>
          <a:p>
            <a:pPr algn="l" indent="0" marL="0">
              <a:lnSpc>
                <a:spcPct val="120000"/>
              </a:lnSpc>
              <a:buNone/>
            </a:pPr>
            <a:r>
              <a:rPr lang="en-US" sz="750" b="1" dirty="0">
                <a:solidFill>
                  <a:srgbClr val="383838"/>
                </a:solidFill>
                <a:latin typeface="DM Sans" pitchFamily="34" charset="0"/>
                <a:ea typeface="DM Sans" pitchFamily="34" charset="-122"/>
                <a:cs typeface="DM Sans" pitchFamily="34" charset="-120"/>
              </a:rPr>
              <a:t>Issues</a:t>
            </a:r>
            <a:endParaRPr lang="en-US" sz="750" dirty="0"/>
          </a:p>
        </p:txBody>
      </p:sp>
      <p:sp>
        <p:nvSpPr>
          <p:cNvPr id="10" name="Text 8"/>
          <p:cNvSpPr/>
          <p:nvPr/>
        </p:nvSpPr>
        <p:spPr>
          <a:xfrm>
            <a:off x="3417615" y="1363638"/>
            <a:ext cx="1387376" cy="142056"/>
          </a:xfrm>
          <a:prstGeom prst="rect">
            <a:avLst/>
          </a:prstGeom>
          <a:noFill/>
          <a:ln/>
        </p:spPr>
        <p:txBody>
          <a:bodyPr wrap="none" lIns="0" tIns="0" rIns="0" bIns="0" rtlCol="0" anchor="t"/>
          <a:lstStyle/>
          <a:p>
            <a:pPr algn="l" indent="0" marL="0">
              <a:lnSpc>
                <a:spcPct val="120000"/>
              </a:lnSpc>
              <a:buNone/>
            </a:pPr>
            <a:r>
              <a:rPr lang="en-US" sz="750" b="1" dirty="0">
                <a:solidFill>
                  <a:srgbClr val="383838"/>
                </a:solidFill>
                <a:latin typeface="DM Sans" pitchFamily="34" charset="0"/>
                <a:ea typeface="DM Sans" pitchFamily="34" charset="-122"/>
                <a:cs typeface="DM Sans" pitchFamily="34" charset="-120"/>
              </a:rPr>
              <a:t>Note</a:t>
            </a:r>
            <a:endParaRPr lang="en-US" sz="750" dirty="0"/>
          </a:p>
        </p:txBody>
      </p:sp>
      <p:sp>
        <p:nvSpPr>
          <p:cNvPr id="11" name="Shape 9"/>
          <p:cNvSpPr/>
          <p:nvPr/>
        </p:nvSpPr>
        <p:spPr>
          <a:xfrm>
            <a:off x="679252" y="1557710"/>
            <a:ext cx="3767361" cy="250850"/>
          </a:xfrm>
          <a:prstGeom prst="rect">
            <a:avLst/>
          </a:prstGeom>
          <a:solidFill>
            <a:srgbClr val="000000">
              <a:alpha val="4000"/>
            </a:srgbClr>
          </a:solidFill>
          <a:ln/>
        </p:spPr>
      </p:sp>
      <p:sp>
        <p:nvSpPr>
          <p:cNvPr id="12" name="Text 10"/>
          <p:cNvSpPr/>
          <p:nvPr/>
        </p:nvSpPr>
        <p:spPr>
          <a:xfrm>
            <a:off x="778148" y="1609725"/>
            <a:ext cx="1764060" cy="146819"/>
          </a:xfrm>
          <a:prstGeom prst="rect">
            <a:avLst/>
          </a:prstGeom>
          <a:noFill/>
          <a:ln/>
        </p:spPr>
        <p:txBody>
          <a:bodyPr wrap="none" lIns="0" tIns="0" rIns="0" bIns="0" rtlCol="0" anchor="t"/>
          <a:lstStyle/>
          <a:p>
            <a:pPr algn="l" indent="0" marL="0">
              <a:lnSpc>
                <a:spcPct val="120000"/>
              </a:lnSpc>
              <a:buNone/>
            </a:pPr>
            <a:r>
              <a:rPr lang="en-US" sz="750" dirty="0">
                <a:solidFill>
                  <a:srgbClr val="000000"/>
                </a:solidFill>
                <a:latin typeface="DM Sans" pitchFamily="34" charset="0"/>
                <a:ea typeface="DM Sans" pitchFamily="34" charset="-122"/>
                <a:cs typeface="DM Sans" pitchFamily="34" charset="-120"/>
              </a:rPr>
              <a:t>🔴</a:t>
            </a:r>
            <a:pPr algn="l" indent="0" marL="0">
              <a:lnSpc>
                <a:spcPct val="120000"/>
              </a:lnSpc>
              <a:buNone/>
            </a:pPr>
            <a:r>
              <a:rPr lang="en-US" sz="750" dirty="0">
                <a:solidFill>
                  <a:srgbClr val="E04F00"/>
                </a:solidFill>
                <a:latin typeface="DM Sans" pitchFamily="34" charset="0"/>
                <a:ea typeface="DM Sans" pitchFamily="34" charset="-122"/>
                <a:cs typeface="DM Sans" pitchFamily="34" charset="-120"/>
              </a:rPr>
              <a:t> Sécurité</a:t>
            </a:r>
            <a:endParaRPr lang="en-US" sz="750" dirty="0"/>
          </a:p>
        </p:txBody>
      </p:sp>
      <p:sp>
        <p:nvSpPr>
          <p:cNvPr id="13" name="Text 11"/>
          <p:cNvSpPr/>
          <p:nvPr/>
        </p:nvSpPr>
        <p:spPr>
          <a:xfrm>
            <a:off x="2287414" y="1609725"/>
            <a:ext cx="1384995" cy="142056"/>
          </a:xfrm>
          <a:prstGeom prst="rect">
            <a:avLst/>
          </a:prstGeom>
          <a:noFill/>
          <a:ln/>
        </p:spPr>
        <p:txBody>
          <a:bodyPr wrap="none" lIns="0" tIns="0" rIns="0" bIns="0" rtlCol="0" anchor="t"/>
          <a:lstStyle/>
          <a:p>
            <a:pPr algn="l" indent="0" marL="0">
              <a:lnSpc>
                <a:spcPct val="120000"/>
              </a:lnSpc>
              <a:buNone/>
            </a:pPr>
            <a:r>
              <a:rPr lang="en-US" sz="750" dirty="0">
                <a:solidFill>
                  <a:srgbClr val="383838"/>
                </a:solidFill>
                <a:latin typeface="DM Sans" pitchFamily="34" charset="0"/>
                <a:ea typeface="DM Sans" pitchFamily="34" charset="-122"/>
                <a:cs typeface="DM Sans" pitchFamily="34" charset="-120"/>
              </a:rPr>
              <a:t>4 issues</a:t>
            </a:r>
            <a:endParaRPr lang="en-US" sz="750" dirty="0"/>
          </a:p>
        </p:txBody>
      </p:sp>
      <p:sp>
        <p:nvSpPr>
          <p:cNvPr id="14" name="Text 12"/>
          <p:cNvSpPr/>
          <p:nvPr/>
        </p:nvSpPr>
        <p:spPr>
          <a:xfrm>
            <a:off x="3417615" y="1609725"/>
            <a:ext cx="1387376" cy="142056"/>
          </a:xfrm>
          <a:prstGeom prst="rect">
            <a:avLst/>
          </a:prstGeom>
          <a:noFill/>
          <a:ln/>
        </p:spPr>
        <p:txBody>
          <a:bodyPr wrap="none" lIns="0" tIns="0" rIns="0" bIns="0" rtlCol="0" anchor="t"/>
          <a:lstStyle/>
          <a:p>
            <a:pPr algn="l" indent="0" marL="0">
              <a:lnSpc>
                <a:spcPct val="120000"/>
              </a:lnSpc>
              <a:buNone/>
            </a:pPr>
            <a:r>
              <a:rPr lang="en-US" sz="750" dirty="0">
                <a:solidFill>
                  <a:srgbClr val="E04F00"/>
                </a:solidFill>
                <a:latin typeface="DM Sans" pitchFamily="34" charset="0"/>
                <a:ea typeface="DM Sans" pitchFamily="34" charset="-122"/>
                <a:cs typeface="DM Sans" pitchFamily="34" charset="-120"/>
              </a:rPr>
              <a:t>E — pire note</a:t>
            </a:r>
            <a:endParaRPr lang="en-US" sz="750" dirty="0"/>
          </a:p>
        </p:txBody>
      </p:sp>
      <p:sp>
        <p:nvSpPr>
          <p:cNvPr id="15" name="Shape 13"/>
          <p:cNvSpPr/>
          <p:nvPr/>
        </p:nvSpPr>
        <p:spPr>
          <a:xfrm>
            <a:off x="679252" y="1808559"/>
            <a:ext cx="3767361" cy="250850"/>
          </a:xfrm>
          <a:prstGeom prst="rect">
            <a:avLst/>
          </a:prstGeom>
          <a:solidFill>
            <a:srgbClr val="FFFFFF">
              <a:alpha val="4000"/>
            </a:srgbClr>
          </a:solidFill>
          <a:ln/>
        </p:spPr>
      </p:sp>
      <p:sp>
        <p:nvSpPr>
          <p:cNvPr id="16" name="Text 14"/>
          <p:cNvSpPr/>
          <p:nvPr/>
        </p:nvSpPr>
        <p:spPr>
          <a:xfrm>
            <a:off x="778148" y="1860575"/>
            <a:ext cx="1764060" cy="146819"/>
          </a:xfrm>
          <a:prstGeom prst="rect">
            <a:avLst/>
          </a:prstGeom>
          <a:noFill/>
          <a:ln/>
        </p:spPr>
        <p:txBody>
          <a:bodyPr wrap="none" lIns="0" tIns="0" rIns="0" bIns="0" rtlCol="0" anchor="t"/>
          <a:lstStyle/>
          <a:p>
            <a:pPr algn="l" indent="0" marL="0">
              <a:lnSpc>
                <a:spcPct val="120000"/>
              </a:lnSpc>
              <a:buNone/>
            </a:pPr>
            <a:r>
              <a:rPr lang="en-US" sz="750" dirty="0">
                <a:solidFill>
                  <a:srgbClr val="000000"/>
                </a:solidFill>
                <a:latin typeface="DM Sans" pitchFamily="34" charset="0"/>
                <a:ea typeface="DM Sans" pitchFamily="34" charset="-122"/>
                <a:cs typeface="DM Sans" pitchFamily="34" charset="-120"/>
              </a:rPr>
              <a:t>🟠</a:t>
            </a:r>
            <a:pPr algn="l" indent="0" marL="0">
              <a:lnSpc>
                <a:spcPct val="120000"/>
              </a:lnSpc>
              <a:buNone/>
            </a:pPr>
            <a:r>
              <a:rPr lang="en-US" sz="750" dirty="0">
                <a:solidFill>
                  <a:srgbClr val="383838"/>
                </a:solidFill>
                <a:latin typeface="DM Sans" pitchFamily="34" charset="0"/>
                <a:ea typeface="DM Sans" pitchFamily="34" charset="-122"/>
                <a:cs typeface="DM Sans" pitchFamily="34" charset="-120"/>
              </a:rPr>
              <a:t> Fiabilité</a:t>
            </a:r>
            <a:endParaRPr lang="en-US" sz="750" dirty="0"/>
          </a:p>
        </p:txBody>
      </p:sp>
      <p:sp>
        <p:nvSpPr>
          <p:cNvPr id="17" name="Text 15"/>
          <p:cNvSpPr/>
          <p:nvPr/>
        </p:nvSpPr>
        <p:spPr>
          <a:xfrm>
            <a:off x="2287414" y="1860575"/>
            <a:ext cx="1384995" cy="142056"/>
          </a:xfrm>
          <a:prstGeom prst="rect">
            <a:avLst/>
          </a:prstGeom>
          <a:noFill/>
          <a:ln/>
        </p:spPr>
        <p:txBody>
          <a:bodyPr wrap="none" lIns="0" tIns="0" rIns="0" bIns="0" rtlCol="0" anchor="t"/>
          <a:lstStyle/>
          <a:p>
            <a:pPr algn="l" indent="0" marL="0">
              <a:lnSpc>
                <a:spcPct val="120000"/>
              </a:lnSpc>
              <a:buNone/>
            </a:pPr>
            <a:r>
              <a:rPr lang="en-US" sz="750" dirty="0">
                <a:solidFill>
                  <a:srgbClr val="383838"/>
                </a:solidFill>
                <a:latin typeface="DM Sans" pitchFamily="34" charset="0"/>
                <a:ea typeface="DM Sans" pitchFamily="34" charset="-122"/>
                <a:cs typeface="DM Sans" pitchFamily="34" charset="-120"/>
              </a:rPr>
              <a:t>3 issues</a:t>
            </a:r>
            <a:endParaRPr lang="en-US" sz="750" dirty="0"/>
          </a:p>
        </p:txBody>
      </p:sp>
      <p:sp>
        <p:nvSpPr>
          <p:cNvPr id="18" name="Text 16"/>
          <p:cNvSpPr/>
          <p:nvPr/>
        </p:nvSpPr>
        <p:spPr>
          <a:xfrm>
            <a:off x="3417615" y="1860575"/>
            <a:ext cx="1387376" cy="142056"/>
          </a:xfrm>
          <a:prstGeom prst="rect">
            <a:avLst/>
          </a:prstGeom>
          <a:noFill/>
          <a:ln/>
        </p:spPr>
        <p:txBody>
          <a:bodyPr wrap="none" lIns="0" tIns="0" rIns="0" bIns="0" rtlCol="0" anchor="t"/>
          <a:lstStyle/>
          <a:p>
            <a:pPr algn="l" indent="0" marL="0">
              <a:lnSpc>
                <a:spcPct val="120000"/>
              </a:lnSpc>
              <a:buNone/>
            </a:pPr>
            <a:r>
              <a:rPr lang="en-US" sz="750" dirty="0">
                <a:solidFill>
                  <a:srgbClr val="383838"/>
                </a:solidFill>
                <a:latin typeface="DM Sans" pitchFamily="34" charset="0"/>
                <a:ea typeface="DM Sans" pitchFamily="34" charset="-122"/>
                <a:cs typeface="DM Sans" pitchFamily="34" charset="-120"/>
              </a:rPr>
              <a:t>C</a:t>
            </a:r>
            <a:endParaRPr lang="en-US" sz="750" dirty="0"/>
          </a:p>
        </p:txBody>
      </p:sp>
      <p:sp>
        <p:nvSpPr>
          <p:cNvPr id="19" name="Shape 17"/>
          <p:cNvSpPr/>
          <p:nvPr/>
        </p:nvSpPr>
        <p:spPr>
          <a:xfrm>
            <a:off x="679252" y="2059409"/>
            <a:ext cx="3767361" cy="250850"/>
          </a:xfrm>
          <a:prstGeom prst="rect">
            <a:avLst/>
          </a:prstGeom>
          <a:solidFill>
            <a:srgbClr val="000000">
              <a:alpha val="4000"/>
            </a:srgbClr>
          </a:solidFill>
          <a:ln/>
        </p:spPr>
      </p:sp>
      <p:sp>
        <p:nvSpPr>
          <p:cNvPr id="20" name="Text 18"/>
          <p:cNvSpPr/>
          <p:nvPr/>
        </p:nvSpPr>
        <p:spPr>
          <a:xfrm>
            <a:off x="778148" y="2111425"/>
            <a:ext cx="1764060" cy="146819"/>
          </a:xfrm>
          <a:prstGeom prst="rect">
            <a:avLst/>
          </a:prstGeom>
          <a:noFill/>
          <a:ln/>
        </p:spPr>
        <p:txBody>
          <a:bodyPr wrap="none" lIns="0" tIns="0" rIns="0" bIns="0" rtlCol="0" anchor="t"/>
          <a:lstStyle/>
          <a:p>
            <a:pPr algn="l" indent="0" marL="0">
              <a:lnSpc>
                <a:spcPct val="120000"/>
              </a:lnSpc>
              <a:buNone/>
            </a:pPr>
            <a:r>
              <a:rPr lang="en-US" sz="750" dirty="0">
                <a:solidFill>
                  <a:srgbClr val="000000"/>
                </a:solidFill>
                <a:latin typeface="DM Sans" pitchFamily="34" charset="0"/>
                <a:ea typeface="DM Sans" pitchFamily="34" charset="-122"/>
                <a:cs typeface="DM Sans" pitchFamily="34" charset="-120"/>
              </a:rPr>
              <a:t>🟢</a:t>
            </a:r>
            <a:pPr algn="l" indent="0" marL="0">
              <a:lnSpc>
                <a:spcPct val="120000"/>
              </a:lnSpc>
              <a:buNone/>
            </a:pPr>
            <a:r>
              <a:rPr lang="en-US" sz="750" dirty="0">
                <a:solidFill>
                  <a:srgbClr val="383838"/>
                </a:solidFill>
                <a:latin typeface="DM Sans" pitchFamily="34" charset="0"/>
                <a:ea typeface="DM Sans" pitchFamily="34" charset="-122"/>
                <a:cs typeface="DM Sans" pitchFamily="34" charset="-120"/>
              </a:rPr>
              <a:t> Maintenabilité</a:t>
            </a:r>
            <a:endParaRPr lang="en-US" sz="750" dirty="0"/>
          </a:p>
        </p:txBody>
      </p:sp>
      <p:sp>
        <p:nvSpPr>
          <p:cNvPr id="21" name="Text 19"/>
          <p:cNvSpPr/>
          <p:nvPr/>
        </p:nvSpPr>
        <p:spPr>
          <a:xfrm>
            <a:off x="2287414" y="2111425"/>
            <a:ext cx="1384995" cy="142056"/>
          </a:xfrm>
          <a:prstGeom prst="rect">
            <a:avLst/>
          </a:prstGeom>
          <a:noFill/>
          <a:ln/>
        </p:spPr>
        <p:txBody>
          <a:bodyPr wrap="none" lIns="0" tIns="0" rIns="0" bIns="0" rtlCol="0" anchor="t"/>
          <a:lstStyle/>
          <a:p>
            <a:pPr algn="l" indent="0" marL="0">
              <a:lnSpc>
                <a:spcPct val="120000"/>
              </a:lnSpc>
              <a:buNone/>
            </a:pPr>
            <a:r>
              <a:rPr lang="en-US" sz="750" dirty="0">
                <a:solidFill>
                  <a:srgbClr val="383838"/>
                </a:solidFill>
                <a:latin typeface="DM Sans" pitchFamily="34" charset="0"/>
                <a:ea typeface="DM Sans" pitchFamily="34" charset="-122"/>
                <a:cs typeface="DM Sans" pitchFamily="34" charset="-120"/>
              </a:rPr>
              <a:t>23 issues</a:t>
            </a:r>
            <a:endParaRPr lang="en-US" sz="750" dirty="0"/>
          </a:p>
        </p:txBody>
      </p:sp>
      <p:sp>
        <p:nvSpPr>
          <p:cNvPr id="22" name="Text 20"/>
          <p:cNvSpPr/>
          <p:nvPr/>
        </p:nvSpPr>
        <p:spPr>
          <a:xfrm>
            <a:off x="3417615" y="2111425"/>
            <a:ext cx="1387376" cy="142056"/>
          </a:xfrm>
          <a:prstGeom prst="rect">
            <a:avLst/>
          </a:prstGeom>
          <a:noFill/>
          <a:ln/>
        </p:spPr>
        <p:txBody>
          <a:bodyPr wrap="none" lIns="0" tIns="0" rIns="0" bIns="0" rtlCol="0" anchor="t"/>
          <a:lstStyle/>
          <a:p>
            <a:pPr algn="l" indent="0" marL="0">
              <a:lnSpc>
                <a:spcPct val="120000"/>
              </a:lnSpc>
              <a:buNone/>
            </a:pPr>
            <a:r>
              <a:rPr lang="en-US" sz="750" dirty="0">
                <a:solidFill>
                  <a:srgbClr val="383838"/>
                </a:solidFill>
                <a:latin typeface="DM Sans" pitchFamily="34" charset="0"/>
                <a:ea typeface="DM Sans" pitchFamily="34" charset="-122"/>
                <a:cs typeface="DM Sans" pitchFamily="34" charset="-120"/>
              </a:rPr>
              <a:t>A</a:t>
            </a:r>
            <a:endParaRPr lang="en-US" sz="750" dirty="0"/>
          </a:p>
        </p:txBody>
      </p:sp>
      <p:sp>
        <p:nvSpPr>
          <p:cNvPr id="23" name="Shape 21"/>
          <p:cNvSpPr/>
          <p:nvPr/>
        </p:nvSpPr>
        <p:spPr>
          <a:xfrm>
            <a:off x="679252" y="2310259"/>
            <a:ext cx="3767361" cy="250850"/>
          </a:xfrm>
          <a:prstGeom prst="rect">
            <a:avLst/>
          </a:prstGeom>
          <a:solidFill>
            <a:srgbClr val="FFFFFF">
              <a:alpha val="4000"/>
            </a:srgbClr>
          </a:solidFill>
          <a:ln/>
        </p:spPr>
      </p:sp>
      <p:sp>
        <p:nvSpPr>
          <p:cNvPr id="24" name="Text 22"/>
          <p:cNvSpPr/>
          <p:nvPr/>
        </p:nvSpPr>
        <p:spPr>
          <a:xfrm>
            <a:off x="778148" y="2362274"/>
            <a:ext cx="1764060" cy="146819"/>
          </a:xfrm>
          <a:prstGeom prst="rect">
            <a:avLst/>
          </a:prstGeom>
          <a:noFill/>
          <a:ln/>
        </p:spPr>
        <p:txBody>
          <a:bodyPr wrap="none" lIns="0" tIns="0" rIns="0" bIns="0" rtlCol="0" anchor="t"/>
          <a:lstStyle/>
          <a:p>
            <a:pPr algn="l" indent="0" marL="0">
              <a:lnSpc>
                <a:spcPct val="120000"/>
              </a:lnSpc>
              <a:buNone/>
            </a:pPr>
            <a:r>
              <a:rPr lang="en-US" sz="750" dirty="0">
                <a:solidFill>
                  <a:srgbClr val="000000"/>
                </a:solidFill>
                <a:latin typeface="DM Sans" pitchFamily="34" charset="0"/>
                <a:ea typeface="DM Sans" pitchFamily="34" charset="-122"/>
                <a:cs typeface="DM Sans" pitchFamily="34" charset="-120"/>
              </a:rPr>
              <a:t>🔥</a:t>
            </a:r>
            <a:pPr algn="l" indent="0" marL="0">
              <a:lnSpc>
                <a:spcPct val="120000"/>
              </a:lnSpc>
              <a:buNone/>
            </a:pPr>
            <a:r>
              <a:rPr lang="en-US" sz="750" dirty="0">
                <a:solidFill>
                  <a:srgbClr val="383838"/>
                </a:solidFill>
                <a:latin typeface="DM Sans" pitchFamily="34" charset="0"/>
                <a:ea typeface="DM Sans" pitchFamily="34" charset="-122"/>
                <a:cs typeface="DM Sans" pitchFamily="34" charset="-120"/>
              </a:rPr>
              <a:t> Security Hotspots</a:t>
            </a:r>
            <a:endParaRPr lang="en-US" sz="750" dirty="0"/>
          </a:p>
        </p:txBody>
      </p:sp>
      <p:sp>
        <p:nvSpPr>
          <p:cNvPr id="25" name="Text 23"/>
          <p:cNvSpPr/>
          <p:nvPr/>
        </p:nvSpPr>
        <p:spPr>
          <a:xfrm>
            <a:off x="2287414" y="2362274"/>
            <a:ext cx="1384995" cy="142056"/>
          </a:xfrm>
          <a:prstGeom prst="rect">
            <a:avLst/>
          </a:prstGeom>
          <a:noFill/>
          <a:ln/>
        </p:spPr>
        <p:txBody>
          <a:bodyPr wrap="none" lIns="0" tIns="0" rIns="0" bIns="0" rtlCol="0" anchor="t"/>
          <a:lstStyle/>
          <a:p>
            <a:pPr algn="l" indent="0" marL="0">
              <a:lnSpc>
                <a:spcPct val="120000"/>
              </a:lnSpc>
              <a:buNone/>
            </a:pPr>
            <a:r>
              <a:rPr lang="en-US" sz="750" dirty="0">
                <a:solidFill>
                  <a:srgbClr val="383838"/>
                </a:solidFill>
                <a:latin typeface="DM Sans" pitchFamily="34" charset="0"/>
                <a:ea typeface="DM Sans" pitchFamily="34" charset="-122"/>
                <a:cs typeface="DM Sans" pitchFamily="34" charset="-120"/>
              </a:rPr>
              <a:t>18</a:t>
            </a:r>
            <a:endParaRPr lang="en-US" sz="750" dirty="0"/>
          </a:p>
        </p:txBody>
      </p:sp>
      <p:sp>
        <p:nvSpPr>
          <p:cNvPr id="26" name="Text 24"/>
          <p:cNvSpPr/>
          <p:nvPr/>
        </p:nvSpPr>
        <p:spPr>
          <a:xfrm>
            <a:off x="3417615" y="2362274"/>
            <a:ext cx="1387376" cy="142056"/>
          </a:xfrm>
          <a:prstGeom prst="rect">
            <a:avLst/>
          </a:prstGeom>
          <a:noFill/>
          <a:ln/>
        </p:spPr>
        <p:txBody>
          <a:bodyPr wrap="none" lIns="0" tIns="0" rIns="0" bIns="0" rtlCol="0" anchor="t"/>
          <a:lstStyle/>
          <a:p>
            <a:pPr algn="l" indent="0" marL="0">
              <a:lnSpc>
                <a:spcPct val="120000"/>
              </a:lnSpc>
              <a:buNone/>
            </a:pPr>
            <a:r>
              <a:rPr lang="en-US" sz="750" dirty="0">
                <a:solidFill>
                  <a:srgbClr val="383838"/>
                </a:solidFill>
                <a:latin typeface="DM Sans" pitchFamily="34" charset="0"/>
                <a:ea typeface="DM Sans" pitchFamily="34" charset="-122"/>
                <a:cs typeface="DM Sans" pitchFamily="34" charset="-120"/>
              </a:rPr>
              <a:t>À analyser</a:t>
            </a:r>
            <a:endParaRPr lang="en-US" sz="750" dirty="0"/>
          </a:p>
        </p:txBody>
      </p:sp>
      <p:sp>
        <p:nvSpPr>
          <p:cNvPr id="27" name="Shape 25"/>
          <p:cNvSpPr/>
          <p:nvPr/>
        </p:nvSpPr>
        <p:spPr>
          <a:xfrm>
            <a:off x="679252" y="2561109"/>
            <a:ext cx="3767361" cy="250850"/>
          </a:xfrm>
          <a:prstGeom prst="rect">
            <a:avLst/>
          </a:prstGeom>
          <a:solidFill>
            <a:srgbClr val="000000">
              <a:alpha val="4000"/>
            </a:srgbClr>
          </a:solidFill>
          <a:ln/>
        </p:spPr>
      </p:sp>
      <p:sp>
        <p:nvSpPr>
          <p:cNvPr id="28" name="Text 26"/>
          <p:cNvSpPr/>
          <p:nvPr/>
        </p:nvSpPr>
        <p:spPr>
          <a:xfrm>
            <a:off x="778148" y="2613124"/>
            <a:ext cx="1764060" cy="142056"/>
          </a:xfrm>
          <a:prstGeom prst="rect">
            <a:avLst/>
          </a:prstGeom>
          <a:noFill/>
          <a:ln/>
        </p:spPr>
        <p:txBody>
          <a:bodyPr wrap="none" lIns="0" tIns="0" rIns="0" bIns="0" rtlCol="0" anchor="t"/>
          <a:lstStyle/>
          <a:p>
            <a:pPr algn="l" indent="0" marL="0">
              <a:lnSpc>
                <a:spcPct val="120000"/>
              </a:lnSpc>
              <a:buNone/>
            </a:pPr>
            <a:r>
              <a:rPr lang="en-US" sz="750" dirty="0">
                <a:solidFill>
                  <a:srgbClr val="383838"/>
                </a:solidFill>
                <a:latin typeface="DM Sans" pitchFamily="34" charset="0"/>
                <a:ea typeface="DM Sans" pitchFamily="34" charset="-122"/>
                <a:cs typeface="DM Sans" pitchFamily="34" charset="-120"/>
              </a:rPr>
              <a:t>Duplications</a:t>
            </a:r>
            <a:endParaRPr lang="en-US" sz="750" dirty="0"/>
          </a:p>
        </p:txBody>
      </p:sp>
      <p:sp>
        <p:nvSpPr>
          <p:cNvPr id="29" name="Text 27"/>
          <p:cNvSpPr/>
          <p:nvPr/>
        </p:nvSpPr>
        <p:spPr>
          <a:xfrm>
            <a:off x="2287414" y="2613124"/>
            <a:ext cx="1384995" cy="142056"/>
          </a:xfrm>
          <a:prstGeom prst="rect">
            <a:avLst/>
          </a:prstGeom>
          <a:noFill/>
          <a:ln/>
        </p:spPr>
        <p:txBody>
          <a:bodyPr wrap="none" lIns="0" tIns="0" rIns="0" bIns="0" rtlCol="0" anchor="t"/>
          <a:lstStyle/>
          <a:p>
            <a:pPr algn="l" indent="0" marL="0">
              <a:lnSpc>
                <a:spcPct val="120000"/>
              </a:lnSpc>
              <a:buNone/>
            </a:pPr>
            <a:r>
              <a:rPr lang="en-US" sz="750" dirty="0">
                <a:solidFill>
                  <a:srgbClr val="383838"/>
                </a:solidFill>
                <a:latin typeface="DM Sans" pitchFamily="34" charset="0"/>
                <a:ea typeface="DM Sans" pitchFamily="34" charset="-122"/>
                <a:cs typeface="DM Sans" pitchFamily="34" charset="-120"/>
              </a:rPr>
              <a:t>0.0%</a:t>
            </a:r>
            <a:endParaRPr lang="en-US" sz="750" dirty="0"/>
          </a:p>
        </p:txBody>
      </p:sp>
      <p:sp>
        <p:nvSpPr>
          <p:cNvPr id="30" name="Text 28"/>
          <p:cNvSpPr/>
          <p:nvPr/>
        </p:nvSpPr>
        <p:spPr>
          <a:xfrm>
            <a:off x="3417615" y="2613124"/>
            <a:ext cx="1387376" cy="146819"/>
          </a:xfrm>
          <a:prstGeom prst="rect">
            <a:avLst/>
          </a:prstGeom>
          <a:noFill/>
          <a:ln/>
        </p:spPr>
        <p:txBody>
          <a:bodyPr wrap="none" lIns="0" tIns="0" rIns="0" bIns="0" rtlCol="0" anchor="t"/>
          <a:lstStyle/>
          <a:p>
            <a:pPr algn="l" indent="0" marL="0">
              <a:lnSpc>
                <a:spcPct val="120000"/>
              </a:lnSpc>
              <a:buNone/>
            </a:pPr>
            <a:r>
              <a:rPr lang="en-US" sz="750" dirty="0">
                <a:solidFill>
                  <a:srgbClr val="000000"/>
                </a:solidFill>
                <a:latin typeface="DM Sans" pitchFamily="34" charset="0"/>
                <a:ea typeface="DM Sans" pitchFamily="34" charset="-122"/>
                <a:cs typeface="DM Sans" pitchFamily="34" charset="-120"/>
              </a:rPr>
              <a:t>✅</a:t>
            </a:r>
            <a:endParaRPr lang="en-US" sz="750" dirty="0"/>
          </a:p>
        </p:txBody>
      </p:sp>
      <p:sp>
        <p:nvSpPr>
          <p:cNvPr id="31" name="Text 29"/>
          <p:cNvSpPr/>
          <p:nvPr/>
        </p:nvSpPr>
        <p:spPr>
          <a:xfrm>
            <a:off x="4697239" y="1056233"/>
            <a:ext cx="1759074" cy="162074"/>
          </a:xfrm>
          <a:prstGeom prst="rect">
            <a:avLst/>
          </a:prstGeom>
          <a:noFill/>
          <a:ln/>
        </p:spPr>
        <p:txBody>
          <a:bodyPr wrap="none" lIns="0" tIns="0" rIns="0" bIns="0" rtlCol="0" anchor="t"/>
          <a:lstStyle/>
          <a:p>
            <a:pPr algn="l" indent="0" marL="0">
              <a:lnSpc>
                <a:spcPct val="104000"/>
              </a:lnSpc>
              <a:buNone/>
            </a:pPr>
            <a:r>
              <a:rPr lang="en-US" sz="1000" dirty="0">
                <a:solidFill>
                  <a:srgbClr val="020202"/>
                </a:solidFill>
                <a:latin typeface="PT Serif" pitchFamily="34" charset="0"/>
                <a:ea typeface="PT Serif" pitchFamily="34" charset="-122"/>
                <a:cs typeface="PT Serif" pitchFamily="34" charset="-120"/>
              </a:rPr>
              <a:t>Top issues SonarCloud</a:t>
            </a:r>
            <a:endParaRPr lang="en-US" sz="1000" dirty="0"/>
          </a:p>
        </p:txBody>
      </p:sp>
      <p:sp>
        <p:nvSpPr>
          <p:cNvPr id="32" name="Text 30"/>
          <p:cNvSpPr/>
          <p:nvPr/>
        </p:nvSpPr>
        <p:spPr>
          <a:xfrm>
            <a:off x="4697239" y="1297037"/>
            <a:ext cx="3776886" cy="623292"/>
          </a:xfrm>
          <a:prstGeom prst="rect">
            <a:avLst/>
          </a:prstGeom>
          <a:noFill/>
          <a:ln/>
        </p:spPr>
        <p:txBody>
          <a:bodyPr wrap="square" lIns="0" tIns="0" rIns="0" bIns="0" rtlCol="0" anchor="t">
            <a:normAutofit/>
          </a:bodyPr>
          <a:lstStyle/>
          <a:p>
            <a:pPr algn="l" marL="342900" indent="-342900">
              <a:lnSpc>
                <a:spcPct val="120000"/>
              </a:lnSpc>
              <a:buSzPct val="100000"/>
              <a:buChar char="•"/>
            </a:pPr>
            <a:r>
              <a:rPr lang="en-US" sz="750" b="1" dirty="0">
                <a:solidFill>
                  <a:srgbClr val="383838"/>
                </a:solidFill>
                <a:latin typeface="DM Sans" pitchFamily="34" charset="0"/>
                <a:ea typeface="DM Sans" pitchFamily="34" charset="-122"/>
                <a:cs typeface="DM Sans" pitchFamily="34" charset="-120"/>
              </a:rPr>
              <a:t>Blocker ×3 :</a:t>
            </a:r>
            <a:pPr algn="l" marL="342900" indent="-342900">
              <a:lnSpc>
                <a:spcPct val="120000"/>
              </a:lnSpc>
              <a:buSzPct val="100000"/>
              <a:buChar char="•"/>
            </a:pPr>
            <a:r>
              <a:rPr lang="en-US" sz="750" dirty="0">
                <a:solidFill>
                  <a:srgbClr val="383838"/>
                </a:solidFill>
                <a:latin typeface="DM Sans" pitchFamily="34" charset="0"/>
                <a:ea typeface="DM Sans" pitchFamily="34" charset="-122"/>
                <a:cs typeface="DM Sans" pitchFamily="34" charset="-120"/>
              </a:rPr>
              <a:t> SECRET_KEY exposée + bcrypt hash ×2 dans </a:t>
            </a:r>
            <a:pPr algn="l" marL="342900" indent="-342900">
              <a:lnSpc>
                <a:spcPct val="120000"/>
              </a:lnSpc>
              <a:buSzPct val="100000"/>
              <a:buChar char="•"/>
            </a:pPr>
            <a:r>
              <a:rPr lang="en-US" sz="750" dirty="0">
                <a:solidFill>
                  <a:srgbClr val="383838"/>
                </a:solidFill>
                <a:highlight>
                  <a:srgbClr val="F2F2F2"/>
                </a:highlight>
                <a:latin typeface="Consolas" pitchFamily="34" charset="0"/>
                <a:ea typeface="Consolas" pitchFamily="34" charset="-122"/>
                <a:cs typeface="Consolas" pitchFamily="34" charset="-120"/>
              </a:rPr>
              <a:t>sql/library.sql</a:t>
            </a:r>
            <a:endParaRPr lang="en-US" sz="750" dirty="0"/>
          </a:p>
          <a:p>
            <a:pPr algn="l" marL="342900" indent="-342900">
              <a:lnSpc>
                <a:spcPct val="120000"/>
              </a:lnSpc>
              <a:buSzPct val="100000"/>
              <a:buChar char="•"/>
            </a:pPr>
            <a:r>
              <a:rPr lang="en-US" sz="750" b="1" dirty="0">
                <a:solidFill>
                  <a:srgbClr val="383838"/>
                </a:solidFill>
                <a:latin typeface="DM Sans" pitchFamily="34" charset="0"/>
                <a:ea typeface="DM Sans" pitchFamily="34" charset="-122"/>
                <a:cs typeface="DM Sans" pitchFamily="34" charset="-120"/>
              </a:rPr>
              <a:t>High ×2 :</a:t>
            </a:r>
            <a:pPr algn="l" marL="342900" indent="-342900">
              <a:lnSpc>
                <a:spcPct val="120000"/>
              </a:lnSpc>
              <a:buSzPct val="100000"/>
              <a:buChar char="•"/>
            </a:pPr>
            <a:r>
              <a:rPr lang="en-US" sz="750" dirty="0">
                <a:solidFill>
                  <a:srgbClr val="383838"/>
                </a:solidFill>
                <a:latin typeface="DM Sans" pitchFamily="34" charset="0"/>
                <a:ea typeface="DM Sans" pitchFamily="34" charset="-122"/>
                <a:cs typeface="DM Sans" pitchFamily="34" charset="-120"/>
              </a:rPr>
              <a:t> Caractère illégal (code point 10) dans littéraux SQL</a:t>
            </a:r>
            <a:endParaRPr lang="en-US" sz="750" dirty="0"/>
          </a:p>
          <a:p>
            <a:pPr algn="l" marL="342900" indent="-342900">
              <a:lnSpc>
                <a:spcPct val="120000"/>
              </a:lnSpc>
              <a:buSzPct val="100000"/>
              <a:buChar char="•"/>
            </a:pPr>
            <a:r>
              <a:rPr lang="en-US" sz="750" b="1" dirty="0">
                <a:solidFill>
                  <a:srgbClr val="383838"/>
                </a:solidFill>
                <a:latin typeface="DM Sans" pitchFamily="34" charset="0"/>
                <a:ea typeface="DM Sans" pitchFamily="34" charset="-122"/>
                <a:cs typeface="DM Sans" pitchFamily="34" charset="-120"/>
              </a:rPr>
              <a:t>Medium ×24 :</a:t>
            </a:r>
            <a:pPr algn="l" marL="342900" indent="-342900">
              <a:lnSpc>
                <a:spcPct val="120000"/>
              </a:lnSpc>
              <a:buSzPct val="100000"/>
              <a:buChar char="•"/>
            </a:pPr>
            <a:r>
              <a:rPr lang="en-US" sz="750" dirty="0">
                <a:solidFill>
                  <a:srgbClr val="383838"/>
                </a:solidFill>
                <a:latin typeface="DM Sans" pitchFamily="34" charset="0"/>
                <a:ea typeface="DM Sans" pitchFamily="34" charset="-122"/>
                <a:cs typeface="DM Sans" pitchFamily="34" charset="-120"/>
              </a:rPr>
              <a:t> Contraste CSS insuffisant, sélecteurs dupliqués, attribut </a:t>
            </a:r>
            <a:pPr algn="l" marL="342900" indent="-342900">
              <a:lnSpc>
                <a:spcPct val="120000"/>
              </a:lnSpc>
              <a:buSzPct val="100000"/>
              <a:buChar char="•"/>
            </a:pPr>
            <a:r>
              <a:rPr lang="en-US" sz="750" dirty="0">
                <a:solidFill>
                  <a:srgbClr val="383838"/>
                </a:solidFill>
                <a:highlight>
                  <a:srgbClr val="F2F2F2"/>
                </a:highlight>
                <a:latin typeface="Consolas" pitchFamily="34" charset="0"/>
                <a:ea typeface="Consolas" pitchFamily="34" charset="-122"/>
                <a:cs typeface="Consolas" pitchFamily="34" charset="-120"/>
              </a:rPr>
              <a:t>lang</a:t>
            </a:r>
            <a:pPr algn="l" marL="342900" indent="-342900">
              <a:lnSpc>
                <a:spcPct val="120000"/>
              </a:lnSpc>
              <a:buSzPct val="100000"/>
              <a:buChar char="•"/>
            </a:pPr>
            <a:r>
              <a:rPr lang="en-US" sz="750" dirty="0">
                <a:solidFill>
                  <a:srgbClr val="383838"/>
                </a:solidFill>
                <a:latin typeface="DM Sans" pitchFamily="34" charset="0"/>
                <a:ea typeface="DM Sans" pitchFamily="34" charset="-122"/>
                <a:cs typeface="DM Sans" pitchFamily="34" charset="-120"/>
              </a:rPr>
              <a:t> absent</a:t>
            </a:r>
            <a:endParaRPr lang="en-US" sz="750" dirty="0"/>
          </a:p>
        </p:txBody>
      </p:sp>
      <p:sp>
        <p:nvSpPr>
          <p:cNvPr id="33" name="Shape 31"/>
          <p:cNvSpPr/>
          <p:nvPr/>
        </p:nvSpPr>
        <p:spPr>
          <a:xfrm>
            <a:off x="4697239" y="2008882"/>
            <a:ext cx="3776886" cy="365745"/>
          </a:xfrm>
          <a:prstGeom prst="roundRect">
            <a:avLst>
              <a:gd name="adj" fmla="val 4054"/>
            </a:avLst>
          </a:prstGeom>
          <a:solidFill>
            <a:srgbClr val="B6D6FC"/>
          </a:solidFill>
          <a:ln/>
        </p:spPr>
      </p:sp>
      <p:pic>
        <p:nvPicPr>
          <p:cNvPr id="34" name="Image 0" descr="preencoded.png">    </p:cNvPr>
          <p:cNvPicPr>
            <a:picLocks noChangeAspect="1"/>
          </p:cNvPicPr>
          <p:nvPr/>
        </p:nvPicPr>
        <p:blipFill>
          <a:blip r:embed="rId2"/>
          <a:stretch>
            <a:fillRect/>
          </a:stretch>
        </p:blipFill>
        <p:spPr>
          <a:xfrm>
            <a:off x="4796061" y="2150715"/>
            <a:ext cx="123527" cy="98822"/>
          </a:xfrm>
          <a:prstGeom prst="rect">
            <a:avLst/>
          </a:prstGeom>
        </p:spPr>
      </p:pic>
      <p:sp>
        <p:nvSpPr>
          <p:cNvPr id="35" name="Text 32"/>
          <p:cNvSpPr/>
          <p:nvPr/>
        </p:nvSpPr>
        <p:spPr>
          <a:xfrm>
            <a:off x="5018410" y="2112318"/>
            <a:ext cx="3814093" cy="142056"/>
          </a:xfrm>
          <a:prstGeom prst="rect">
            <a:avLst/>
          </a:prstGeom>
          <a:noFill/>
          <a:ln/>
        </p:spPr>
        <p:txBody>
          <a:bodyPr wrap="none" lIns="0" tIns="0" rIns="0" bIns="0" rtlCol="0" anchor="t"/>
          <a:lstStyle/>
          <a:p>
            <a:pPr algn="l" indent="0" marL="0">
              <a:lnSpc>
                <a:spcPct val="120000"/>
              </a:lnSpc>
              <a:buNone/>
            </a:pPr>
            <a:r>
              <a:rPr lang="en-US" sz="750" b="1" dirty="0">
                <a:solidFill>
                  <a:srgbClr val="000000"/>
                </a:solidFill>
                <a:latin typeface="DM Sans" pitchFamily="34" charset="0"/>
                <a:ea typeface="DM Sans" pitchFamily="34" charset="-122"/>
                <a:cs typeface="DM Sans" pitchFamily="34" charset="-120"/>
              </a:rPr>
              <a:t>28 issues</a:t>
            </a:r>
            <a:pPr algn="l" indent="0" marL="0">
              <a:lnSpc>
                <a:spcPct val="120000"/>
              </a:lnSpc>
              <a:buNone/>
            </a:pPr>
            <a:r>
              <a:rPr lang="en-US" sz="750" dirty="0">
                <a:solidFill>
                  <a:srgbClr val="000000"/>
                </a:solidFill>
                <a:latin typeface="DM Sans" pitchFamily="34" charset="0"/>
                <a:ea typeface="DM Sans" pitchFamily="34" charset="-122"/>
                <a:cs typeface="DM Sans" pitchFamily="34" charset="-120"/>
              </a:rPr>
              <a:t> importées et classifiées sur le Kanban GitHub Projects.</a:t>
            </a:r>
            <a:endParaRPr lang="en-US" sz="750" dirty="0"/>
          </a:p>
        </p:txBody>
      </p:sp>
      <p:sp>
        <p:nvSpPr>
          <p:cNvPr id="36" name="Text 33"/>
          <p:cNvSpPr/>
          <p:nvPr/>
        </p:nvSpPr>
        <p:spPr>
          <a:xfrm>
            <a:off x="674489" y="3043238"/>
            <a:ext cx="3848249" cy="326231"/>
          </a:xfrm>
          <a:prstGeom prst="rect">
            <a:avLst/>
          </a:prstGeom>
          <a:noFill/>
          <a:ln/>
        </p:spPr>
        <p:txBody>
          <a:bodyPr wrap="none" lIns="0" tIns="0" rIns="0" bIns="0" rtlCol="0" anchor="t"/>
          <a:lstStyle/>
          <a:p>
            <a:pPr algn="ctr" indent="0" marL="0">
              <a:lnSpc>
                <a:spcPct val="83000"/>
              </a:lnSpc>
              <a:buNone/>
            </a:pPr>
            <a:r>
              <a:rPr lang="en-US" sz="2550" dirty="0">
                <a:solidFill>
                  <a:srgbClr val="383838"/>
                </a:solidFill>
                <a:latin typeface="PT Serif" pitchFamily="34" charset="0"/>
                <a:ea typeface="PT Serif" pitchFamily="34" charset="-122"/>
                <a:cs typeface="PT Serif" pitchFamily="34" charset="-120"/>
              </a:rPr>
              <a:t>4</a:t>
            </a:r>
            <a:endParaRPr lang="en-US" sz="2550" dirty="0"/>
          </a:p>
        </p:txBody>
      </p:sp>
      <p:sp>
        <p:nvSpPr>
          <p:cNvPr id="37" name="Text 34"/>
          <p:cNvSpPr/>
          <p:nvPr/>
        </p:nvSpPr>
        <p:spPr>
          <a:xfrm>
            <a:off x="1949946" y="3477890"/>
            <a:ext cx="1297335" cy="162074"/>
          </a:xfrm>
          <a:prstGeom prst="rect">
            <a:avLst/>
          </a:prstGeom>
          <a:noFill/>
          <a:ln/>
        </p:spPr>
        <p:txBody>
          <a:bodyPr wrap="none" lIns="0" tIns="0" rIns="0" bIns="0" rtlCol="0" anchor="t"/>
          <a:lstStyle/>
          <a:p>
            <a:pPr algn="ctr" indent="0" marL="0">
              <a:lnSpc>
                <a:spcPct val="104000"/>
              </a:lnSpc>
              <a:buNone/>
            </a:pPr>
            <a:r>
              <a:rPr lang="en-US" sz="1000" dirty="0">
                <a:solidFill>
                  <a:srgbClr val="383838"/>
                </a:solidFill>
                <a:latin typeface="PT Serif" pitchFamily="34" charset="0"/>
                <a:ea typeface="PT Serif" pitchFamily="34" charset="-122"/>
                <a:cs typeface="PT Serif" pitchFamily="34" charset="-120"/>
              </a:rPr>
              <a:t>Issues Sécurité</a:t>
            </a:r>
            <a:endParaRPr lang="en-US" sz="1000" dirty="0"/>
          </a:p>
        </p:txBody>
      </p:sp>
      <p:sp>
        <p:nvSpPr>
          <p:cNvPr id="38" name="Text 35"/>
          <p:cNvSpPr/>
          <p:nvPr/>
        </p:nvSpPr>
        <p:spPr>
          <a:xfrm>
            <a:off x="674489" y="3687217"/>
            <a:ext cx="3848249" cy="142056"/>
          </a:xfrm>
          <a:prstGeom prst="rect">
            <a:avLst/>
          </a:prstGeom>
          <a:noFill/>
          <a:ln/>
        </p:spPr>
        <p:txBody>
          <a:bodyPr wrap="none" lIns="0" tIns="0" rIns="0" bIns="0" rtlCol="0" anchor="t"/>
          <a:lstStyle/>
          <a:p>
            <a:pPr algn="ctr" indent="0" marL="0">
              <a:lnSpc>
                <a:spcPct val="120000"/>
              </a:lnSpc>
              <a:buNone/>
            </a:pPr>
            <a:r>
              <a:rPr lang="en-US" sz="750" dirty="0">
                <a:solidFill>
                  <a:srgbClr val="383838"/>
                </a:solidFill>
                <a:latin typeface="DM Sans" pitchFamily="34" charset="0"/>
                <a:ea typeface="DM Sans" pitchFamily="34" charset="-122"/>
                <a:cs typeface="DM Sans" pitchFamily="34" charset="-120"/>
              </a:rPr>
              <a:t>Note E — pire classement SonarCloud</a:t>
            </a:r>
            <a:endParaRPr lang="en-US" sz="750" dirty="0"/>
          </a:p>
        </p:txBody>
      </p:sp>
      <p:sp>
        <p:nvSpPr>
          <p:cNvPr id="39" name="Text 36"/>
          <p:cNvSpPr/>
          <p:nvPr/>
        </p:nvSpPr>
        <p:spPr>
          <a:xfrm>
            <a:off x="4621188" y="3043238"/>
            <a:ext cx="3848249" cy="326231"/>
          </a:xfrm>
          <a:prstGeom prst="rect">
            <a:avLst/>
          </a:prstGeom>
          <a:noFill/>
          <a:ln/>
        </p:spPr>
        <p:txBody>
          <a:bodyPr wrap="none" lIns="0" tIns="0" rIns="0" bIns="0" rtlCol="0" anchor="t"/>
          <a:lstStyle/>
          <a:p>
            <a:pPr algn="ctr" indent="0" marL="0">
              <a:lnSpc>
                <a:spcPct val="83000"/>
              </a:lnSpc>
              <a:buNone/>
            </a:pPr>
            <a:r>
              <a:rPr lang="en-US" sz="2550" dirty="0">
                <a:solidFill>
                  <a:srgbClr val="383838"/>
                </a:solidFill>
                <a:latin typeface="PT Serif" pitchFamily="34" charset="0"/>
                <a:ea typeface="PT Serif" pitchFamily="34" charset="-122"/>
                <a:cs typeface="PT Serif" pitchFamily="34" charset="-120"/>
              </a:rPr>
              <a:t>18</a:t>
            </a:r>
            <a:endParaRPr lang="en-US" sz="2550" dirty="0"/>
          </a:p>
        </p:txBody>
      </p:sp>
      <p:sp>
        <p:nvSpPr>
          <p:cNvPr id="40" name="Text 37"/>
          <p:cNvSpPr/>
          <p:nvPr/>
        </p:nvSpPr>
        <p:spPr>
          <a:xfrm>
            <a:off x="5896645" y="3477890"/>
            <a:ext cx="1297335" cy="162074"/>
          </a:xfrm>
          <a:prstGeom prst="rect">
            <a:avLst/>
          </a:prstGeom>
          <a:noFill/>
          <a:ln/>
        </p:spPr>
        <p:txBody>
          <a:bodyPr wrap="none" lIns="0" tIns="0" rIns="0" bIns="0" rtlCol="0" anchor="t"/>
          <a:lstStyle/>
          <a:p>
            <a:pPr algn="ctr" indent="0" marL="0">
              <a:lnSpc>
                <a:spcPct val="104000"/>
              </a:lnSpc>
              <a:buNone/>
            </a:pPr>
            <a:r>
              <a:rPr lang="en-US" sz="1000" dirty="0">
                <a:solidFill>
                  <a:srgbClr val="383838"/>
                </a:solidFill>
                <a:latin typeface="PT Serif" pitchFamily="34" charset="0"/>
                <a:ea typeface="PT Serif" pitchFamily="34" charset="-122"/>
                <a:cs typeface="PT Serif" pitchFamily="34" charset="-120"/>
              </a:rPr>
              <a:t>Security Hotspots</a:t>
            </a:r>
            <a:endParaRPr lang="en-US" sz="1000" dirty="0"/>
          </a:p>
        </p:txBody>
      </p:sp>
      <p:sp>
        <p:nvSpPr>
          <p:cNvPr id="41" name="Text 38"/>
          <p:cNvSpPr/>
          <p:nvPr/>
        </p:nvSpPr>
        <p:spPr>
          <a:xfrm>
            <a:off x="4621188" y="3687217"/>
            <a:ext cx="3848249" cy="142056"/>
          </a:xfrm>
          <a:prstGeom prst="rect">
            <a:avLst/>
          </a:prstGeom>
          <a:noFill/>
          <a:ln/>
        </p:spPr>
        <p:txBody>
          <a:bodyPr wrap="none" lIns="0" tIns="0" rIns="0" bIns="0" rtlCol="0" anchor="t"/>
          <a:lstStyle/>
          <a:p>
            <a:pPr algn="ctr" indent="0" marL="0">
              <a:lnSpc>
                <a:spcPct val="120000"/>
              </a:lnSpc>
              <a:buNone/>
            </a:pPr>
            <a:r>
              <a:rPr lang="en-US" sz="750" dirty="0">
                <a:solidFill>
                  <a:srgbClr val="383838"/>
                </a:solidFill>
                <a:latin typeface="DM Sans" pitchFamily="34" charset="0"/>
                <a:ea typeface="DM Sans" pitchFamily="34" charset="-122"/>
                <a:cs typeface="DM Sans" pitchFamily="34" charset="-120"/>
              </a:rPr>
              <a:t>À analyser manuellement</a:t>
            </a:r>
            <a:endParaRPr lang="en-US" sz="750" dirty="0"/>
          </a:p>
        </p:txBody>
      </p:sp>
      <p:sp>
        <p:nvSpPr>
          <p:cNvPr id="42" name="Text 39"/>
          <p:cNvSpPr/>
          <p:nvPr/>
        </p:nvSpPr>
        <p:spPr>
          <a:xfrm>
            <a:off x="674489" y="4036219"/>
            <a:ext cx="3848249" cy="326231"/>
          </a:xfrm>
          <a:prstGeom prst="rect">
            <a:avLst/>
          </a:prstGeom>
          <a:noFill/>
          <a:ln/>
        </p:spPr>
        <p:txBody>
          <a:bodyPr wrap="none" lIns="0" tIns="0" rIns="0" bIns="0" rtlCol="0" anchor="t"/>
          <a:lstStyle/>
          <a:p>
            <a:pPr algn="ctr" indent="0" marL="0">
              <a:lnSpc>
                <a:spcPct val="83000"/>
              </a:lnSpc>
              <a:buNone/>
            </a:pPr>
            <a:r>
              <a:rPr lang="en-US" sz="2550" dirty="0">
                <a:solidFill>
                  <a:srgbClr val="383838"/>
                </a:solidFill>
                <a:latin typeface="PT Serif" pitchFamily="34" charset="0"/>
                <a:ea typeface="PT Serif" pitchFamily="34" charset="-122"/>
                <a:cs typeface="PT Serif" pitchFamily="34" charset="-120"/>
              </a:rPr>
              <a:t>28</a:t>
            </a:r>
            <a:endParaRPr lang="en-US" sz="2550" dirty="0"/>
          </a:p>
        </p:txBody>
      </p:sp>
      <p:sp>
        <p:nvSpPr>
          <p:cNvPr id="43" name="Text 40"/>
          <p:cNvSpPr/>
          <p:nvPr/>
        </p:nvSpPr>
        <p:spPr>
          <a:xfrm>
            <a:off x="1949946" y="4470871"/>
            <a:ext cx="1297335" cy="162074"/>
          </a:xfrm>
          <a:prstGeom prst="rect">
            <a:avLst/>
          </a:prstGeom>
          <a:noFill/>
          <a:ln/>
        </p:spPr>
        <p:txBody>
          <a:bodyPr wrap="none" lIns="0" tIns="0" rIns="0" bIns="0" rtlCol="0" anchor="t"/>
          <a:lstStyle/>
          <a:p>
            <a:pPr algn="ctr" indent="0" marL="0">
              <a:lnSpc>
                <a:spcPct val="104000"/>
              </a:lnSpc>
              <a:buNone/>
            </a:pPr>
            <a:r>
              <a:rPr lang="en-US" sz="1000" dirty="0">
                <a:solidFill>
                  <a:srgbClr val="383838"/>
                </a:solidFill>
                <a:latin typeface="PT Serif" pitchFamily="34" charset="0"/>
                <a:ea typeface="PT Serif" pitchFamily="34" charset="-122"/>
                <a:cs typeface="PT Serif" pitchFamily="34" charset="-120"/>
              </a:rPr>
              <a:t>Issues totales</a:t>
            </a:r>
            <a:endParaRPr lang="en-US" sz="1000" dirty="0"/>
          </a:p>
        </p:txBody>
      </p:sp>
      <p:sp>
        <p:nvSpPr>
          <p:cNvPr id="44" name="Text 41"/>
          <p:cNvSpPr/>
          <p:nvPr/>
        </p:nvSpPr>
        <p:spPr>
          <a:xfrm>
            <a:off x="674489" y="4680198"/>
            <a:ext cx="3848249" cy="142056"/>
          </a:xfrm>
          <a:prstGeom prst="rect">
            <a:avLst/>
          </a:prstGeom>
          <a:noFill/>
          <a:ln/>
        </p:spPr>
        <p:txBody>
          <a:bodyPr wrap="none" lIns="0" tIns="0" rIns="0" bIns="0" rtlCol="0" anchor="t"/>
          <a:lstStyle/>
          <a:p>
            <a:pPr algn="ctr" indent="0" marL="0">
              <a:lnSpc>
                <a:spcPct val="120000"/>
              </a:lnSpc>
              <a:buNone/>
            </a:pPr>
            <a:r>
              <a:rPr lang="en-US" sz="750" dirty="0">
                <a:solidFill>
                  <a:srgbClr val="383838"/>
                </a:solidFill>
                <a:latin typeface="DM Sans" pitchFamily="34" charset="0"/>
                <a:ea typeface="DM Sans" pitchFamily="34" charset="-122"/>
                <a:cs typeface="DM Sans" pitchFamily="34" charset="-120"/>
              </a:rPr>
              <a:t>Classifiées sur GitHub Kanban</a:t>
            </a:r>
            <a:endParaRPr lang="en-US" sz="750" dirty="0"/>
          </a:p>
        </p:txBody>
      </p:sp>
      <p:sp>
        <p:nvSpPr>
          <p:cNvPr id="45" name="Text 42"/>
          <p:cNvSpPr/>
          <p:nvPr/>
        </p:nvSpPr>
        <p:spPr>
          <a:xfrm>
            <a:off x="4621188" y="4036219"/>
            <a:ext cx="3848249" cy="326231"/>
          </a:xfrm>
          <a:prstGeom prst="rect">
            <a:avLst/>
          </a:prstGeom>
          <a:noFill/>
          <a:ln/>
        </p:spPr>
        <p:txBody>
          <a:bodyPr wrap="none" lIns="0" tIns="0" rIns="0" bIns="0" rtlCol="0" anchor="t"/>
          <a:lstStyle/>
          <a:p>
            <a:pPr algn="ctr" indent="0" marL="0">
              <a:lnSpc>
                <a:spcPct val="83000"/>
              </a:lnSpc>
              <a:buNone/>
            </a:pPr>
            <a:r>
              <a:rPr lang="en-US" sz="2550" dirty="0">
                <a:solidFill>
                  <a:srgbClr val="383838"/>
                </a:solidFill>
                <a:latin typeface="PT Serif" pitchFamily="34" charset="0"/>
                <a:ea typeface="PT Serif" pitchFamily="34" charset="-122"/>
                <a:cs typeface="PT Serif" pitchFamily="34" charset="-120"/>
              </a:rPr>
              <a:t>0%</a:t>
            </a:r>
            <a:endParaRPr lang="en-US" sz="2550" dirty="0"/>
          </a:p>
        </p:txBody>
      </p:sp>
      <p:sp>
        <p:nvSpPr>
          <p:cNvPr id="46" name="Text 43"/>
          <p:cNvSpPr/>
          <p:nvPr/>
        </p:nvSpPr>
        <p:spPr>
          <a:xfrm>
            <a:off x="5896645" y="4470871"/>
            <a:ext cx="1297335" cy="162074"/>
          </a:xfrm>
          <a:prstGeom prst="rect">
            <a:avLst/>
          </a:prstGeom>
          <a:noFill/>
          <a:ln/>
        </p:spPr>
        <p:txBody>
          <a:bodyPr wrap="none" lIns="0" tIns="0" rIns="0" bIns="0" rtlCol="0" anchor="t"/>
          <a:lstStyle/>
          <a:p>
            <a:pPr algn="ctr" indent="0" marL="0">
              <a:lnSpc>
                <a:spcPct val="104000"/>
              </a:lnSpc>
              <a:buNone/>
            </a:pPr>
            <a:r>
              <a:rPr lang="en-US" sz="1000" dirty="0">
                <a:solidFill>
                  <a:srgbClr val="383838"/>
                </a:solidFill>
                <a:latin typeface="PT Serif" pitchFamily="34" charset="0"/>
                <a:ea typeface="PT Serif" pitchFamily="34" charset="-122"/>
                <a:cs typeface="PT Serif" pitchFamily="34" charset="-120"/>
              </a:rPr>
              <a:t>Duplications</a:t>
            </a:r>
            <a:endParaRPr lang="en-US" sz="1000" dirty="0"/>
          </a:p>
        </p:txBody>
      </p:sp>
      <p:sp>
        <p:nvSpPr>
          <p:cNvPr id="47" name="Text 44"/>
          <p:cNvSpPr/>
          <p:nvPr/>
        </p:nvSpPr>
        <p:spPr>
          <a:xfrm>
            <a:off x="4621188" y="4680198"/>
            <a:ext cx="3848249" cy="142056"/>
          </a:xfrm>
          <a:prstGeom prst="rect">
            <a:avLst/>
          </a:prstGeom>
          <a:noFill/>
          <a:ln/>
        </p:spPr>
        <p:txBody>
          <a:bodyPr wrap="none" lIns="0" tIns="0" rIns="0" bIns="0" rtlCol="0" anchor="t"/>
          <a:lstStyle/>
          <a:p>
            <a:pPr algn="ctr" indent="0" marL="0">
              <a:lnSpc>
                <a:spcPct val="120000"/>
              </a:lnSpc>
              <a:buNone/>
            </a:pPr>
            <a:r>
              <a:rPr lang="en-US" sz="750" dirty="0">
                <a:solidFill>
                  <a:srgbClr val="383838"/>
                </a:solidFill>
                <a:latin typeface="DM Sans" pitchFamily="34" charset="0"/>
                <a:ea typeface="DM Sans" pitchFamily="34" charset="-122"/>
                <a:cs typeface="DM Sans" pitchFamily="34" charset="-120"/>
              </a:rPr>
              <a:t>Code unique — point positif</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F2EEEE"/>
          </a:solidFill>
          <a:ln/>
        </p:spPr>
      </p:sp>
      <p:pic>
        <p:nvPicPr>
          <p:cNvPr id="3" name="Image 0" descr="preencoded.png">    </p:cNvPr>
          <p:cNvPicPr>
            <a:picLocks noChangeAspect="1"/>
          </p:cNvPicPr>
          <p:nvPr/>
        </p:nvPicPr>
        <p:blipFill>
          <a:blip r:embed="rId1"/>
          <a:stretch>
            <a:fillRect/>
          </a:stretch>
        </p:blipFill>
        <p:spPr>
          <a:xfrm>
            <a:off x="60052" y="90041"/>
            <a:ext cx="3308896" cy="4963344"/>
          </a:xfrm>
          <a:prstGeom prst="rect">
            <a:avLst/>
          </a:prstGeom>
        </p:spPr>
      </p:pic>
      <p:sp>
        <p:nvSpPr>
          <p:cNvPr id="4" name="Shape 1"/>
          <p:cNvSpPr/>
          <p:nvPr/>
        </p:nvSpPr>
        <p:spPr>
          <a:xfrm>
            <a:off x="3909640" y="353244"/>
            <a:ext cx="1113086" cy="223391"/>
          </a:xfrm>
          <a:prstGeom prst="roundRect">
            <a:avLst>
              <a:gd name="adj" fmla="val 6455"/>
            </a:avLst>
          </a:prstGeom>
          <a:solidFill>
            <a:srgbClr val="FFDECC"/>
          </a:solidFill>
          <a:ln/>
        </p:spPr>
      </p:sp>
      <p:sp>
        <p:nvSpPr>
          <p:cNvPr id="5" name="Text 2"/>
          <p:cNvSpPr/>
          <p:nvPr/>
        </p:nvSpPr>
        <p:spPr>
          <a:xfrm>
            <a:off x="3981673" y="389260"/>
            <a:ext cx="1426220" cy="151358"/>
          </a:xfrm>
          <a:prstGeom prst="rect">
            <a:avLst/>
          </a:prstGeom>
          <a:noFill/>
          <a:ln/>
        </p:spPr>
        <p:txBody>
          <a:bodyPr wrap="none" lIns="0" tIns="0" rIns="0" bIns="0" rtlCol="0" anchor="t"/>
          <a:lstStyle/>
          <a:p>
            <a:pPr algn="l" indent="0" marL="0">
              <a:lnSpc>
                <a:spcPct val="131000"/>
              </a:lnSpc>
              <a:buNone/>
            </a:pPr>
            <a:r>
              <a:rPr lang="en-US" sz="750" dirty="0">
                <a:solidFill>
                  <a:srgbClr val="383838"/>
                </a:solidFill>
                <a:latin typeface="DM Sans" pitchFamily="34" charset="0"/>
                <a:ea typeface="DM Sans" pitchFamily="34" charset="-122"/>
                <a:cs typeface="DM Sans" pitchFamily="34" charset="-120"/>
              </a:rPr>
              <a:t>PENTEST BOÎTE GRISE</a:t>
            </a:r>
            <a:endParaRPr lang="en-US" sz="750" dirty="0"/>
          </a:p>
        </p:txBody>
      </p:sp>
      <p:sp>
        <p:nvSpPr>
          <p:cNvPr id="6" name="Text 3"/>
          <p:cNvSpPr/>
          <p:nvPr/>
        </p:nvSpPr>
        <p:spPr>
          <a:xfrm>
            <a:off x="3909640" y="623143"/>
            <a:ext cx="4753719" cy="788491"/>
          </a:xfrm>
          <a:prstGeom prst="rect">
            <a:avLst/>
          </a:prstGeom>
          <a:noFill/>
          <a:ln/>
        </p:spPr>
        <p:txBody>
          <a:bodyPr wrap="square" lIns="0" tIns="0" rIns="0" bIns="0" rtlCol="0" anchor="t">
            <a:normAutofit/>
          </a:bodyPr>
          <a:lstStyle/>
          <a:p>
            <a:pPr algn="l" indent="0" marL="0">
              <a:lnSpc>
                <a:spcPct val="104000"/>
              </a:lnSpc>
              <a:buNone/>
            </a:pPr>
            <a:r>
              <a:rPr lang="en-US" sz="2450" dirty="0">
                <a:solidFill>
                  <a:srgbClr val="020202"/>
                </a:solidFill>
                <a:latin typeface="PT Serif" pitchFamily="34" charset="0"/>
                <a:ea typeface="PT Serif" pitchFamily="34" charset="-122"/>
                <a:cs typeface="PT Serif" pitchFamily="34" charset="-120"/>
              </a:rPr>
              <a:t>3 Exploits réussis en production — exam-red.edu-jalm.fr</a:t>
            </a:r>
            <a:endParaRPr lang="en-US" sz="2450" dirty="0"/>
          </a:p>
        </p:txBody>
      </p:sp>
      <p:sp>
        <p:nvSpPr>
          <p:cNvPr id="7" name="Shape 4"/>
          <p:cNvSpPr/>
          <p:nvPr/>
        </p:nvSpPr>
        <p:spPr>
          <a:xfrm>
            <a:off x="3909640" y="1586210"/>
            <a:ext cx="2318668" cy="1923901"/>
          </a:xfrm>
          <a:prstGeom prst="roundRect">
            <a:avLst>
              <a:gd name="adj" fmla="val 937"/>
            </a:avLst>
          </a:prstGeom>
          <a:solidFill>
            <a:srgbClr val="F2EEEE"/>
          </a:solidFill>
          <a:ln/>
        </p:spPr>
      </p:sp>
      <p:sp>
        <p:nvSpPr>
          <p:cNvPr id="8" name="Text 5"/>
          <p:cNvSpPr/>
          <p:nvPr/>
        </p:nvSpPr>
        <p:spPr>
          <a:xfrm>
            <a:off x="4029745" y="1706314"/>
            <a:ext cx="2078459" cy="39915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PT Serif" pitchFamily="34" charset="0"/>
                <a:ea typeface="PT Serif" pitchFamily="34" charset="-122"/>
                <a:cs typeface="PT Serif" pitchFamily="34" charset="-120"/>
              </a:rPr>
              <a:t>🔴</a:t>
            </a:r>
            <a:pPr algn="l" indent="0" marL="0">
              <a:lnSpc>
                <a:spcPct val="104000"/>
              </a:lnSpc>
              <a:buNone/>
            </a:pPr>
            <a:r>
              <a:rPr lang="en-US" sz="1200" dirty="0">
                <a:solidFill>
                  <a:srgbClr val="383838"/>
                </a:solidFill>
                <a:latin typeface="PT Serif" pitchFamily="34" charset="0"/>
                <a:ea typeface="PT Serif" pitchFamily="34" charset="-122"/>
                <a:cs typeface="PT Serif" pitchFamily="34" charset="-120"/>
              </a:rPr>
              <a:t> Exploit 1 — Fuite de code source</a:t>
            </a:r>
            <a:endParaRPr lang="en-US" sz="1200" dirty="0"/>
          </a:p>
        </p:txBody>
      </p:sp>
      <p:sp>
        <p:nvSpPr>
          <p:cNvPr id="9" name="Text 6"/>
          <p:cNvSpPr/>
          <p:nvPr/>
        </p:nvSpPr>
        <p:spPr>
          <a:xfrm>
            <a:off x="4029745" y="2175272"/>
            <a:ext cx="2078459" cy="1214735"/>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383838"/>
                </a:solidFill>
                <a:highlight>
                  <a:srgbClr val="F2F2F2"/>
                </a:highlight>
                <a:latin typeface="Consolas" pitchFamily="34" charset="0"/>
                <a:ea typeface="Consolas" pitchFamily="34" charset="-122"/>
                <a:cs typeface="Consolas" pitchFamily="34" charset="-120"/>
              </a:rPr>
              <a:t>GET /books/999/</a:t>
            </a:r>
            <a:pPr algn="l" indent="0" marL="0">
              <a:lnSpc>
                <a:spcPct val="131000"/>
              </a:lnSpc>
              <a:buNone/>
            </a:pPr>
            <a:r>
              <a:rPr lang="en-US" sz="900" dirty="0">
                <a:solidFill>
                  <a:srgbClr val="383838"/>
                </a:solidFill>
                <a:latin typeface="DM Sans" pitchFamily="34" charset="0"/>
                <a:ea typeface="DM Sans" pitchFamily="34" charset="-122"/>
                <a:cs typeface="DM Sans" pitchFamily="34" charset="-120"/>
              </a:rPr>
              <a:t> → HTTP 500 → Stack trace complète : code source, variables locales, routes Django, version, IP interne </a:t>
            </a:r>
            <a:pPr algn="l" indent="0" marL="0">
              <a:lnSpc>
                <a:spcPct val="131000"/>
              </a:lnSpc>
              <a:spcAft>
                <a:spcPts val="500"/>
              </a:spcAft>
              <a:buNone/>
            </a:pPr>
            <a:r>
              <a:rPr lang="en-US" sz="900" dirty="0">
                <a:solidFill>
                  <a:srgbClr val="383838"/>
                </a:solidFill>
                <a:highlight>
                  <a:srgbClr val="F2F2F2"/>
                </a:highlight>
                <a:latin typeface="Consolas" pitchFamily="34" charset="0"/>
                <a:ea typeface="Consolas" pitchFamily="34" charset="-122"/>
                <a:cs typeface="Consolas" pitchFamily="34" charset="-120"/>
              </a:rPr>
              <a:t>10.250.0.5</a:t>
            </a:r>
            <a:endParaRPr lang="en-US" sz="900" dirty="0"/>
          </a:p>
          <a:p>
            <a:pPr algn="l" indent="0" marL="0">
              <a:lnSpc>
                <a:spcPct val="131000"/>
              </a:lnSpc>
              <a:buNone/>
            </a:pPr>
            <a:r>
              <a:rPr lang="en-US" sz="900" b="1" dirty="0">
                <a:solidFill>
                  <a:srgbClr val="383838"/>
                </a:solidFill>
                <a:latin typeface="DM Sans" pitchFamily="34" charset="0"/>
                <a:ea typeface="DM Sans" pitchFamily="34" charset="-122"/>
                <a:cs typeface="DM Sans" pitchFamily="34" charset="-120"/>
              </a:rPr>
              <a:t>CVSS 7.5</a:t>
            </a:r>
            <a:pPr algn="l" indent="0" marL="0">
              <a:lnSpc>
                <a:spcPct val="131000"/>
              </a:lnSpc>
              <a:buNone/>
            </a:pPr>
            <a:r>
              <a:rPr lang="en-US" sz="900" dirty="0">
                <a:solidFill>
                  <a:srgbClr val="383838"/>
                </a:solidFill>
                <a:latin typeface="DM Sans" pitchFamily="34" charset="0"/>
                <a:ea typeface="DM Sans" pitchFamily="34" charset="-122"/>
                <a:cs typeface="DM Sans" pitchFamily="34" charset="-120"/>
              </a:rPr>
              <a:t> — DEBUG=True expose l'infrastructure</a:t>
            </a:r>
            <a:endParaRPr lang="en-US" sz="900" dirty="0"/>
          </a:p>
        </p:txBody>
      </p:sp>
      <p:sp>
        <p:nvSpPr>
          <p:cNvPr id="10" name="Shape 7"/>
          <p:cNvSpPr/>
          <p:nvPr/>
        </p:nvSpPr>
        <p:spPr>
          <a:xfrm>
            <a:off x="6344692" y="1586210"/>
            <a:ext cx="2318668" cy="1923901"/>
          </a:xfrm>
          <a:prstGeom prst="roundRect">
            <a:avLst>
              <a:gd name="adj" fmla="val 937"/>
            </a:avLst>
          </a:prstGeom>
          <a:solidFill>
            <a:srgbClr val="F2EEEE"/>
          </a:solidFill>
          <a:ln/>
        </p:spPr>
      </p:sp>
      <p:sp>
        <p:nvSpPr>
          <p:cNvPr id="11" name="Text 8"/>
          <p:cNvSpPr/>
          <p:nvPr/>
        </p:nvSpPr>
        <p:spPr>
          <a:xfrm>
            <a:off x="6464796" y="1706314"/>
            <a:ext cx="1943100" cy="201960"/>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PT Serif" pitchFamily="34" charset="0"/>
                <a:ea typeface="PT Serif" pitchFamily="34" charset="-122"/>
                <a:cs typeface="PT Serif" pitchFamily="34" charset="-120"/>
              </a:rPr>
              <a:t>🔴</a:t>
            </a:r>
            <a:pPr algn="l" indent="0" marL="0">
              <a:lnSpc>
                <a:spcPct val="104000"/>
              </a:lnSpc>
              <a:buNone/>
            </a:pPr>
            <a:r>
              <a:rPr lang="en-US" sz="1200" dirty="0">
                <a:solidFill>
                  <a:srgbClr val="383838"/>
                </a:solidFill>
                <a:latin typeface="PT Serif" pitchFamily="34" charset="0"/>
                <a:ea typeface="PT Serif" pitchFamily="34" charset="-122"/>
                <a:cs typeface="PT Serif" pitchFamily="34" charset="-120"/>
              </a:rPr>
              <a:t> Exploit 2 — CSRF bypass</a:t>
            </a:r>
            <a:endParaRPr lang="en-US" sz="1200" dirty="0"/>
          </a:p>
        </p:txBody>
      </p:sp>
      <p:sp>
        <p:nvSpPr>
          <p:cNvPr id="12" name="Text 9"/>
          <p:cNvSpPr/>
          <p:nvPr/>
        </p:nvSpPr>
        <p:spPr>
          <a:xfrm>
            <a:off x="6464796" y="1978075"/>
            <a:ext cx="2078459" cy="1035025"/>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383838"/>
                </a:solidFill>
                <a:highlight>
                  <a:srgbClr val="F2F2F2"/>
                </a:highlight>
                <a:latin typeface="Consolas" pitchFamily="34" charset="0"/>
                <a:ea typeface="Consolas" pitchFamily="34" charset="-122"/>
                <a:cs typeface="Consolas" pitchFamily="34" charset="-120"/>
              </a:rPr>
              <a:t>POST /loan/new_loan/</a:t>
            </a:r>
            <a:pPr algn="l" indent="0" marL="0">
              <a:lnSpc>
                <a:spcPct val="131000"/>
              </a:lnSpc>
              <a:buNone/>
            </a:pPr>
            <a:r>
              <a:rPr lang="en-US" sz="900" dirty="0">
                <a:solidFill>
                  <a:srgbClr val="383838"/>
                </a:solidFill>
                <a:latin typeface="DM Sans" pitchFamily="34" charset="0"/>
                <a:ea typeface="DM Sans" pitchFamily="34" charset="-122"/>
                <a:cs typeface="DM Sans" pitchFamily="34" charset="-120"/>
              </a:rPr>
              <a:t> sans </a:t>
            </a:r>
            <a:pPr algn="l" indent="0" marL="0">
              <a:lnSpc>
                <a:spcPct val="131000"/>
              </a:lnSpc>
              <a:buNone/>
            </a:pPr>
            <a:r>
              <a:rPr lang="en-US" sz="900" dirty="0">
                <a:solidFill>
                  <a:srgbClr val="383838"/>
                </a:solidFill>
                <a:highlight>
                  <a:srgbClr val="F2F2F2"/>
                </a:highlight>
                <a:latin typeface="Consolas" pitchFamily="34" charset="0"/>
                <a:ea typeface="Consolas" pitchFamily="34" charset="-122"/>
                <a:cs typeface="Consolas" pitchFamily="34" charset="-120"/>
              </a:rPr>
              <a:t>csrfmiddlewaretoken</a:t>
            </a:r>
            <a:pPr algn="l" indent="0" marL="0">
              <a:lnSpc>
                <a:spcPct val="131000"/>
              </a:lnSpc>
              <a:buNone/>
            </a:pPr>
            <a:r>
              <a:rPr lang="en-US" sz="900" dirty="0">
                <a:solidFill>
                  <a:srgbClr val="383838"/>
                </a:solidFill>
                <a:latin typeface="DM Sans" pitchFamily="34" charset="0"/>
                <a:ea typeface="DM Sans" pitchFamily="34" charset="-122"/>
                <a:cs typeface="DM Sans" pitchFamily="34" charset="-120"/>
              </a:rPr>
              <a:t> → HTTP 302 → emprunt créé pour </a:t>
            </a:r>
            <a:pPr algn="l" indent="0" marL="0">
              <a:lnSpc>
                <a:spcPct val="131000"/>
              </a:lnSpc>
              <a:spcAft>
                <a:spcPts val="500"/>
              </a:spcAft>
              <a:buNone/>
            </a:pPr>
            <a:r>
              <a:rPr lang="en-US" sz="900" dirty="0">
                <a:solidFill>
                  <a:srgbClr val="383838"/>
                </a:solidFill>
                <a:highlight>
                  <a:srgbClr val="F2F2F2"/>
                </a:highlight>
                <a:latin typeface="Consolas" pitchFamily="34" charset="0"/>
                <a:ea typeface="Consolas" pitchFamily="34" charset="-122"/>
                <a:cs typeface="Consolas" pitchFamily="34" charset="-120"/>
              </a:rPr>
              <a:t>marc@lord.com</a:t>
            </a:r>
            <a:endParaRPr lang="en-US" sz="900" dirty="0"/>
          </a:p>
          <a:p>
            <a:pPr algn="l" indent="0" marL="0">
              <a:lnSpc>
                <a:spcPct val="131000"/>
              </a:lnSpc>
              <a:buNone/>
            </a:pPr>
            <a:r>
              <a:rPr lang="en-US" sz="900" b="1" dirty="0">
                <a:solidFill>
                  <a:srgbClr val="383838"/>
                </a:solidFill>
                <a:latin typeface="DM Sans" pitchFamily="34" charset="0"/>
                <a:ea typeface="DM Sans" pitchFamily="34" charset="-122"/>
                <a:cs typeface="DM Sans" pitchFamily="34" charset="-120"/>
              </a:rPr>
              <a:t>CVSS 8.8</a:t>
            </a:r>
            <a:pPr algn="l" indent="0" marL="0">
              <a:lnSpc>
                <a:spcPct val="131000"/>
              </a:lnSpc>
              <a:buNone/>
            </a:pPr>
            <a:r>
              <a:rPr lang="en-US" sz="900" dirty="0">
                <a:solidFill>
                  <a:srgbClr val="383838"/>
                </a:solidFill>
                <a:latin typeface="DM Sans" pitchFamily="34" charset="0"/>
                <a:ea typeface="DM Sans" pitchFamily="34" charset="-122"/>
                <a:cs typeface="DM Sans" pitchFamily="34" charset="-120"/>
              </a:rPr>
              <a:t> — </a:t>
            </a:r>
            <a:pPr algn="l" indent="0" marL="0">
              <a:lnSpc>
                <a:spcPct val="131000"/>
              </a:lnSpc>
              <a:buNone/>
            </a:pPr>
            <a:r>
              <a:rPr lang="en-US" sz="900" dirty="0">
                <a:solidFill>
                  <a:srgbClr val="383838"/>
                </a:solidFill>
                <a:highlight>
                  <a:srgbClr val="F2F2F2"/>
                </a:highlight>
                <a:latin typeface="Consolas" pitchFamily="34" charset="0"/>
                <a:ea typeface="Consolas" pitchFamily="34" charset="-122"/>
                <a:cs typeface="Consolas" pitchFamily="34" charset="-120"/>
              </a:rPr>
              <a:t>@csrf_exempt</a:t>
            </a:r>
            <a:pPr algn="l" indent="0" marL="0">
              <a:lnSpc>
                <a:spcPct val="131000"/>
              </a:lnSpc>
              <a:buNone/>
            </a:pPr>
            <a:r>
              <a:rPr lang="en-US" sz="900" dirty="0">
                <a:solidFill>
                  <a:srgbClr val="383838"/>
                </a:solidFill>
                <a:latin typeface="DM Sans" pitchFamily="34" charset="0"/>
                <a:ea typeface="DM Sans" pitchFamily="34" charset="-122"/>
                <a:cs typeface="DM Sans" pitchFamily="34" charset="-120"/>
              </a:rPr>
              <a:t> désactive toute protection</a:t>
            </a:r>
            <a:endParaRPr lang="en-US" sz="900" dirty="0"/>
          </a:p>
        </p:txBody>
      </p:sp>
      <p:sp>
        <p:nvSpPr>
          <p:cNvPr id="13" name="Shape 10"/>
          <p:cNvSpPr/>
          <p:nvPr/>
        </p:nvSpPr>
        <p:spPr>
          <a:xfrm>
            <a:off x="3909640" y="3626495"/>
            <a:ext cx="4753719" cy="1163762"/>
          </a:xfrm>
          <a:prstGeom prst="roundRect">
            <a:avLst>
              <a:gd name="adj" fmla="val 1549"/>
            </a:avLst>
          </a:prstGeom>
          <a:solidFill>
            <a:srgbClr val="F2EEEE"/>
          </a:solidFill>
          <a:ln/>
        </p:spPr>
      </p:sp>
      <p:sp>
        <p:nvSpPr>
          <p:cNvPr id="14" name="Text 11"/>
          <p:cNvSpPr/>
          <p:nvPr/>
        </p:nvSpPr>
        <p:spPr>
          <a:xfrm>
            <a:off x="4029745" y="3746599"/>
            <a:ext cx="2651894" cy="201960"/>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PT Serif" pitchFamily="34" charset="0"/>
                <a:ea typeface="PT Serif" pitchFamily="34" charset="-122"/>
                <a:cs typeface="PT Serif" pitchFamily="34" charset="-120"/>
              </a:rPr>
              <a:t>🔴</a:t>
            </a:r>
            <a:pPr algn="l" indent="0" marL="0">
              <a:lnSpc>
                <a:spcPct val="104000"/>
              </a:lnSpc>
              <a:buNone/>
            </a:pPr>
            <a:r>
              <a:rPr lang="en-US" sz="1200" dirty="0">
                <a:solidFill>
                  <a:srgbClr val="383838"/>
                </a:solidFill>
                <a:latin typeface="PT Serif" pitchFamily="34" charset="0"/>
                <a:ea typeface="PT Serif" pitchFamily="34" charset="-122"/>
                <a:cs typeface="PT Serif" pitchFamily="34" charset="-120"/>
              </a:rPr>
              <a:t> Exploit 3 — Élévation de privilèges</a:t>
            </a:r>
            <a:endParaRPr lang="en-US" sz="1200" dirty="0"/>
          </a:p>
        </p:txBody>
      </p:sp>
      <p:sp>
        <p:nvSpPr>
          <p:cNvPr id="15" name="Text 12"/>
          <p:cNvSpPr/>
          <p:nvPr/>
        </p:nvSpPr>
        <p:spPr>
          <a:xfrm>
            <a:off x="4029745" y="4018359"/>
            <a:ext cx="4513511" cy="651793"/>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383838"/>
                </a:solidFill>
                <a:highlight>
                  <a:srgbClr val="F2F2F2"/>
                </a:highlight>
                <a:latin typeface="Consolas" pitchFamily="34" charset="0"/>
                <a:ea typeface="Consolas" pitchFamily="34" charset="-122"/>
                <a:cs typeface="Consolas" pitchFamily="34" charset="-120"/>
              </a:rPr>
              <a:t>POST /books/add/</a:t>
            </a:r>
            <a:pPr algn="l" indent="0" marL="0">
              <a:lnSpc>
                <a:spcPct val="131000"/>
              </a:lnSpc>
              <a:buNone/>
            </a:pPr>
            <a:r>
              <a:rPr lang="en-US" sz="900" dirty="0">
                <a:solidFill>
                  <a:srgbClr val="383838"/>
                </a:solidFill>
                <a:latin typeface="DM Sans" pitchFamily="34" charset="0"/>
                <a:ea typeface="DM Sans" pitchFamily="34" charset="-122"/>
                <a:cs typeface="DM Sans" pitchFamily="34" charset="-120"/>
              </a:rPr>
              <a:t> avec cookie utilisateur standard → HTTP 302 → livre </a:t>
            </a:r>
            <a:pPr algn="l" indent="0" marL="0">
              <a:lnSpc>
                <a:spcPct val="131000"/>
              </a:lnSpc>
              <a:buNone/>
            </a:pPr>
            <a:r>
              <a:rPr lang="en-US" sz="900" dirty="0">
                <a:solidFill>
                  <a:srgbClr val="383838"/>
                </a:solidFill>
                <a:highlight>
                  <a:srgbClr val="F2F2F2"/>
                </a:highlight>
                <a:latin typeface="Consolas" pitchFamily="34" charset="0"/>
                <a:ea typeface="Consolas" pitchFamily="34" charset="-122"/>
                <a:cs typeface="Consolas" pitchFamily="34" charset="-120"/>
              </a:rPr>
              <a:t>"USER_HACKED"</a:t>
            </a:r>
            <a:pPr algn="l" indent="0" marL="0">
              <a:lnSpc>
                <a:spcPct val="131000"/>
              </a:lnSpc>
              <a:spcAft>
                <a:spcPts val="500"/>
              </a:spcAft>
              <a:buNone/>
            </a:pPr>
            <a:r>
              <a:rPr lang="en-US" sz="900" dirty="0">
                <a:solidFill>
                  <a:srgbClr val="383838"/>
                </a:solidFill>
                <a:latin typeface="DM Sans" pitchFamily="34" charset="0"/>
                <a:ea typeface="DM Sans" pitchFamily="34" charset="-122"/>
                <a:cs typeface="DM Sans" pitchFamily="34" charset="-120"/>
              </a:rPr>
              <a:t> visible publiquement</a:t>
            </a:r>
            <a:endParaRPr lang="en-US" sz="900" dirty="0"/>
          </a:p>
          <a:p>
            <a:pPr algn="l" indent="0" marL="0">
              <a:lnSpc>
                <a:spcPct val="131000"/>
              </a:lnSpc>
              <a:buNone/>
            </a:pPr>
            <a:r>
              <a:rPr lang="en-US" sz="900" b="1" dirty="0">
                <a:solidFill>
                  <a:srgbClr val="383838"/>
                </a:solidFill>
                <a:latin typeface="DM Sans" pitchFamily="34" charset="0"/>
                <a:ea typeface="DM Sans" pitchFamily="34" charset="-122"/>
                <a:cs typeface="DM Sans" pitchFamily="34" charset="-120"/>
              </a:rPr>
              <a:t>CVSS 8.1</a:t>
            </a:r>
            <a:pPr algn="l" indent="0" marL="0">
              <a:lnSpc>
                <a:spcPct val="131000"/>
              </a:lnSpc>
              <a:buNone/>
            </a:pPr>
            <a:r>
              <a:rPr lang="en-US" sz="900" dirty="0">
                <a:solidFill>
                  <a:srgbClr val="383838"/>
                </a:solidFill>
                <a:latin typeface="DM Sans" pitchFamily="34" charset="0"/>
                <a:ea typeface="DM Sans" pitchFamily="34" charset="-122"/>
                <a:cs typeface="DM Sans" pitchFamily="34" charset="-120"/>
              </a:rPr>
              <a:t> — Aucun contrôle de rôle dans </a:t>
            </a:r>
            <a:pPr algn="l" indent="0" marL="0">
              <a:lnSpc>
                <a:spcPct val="131000"/>
              </a:lnSpc>
              <a:buNone/>
            </a:pPr>
            <a:r>
              <a:rPr lang="en-US" sz="900" dirty="0">
                <a:solidFill>
                  <a:srgbClr val="383838"/>
                </a:solidFill>
                <a:highlight>
                  <a:srgbClr val="F2F2F2"/>
                </a:highlight>
                <a:latin typeface="Consolas" pitchFamily="34" charset="0"/>
                <a:ea typeface="Consolas" pitchFamily="34" charset="-122"/>
                <a:cs typeface="Consolas" pitchFamily="34" charset="-120"/>
              </a:rPr>
              <a:t>add_book_view()</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88379" y="351309"/>
            <a:ext cx="972517" cy="237827"/>
          </a:xfrm>
          <a:prstGeom prst="roundRect">
            <a:avLst>
              <a:gd name="adj" fmla="val 6161"/>
            </a:avLst>
          </a:prstGeom>
          <a:noFill/>
          <a:ln w="4763">
            <a:solidFill>
              <a:srgbClr val="E04F00"/>
            </a:solidFill>
            <a:prstDash val="solid"/>
          </a:ln>
        </p:spPr>
      </p:sp>
      <p:sp>
        <p:nvSpPr>
          <p:cNvPr id="3" name="Text 1"/>
          <p:cNvSpPr/>
          <p:nvPr/>
        </p:nvSpPr>
        <p:spPr>
          <a:xfrm>
            <a:off x="566365" y="392683"/>
            <a:ext cx="1273746" cy="155079"/>
          </a:xfrm>
          <a:prstGeom prst="rect">
            <a:avLst/>
          </a:prstGeom>
          <a:noFill/>
          <a:ln/>
        </p:spPr>
        <p:txBody>
          <a:bodyPr wrap="none" lIns="0" tIns="0" rIns="0" bIns="0" rtlCol="0" anchor="t"/>
          <a:lstStyle/>
          <a:p>
            <a:pPr algn="l" indent="0" marL="0">
              <a:lnSpc>
                <a:spcPct val="132000"/>
              </a:lnSpc>
              <a:buNone/>
            </a:pPr>
            <a:r>
              <a:rPr lang="en-US" sz="750" dirty="0">
                <a:solidFill>
                  <a:srgbClr val="E04F00"/>
                </a:solidFill>
                <a:latin typeface="DM Sans" pitchFamily="34" charset="0"/>
                <a:ea typeface="DM Sans" pitchFamily="34" charset="-122"/>
                <a:cs typeface="DM Sans" pitchFamily="34" charset="-120"/>
              </a:rPr>
              <a:t>SCAN OWASP PTK</a:t>
            </a:r>
            <a:endParaRPr lang="en-US" sz="750" dirty="0"/>
          </a:p>
        </p:txBody>
      </p:sp>
      <p:sp>
        <p:nvSpPr>
          <p:cNvPr id="4" name="Text 2"/>
          <p:cNvSpPr/>
          <p:nvPr/>
        </p:nvSpPr>
        <p:spPr>
          <a:xfrm>
            <a:off x="488379" y="637208"/>
            <a:ext cx="7491338" cy="400571"/>
          </a:xfrm>
          <a:prstGeom prst="rect">
            <a:avLst/>
          </a:prstGeom>
          <a:noFill/>
          <a:ln/>
        </p:spPr>
        <p:txBody>
          <a:bodyPr wrap="none" lIns="0" tIns="0" rIns="0" bIns="0" rtlCol="0" anchor="t"/>
          <a:lstStyle/>
          <a:p>
            <a:pPr algn="l" indent="0" marL="0">
              <a:lnSpc>
                <a:spcPct val="104000"/>
              </a:lnSpc>
              <a:buNone/>
            </a:pPr>
            <a:r>
              <a:rPr lang="en-US" sz="2500" u="sng" dirty="0">
                <a:solidFill>
                  <a:srgbClr val="E04F00"/>
                </a:solidFill>
                <a:latin typeface="PT Serif" pitchFamily="34" charset="0"/>
                <a:ea typeface="PT Serif" pitchFamily="34" charset="-122"/>
                <a:cs typeface="PT Serif" pitchFamily="34" charset="-120"/>
                <a:hlinkClick r:id="rId1" invalidUrl="" action="" tgtFrame="" tooltip="" history="1" highlightClick="0" endSnd="0">
                  <a:extLst>
                    <a:ext uri="{A12FA001-AC4F-418D-AE19-62706E023703}">
                      <ahyp:hlinkClr xmlns:ahyp="http://schemas.microsoft.com/office/drawing/2018/hyperlinkcolor" val="tx"/>
                    </a:ext>
                  </a:extLst>
                </a:hlinkClick>
              </a:rPr>
              <a:t>Scan OWASP PTK</a:t>
            </a:r>
            <a:pPr algn="l" indent="0" marL="0">
              <a:lnSpc>
                <a:spcPct val="104000"/>
              </a:lnSpc>
              <a:buNone/>
            </a:pPr>
            <a:r>
              <a:rPr lang="en-US" sz="2500" dirty="0">
                <a:solidFill>
                  <a:srgbClr val="020202"/>
                </a:solidFill>
                <a:latin typeface="PT Serif" pitchFamily="34" charset="0"/>
                <a:ea typeface="PT Serif" pitchFamily="34" charset="-122"/>
                <a:cs typeface="PT Serif" pitchFamily="34" charset="-120"/>
              </a:rPr>
              <a:t> &amp; Résistances de l'application</a:t>
            </a:r>
            <a:endParaRPr lang="en-US" sz="2500" dirty="0"/>
          </a:p>
        </p:txBody>
      </p:sp>
      <p:sp>
        <p:nvSpPr>
          <p:cNvPr id="5" name="Shape 3"/>
          <p:cNvSpPr/>
          <p:nvPr/>
        </p:nvSpPr>
        <p:spPr>
          <a:xfrm>
            <a:off x="400496" y="1218009"/>
            <a:ext cx="4110484" cy="2915989"/>
          </a:xfrm>
          <a:prstGeom prst="roundRect">
            <a:avLst>
              <a:gd name="adj" fmla="val 628"/>
            </a:avLst>
          </a:prstGeom>
          <a:solidFill>
            <a:srgbClr val="E04F00"/>
          </a:solidFill>
          <a:ln/>
        </p:spPr>
      </p:sp>
      <p:sp>
        <p:nvSpPr>
          <p:cNvPr id="6" name="Text 4"/>
          <p:cNvSpPr/>
          <p:nvPr/>
        </p:nvSpPr>
        <p:spPr>
          <a:xfrm>
            <a:off x="522536" y="1338188"/>
            <a:ext cx="2059856" cy="200323"/>
          </a:xfrm>
          <a:prstGeom prst="rect">
            <a:avLst/>
          </a:prstGeom>
          <a:noFill/>
          <a:ln/>
        </p:spPr>
        <p:txBody>
          <a:bodyPr wrap="none" lIns="0" tIns="0" rIns="0" bIns="0" rtlCol="0" anchor="t"/>
          <a:lstStyle/>
          <a:p>
            <a:pPr algn="l" indent="0" marL="0">
              <a:lnSpc>
                <a:spcPct val="104000"/>
              </a:lnSpc>
              <a:buNone/>
            </a:pPr>
            <a:r>
              <a:rPr lang="en-US" sz="1250" dirty="0">
                <a:solidFill>
                  <a:srgbClr val="020202"/>
                </a:solidFill>
                <a:latin typeface="PT Serif" pitchFamily="34" charset="0"/>
                <a:ea typeface="PT Serif" pitchFamily="34" charset="-122"/>
                <a:cs typeface="PT Serif" pitchFamily="34" charset="-120"/>
              </a:rPr>
              <a:t>Résultats OWASP PTK</a:t>
            </a:r>
            <a:endParaRPr lang="en-US" sz="1250" dirty="0"/>
          </a:p>
        </p:txBody>
      </p:sp>
      <p:sp>
        <p:nvSpPr>
          <p:cNvPr id="7" name="Text 5"/>
          <p:cNvSpPr/>
          <p:nvPr/>
        </p:nvSpPr>
        <p:spPr>
          <a:xfrm>
            <a:off x="522536" y="1658689"/>
            <a:ext cx="3866406" cy="1695971"/>
          </a:xfrm>
          <a:prstGeom prst="rect">
            <a:avLst/>
          </a:prstGeom>
          <a:noFill/>
          <a:ln/>
        </p:spPr>
        <p:txBody>
          <a:bodyPr wrap="square" lIns="0" tIns="0" rIns="0" bIns="0" rtlCol="0" anchor="t">
            <a:normAutofit/>
          </a:bodyPr>
          <a:lstStyle/>
          <a:p>
            <a:pPr algn="l" marL="342900" indent="-342900">
              <a:lnSpc>
                <a:spcPct val="132000"/>
              </a:lnSpc>
              <a:buSzPct val="100000"/>
              <a:buChar char="•"/>
            </a:pPr>
            <a:r>
              <a:rPr lang="en-US" sz="950" b="1" dirty="0">
                <a:solidFill>
                  <a:srgbClr val="000000"/>
                </a:solidFill>
                <a:latin typeface="DM Sans" pitchFamily="34" charset="0"/>
                <a:ea typeface="DM Sans" pitchFamily="34" charset="-122"/>
                <a:cs typeface="DM Sans" pitchFamily="34" charset="-120"/>
              </a:rPr>
              <a:t>IAST </a:t>
            </a:r>
            <a:pPr algn="l" marL="342900" indent="-342900">
              <a:lnSpc>
                <a:spcPct val="132000"/>
              </a:lnSpc>
              <a:buSzPct val="100000"/>
              <a:buChar char="•"/>
            </a:pPr>
            <a:r>
              <a:rPr lang="en-US" sz="950" dirty="0">
                <a:solidFill>
                  <a:srgbClr val="000000"/>
                </a:solidFill>
                <a:latin typeface="DM Sans" pitchFamily="34" charset="0"/>
                <a:ea typeface="DM Sans" pitchFamily="34" charset="-122"/>
                <a:cs typeface="DM Sans" pitchFamily="34" charset="-120"/>
              </a:rPr>
              <a:t>🔴</a:t>
            </a:r>
            <a:pPr algn="l" marL="342900" indent="-342900">
              <a:lnSpc>
                <a:spcPct val="132000"/>
              </a:lnSpc>
              <a:buSzPct val="100000"/>
              <a:buChar char="•"/>
            </a:pPr>
            <a:r>
              <a:rPr lang="en-US" sz="950" b="1" dirty="0">
                <a:solidFill>
                  <a:srgbClr val="000000"/>
                </a:solidFill>
                <a:latin typeface="DM Sans" pitchFamily="34" charset="0"/>
                <a:ea typeface="DM Sans" pitchFamily="34" charset="-122"/>
                <a:cs typeface="DM Sans" pitchFamily="34" charset="-120"/>
              </a:rPr>
              <a:t> HIGH ×7 :</a:t>
            </a:r>
            <a:pPr algn="l" marL="342900" indent="-342900">
              <a:lnSpc>
                <a:spcPct val="132000"/>
              </a:lnSpc>
              <a:buSzPct val="100000"/>
              <a:buChar char="•"/>
            </a:pPr>
            <a:r>
              <a:rPr lang="en-US" sz="950" dirty="0">
                <a:solidFill>
                  <a:srgbClr val="000000"/>
                </a:solidFill>
                <a:latin typeface="DM Sans" pitchFamily="34" charset="0"/>
                <a:ea typeface="DM Sans" pitchFamily="34" charset="-122"/>
                <a:cs typeface="DM Sans" pitchFamily="34" charset="-120"/>
              </a:rPr>
              <a:t> DOM XSS via Bootstrap sur /books/, /loan/, /accounts/ (CWE-79, CVSS 6.1)</a:t>
            </a:r>
            <a:endParaRPr lang="en-US" sz="950" dirty="0"/>
          </a:p>
          <a:p>
            <a:pPr algn="l" marL="342900" indent="-342900">
              <a:lnSpc>
                <a:spcPct val="132000"/>
              </a:lnSpc>
              <a:buSzPct val="100000"/>
              <a:buChar char="•"/>
            </a:pPr>
            <a:r>
              <a:rPr lang="en-US" sz="950" b="1" dirty="0">
                <a:solidFill>
                  <a:srgbClr val="000000"/>
                </a:solidFill>
                <a:latin typeface="DM Sans" pitchFamily="34" charset="0"/>
                <a:ea typeface="DM Sans" pitchFamily="34" charset="-122"/>
                <a:cs typeface="DM Sans" pitchFamily="34" charset="-120"/>
              </a:rPr>
              <a:t>DAST </a:t>
            </a:r>
            <a:pPr algn="l" marL="342900" indent="-342900">
              <a:lnSpc>
                <a:spcPct val="132000"/>
              </a:lnSpc>
              <a:buSzPct val="100000"/>
              <a:buChar char="•"/>
            </a:pPr>
            <a:r>
              <a:rPr lang="en-US" sz="950" dirty="0">
                <a:solidFill>
                  <a:srgbClr val="000000"/>
                </a:solidFill>
                <a:latin typeface="DM Sans" pitchFamily="34" charset="0"/>
                <a:ea typeface="DM Sans" pitchFamily="34" charset="-122"/>
                <a:cs typeface="DM Sans" pitchFamily="34" charset="-120"/>
              </a:rPr>
              <a:t>🟡</a:t>
            </a:r>
            <a:pPr algn="l" marL="342900" indent="-342900">
              <a:lnSpc>
                <a:spcPct val="132000"/>
              </a:lnSpc>
              <a:buSzPct val="100000"/>
              <a:buChar char="•"/>
            </a:pPr>
            <a:r>
              <a:rPr lang="en-US" sz="950" b="1" dirty="0">
                <a:solidFill>
                  <a:srgbClr val="000000"/>
                </a:solidFill>
                <a:latin typeface="DM Sans" pitchFamily="34" charset="0"/>
                <a:ea typeface="DM Sans" pitchFamily="34" charset="-122"/>
                <a:cs typeface="DM Sans" pitchFamily="34" charset="-120"/>
              </a:rPr>
              <a:t> MEDIUM ×1 :</a:t>
            </a:r>
            <a:pPr algn="l" marL="342900" indent="-342900">
              <a:lnSpc>
                <a:spcPct val="132000"/>
              </a:lnSpc>
              <a:buSzPct val="100000"/>
              <a:buChar char="•"/>
            </a:pPr>
            <a:r>
              <a:rPr lang="en-US" sz="950" dirty="0">
                <a:solidFill>
                  <a:srgbClr val="000000"/>
                </a:solidFill>
                <a:latin typeface="DM Sans" pitchFamily="34" charset="0"/>
                <a:ea typeface="DM Sans" pitchFamily="34" charset="-122"/>
                <a:cs typeface="DM Sans" pitchFamily="34" charset="-120"/>
              </a:rPr>
              <a:t> Python traceback + IP 10.250.0.5 sur /books/4/delete/</a:t>
            </a:r>
            <a:endParaRPr lang="en-US" sz="950" dirty="0"/>
          </a:p>
          <a:p>
            <a:pPr algn="l" marL="342900" indent="-342900">
              <a:lnSpc>
                <a:spcPct val="132000"/>
              </a:lnSpc>
              <a:buSzPct val="100000"/>
              <a:buChar char="•"/>
            </a:pPr>
            <a:r>
              <a:rPr lang="en-US" sz="950" b="1" dirty="0">
                <a:solidFill>
                  <a:srgbClr val="000000"/>
                </a:solidFill>
                <a:latin typeface="DM Sans" pitchFamily="34" charset="0"/>
                <a:ea typeface="DM Sans" pitchFamily="34" charset="-122"/>
                <a:cs typeface="DM Sans" pitchFamily="34" charset="-120"/>
              </a:rPr>
              <a:t>DAST </a:t>
            </a:r>
            <a:pPr algn="l" marL="342900" indent="-342900">
              <a:lnSpc>
                <a:spcPct val="132000"/>
              </a:lnSpc>
              <a:buSzPct val="100000"/>
              <a:buChar char="•"/>
            </a:pPr>
            <a:r>
              <a:rPr lang="en-US" sz="950" dirty="0">
                <a:solidFill>
                  <a:srgbClr val="000000"/>
                </a:solidFill>
                <a:latin typeface="DM Sans" pitchFamily="34" charset="0"/>
                <a:ea typeface="DM Sans" pitchFamily="34" charset="-122"/>
                <a:cs typeface="DM Sans" pitchFamily="34" charset="-120"/>
              </a:rPr>
              <a:t>🟢</a:t>
            </a:r>
            <a:pPr algn="l" marL="342900" indent="-342900">
              <a:lnSpc>
                <a:spcPct val="132000"/>
              </a:lnSpc>
              <a:buSzPct val="100000"/>
              <a:buChar char="•"/>
            </a:pPr>
            <a:r>
              <a:rPr lang="en-US" sz="950" b="1" dirty="0">
                <a:solidFill>
                  <a:srgbClr val="000000"/>
                </a:solidFill>
                <a:latin typeface="DM Sans" pitchFamily="34" charset="0"/>
                <a:ea typeface="DM Sans" pitchFamily="34" charset="-122"/>
                <a:cs typeface="DM Sans" pitchFamily="34" charset="-120"/>
              </a:rPr>
              <a:t> LOW ×7 :</a:t>
            </a:r>
            <a:pPr algn="l" marL="342900" indent="-342900">
              <a:lnSpc>
                <a:spcPct val="132000"/>
              </a:lnSpc>
              <a:buSzPct val="100000"/>
              <a:buChar char="•"/>
            </a:pPr>
            <a:r>
              <a:rPr lang="en-US" sz="950" dirty="0">
                <a:solidFill>
                  <a:srgbClr val="000000"/>
                </a:solidFill>
                <a:latin typeface="DM Sans" pitchFamily="34" charset="0"/>
                <a:ea typeface="DM Sans" pitchFamily="34" charset="-122"/>
                <a:cs typeface="DM Sans" pitchFamily="34" charset="-120"/>
              </a:rPr>
              <a:t> CSP absent · HSTS absent · hints "dev"/"testing" dans les réponses</a:t>
            </a:r>
            <a:endParaRPr lang="en-US" sz="950" dirty="0"/>
          </a:p>
          <a:p>
            <a:pPr algn="l" marL="342900" indent="-342900">
              <a:lnSpc>
                <a:spcPct val="132000"/>
              </a:lnSpc>
              <a:buSzPct val="100000"/>
              <a:buChar char="•"/>
            </a:pPr>
            <a:r>
              <a:rPr lang="en-US" sz="950" b="1" dirty="0">
                <a:solidFill>
                  <a:srgbClr val="000000"/>
                </a:solidFill>
                <a:latin typeface="DM Sans" pitchFamily="34" charset="0"/>
                <a:ea typeface="DM Sans" pitchFamily="34" charset="-122"/>
                <a:cs typeface="DM Sans" pitchFamily="34" charset="-120"/>
              </a:rPr>
              <a:t>Cookie </a:t>
            </a:r>
            <a:pPr algn="l" marL="342900" indent="-342900">
              <a:lnSpc>
                <a:spcPct val="132000"/>
              </a:lnSpc>
              <a:buSzPct val="100000"/>
              <a:buChar char="•"/>
            </a:pPr>
            <a:r>
              <a:rPr lang="en-US" sz="950" dirty="0">
                <a:solidFill>
                  <a:srgbClr val="000000"/>
                </a:solidFill>
                <a:latin typeface="DM Sans" pitchFamily="34" charset="0"/>
                <a:ea typeface="DM Sans" pitchFamily="34" charset="-122"/>
                <a:cs typeface="DM Sans" pitchFamily="34" charset="-120"/>
              </a:rPr>
              <a:t>⚠️</a:t>
            </a:r>
            <a:pPr algn="l" marL="342900" indent="-342900">
              <a:lnSpc>
                <a:spcPct val="132000"/>
              </a:lnSpc>
              <a:buSzPct val="100000"/>
              <a:buChar char="•"/>
            </a:pPr>
            <a:r>
              <a:rPr lang="en-US" sz="950" b="1" dirty="0">
                <a:solidFill>
                  <a:srgbClr val="000000"/>
                </a:solidFill>
                <a:latin typeface="DM Sans" pitchFamily="34" charset="0"/>
                <a:ea typeface="DM Sans" pitchFamily="34" charset="-122"/>
                <a:cs typeface="DM Sans" pitchFamily="34" charset="-120"/>
              </a:rPr>
              <a:t> :</a:t>
            </a:r>
            <a:pPr algn="l" marL="342900" indent="-342900">
              <a:lnSpc>
                <a:spcPct val="132000"/>
              </a:lnSpc>
              <a:buSzPct val="100000"/>
              <a:buChar char="•"/>
            </a:pPr>
            <a:r>
              <a:rPr lang="en-US" sz="950" dirty="0">
                <a:solidFill>
                  <a:srgbClr val="000000"/>
                </a:solidFill>
                <a:latin typeface="DM Sans" pitchFamily="34" charset="0"/>
                <a:ea typeface="DM Sans" pitchFamily="34" charset="-122"/>
                <a:cs typeface="DM Sans" pitchFamily="34" charset="-120"/>
              </a:rPr>
              <a:t> </a:t>
            </a:r>
            <a:pPr algn="l" marL="342900" indent="-342900">
              <a:lnSpc>
                <a:spcPct val="132000"/>
              </a:lnSpc>
              <a:buSzPct val="100000"/>
              <a:buChar char="•"/>
            </a:pPr>
            <a:r>
              <a:rPr lang="en-US" sz="950" dirty="0">
                <a:solidFill>
                  <a:srgbClr val="000000"/>
                </a:solidFill>
                <a:highlight>
                  <a:srgbClr val="ED5C0D"/>
                </a:highlight>
                <a:latin typeface="Consolas" pitchFamily="34" charset="0"/>
                <a:ea typeface="Consolas" pitchFamily="34" charset="-122"/>
                <a:cs typeface="Consolas" pitchFamily="34" charset="-120"/>
              </a:rPr>
              <a:t>csrftoken</a:t>
            </a:r>
            <a:pPr algn="l" marL="342900" indent="-342900">
              <a:lnSpc>
                <a:spcPct val="132000"/>
              </a:lnSpc>
              <a:buSzPct val="100000"/>
              <a:buChar char="•"/>
            </a:pPr>
            <a:r>
              <a:rPr lang="en-US" sz="950" dirty="0">
                <a:solidFill>
                  <a:srgbClr val="000000"/>
                </a:solidFill>
                <a:latin typeface="DM Sans" pitchFamily="34" charset="0"/>
                <a:ea typeface="DM Sans" pitchFamily="34" charset="-122"/>
                <a:cs typeface="DM Sans" pitchFamily="34" charset="-120"/>
              </a:rPr>
              <a:t> : </a:t>
            </a:r>
            <a:pPr algn="l" marL="342900" indent="-342900">
              <a:lnSpc>
                <a:spcPct val="132000"/>
              </a:lnSpc>
              <a:buSzPct val="100000"/>
              <a:buChar char="•"/>
            </a:pPr>
            <a:r>
              <a:rPr lang="en-US" sz="950" dirty="0">
                <a:solidFill>
                  <a:srgbClr val="000000"/>
                </a:solidFill>
                <a:highlight>
                  <a:srgbClr val="ED5C0D"/>
                </a:highlight>
                <a:latin typeface="Consolas" pitchFamily="34" charset="0"/>
                <a:ea typeface="Consolas" pitchFamily="34" charset="-122"/>
                <a:cs typeface="Consolas" pitchFamily="34" charset="-120"/>
              </a:rPr>
              <a:t>HttpOnly = false</a:t>
            </a:r>
            <a:pPr algn="l" marL="342900" indent="-342900">
              <a:lnSpc>
                <a:spcPct val="132000"/>
              </a:lnSpc>
              <a:buSzPct val="100000"/>
              <a:buChar char="•"/>
            </a:pPr>
            <a:r>
              <a:rPr lang="en-US" sz="950" dirty="0">
                <a:solidFill>
                  <a:srgbClr val="000000"/>
                </a:solidFill>
                <a:latin typeface="DM Sans" pitchFamily="34" charset="0"/>
                <a:ea typeface="DM Sans" pitchFamily="34" charset="-122"/>
                <a:cs typeface="DM Sans" pitchFamily="34" charset="-120"/>
              </a:rPr>
              <a:t> → accessible par JavaScript</a:t>
            </a:r>
            <a:endParaRPr lang="en-US" sz="950" dirty="0"/>
          </a:p>
        </p:txBody>
      </p:sp>
      <p:sp>
        <p:nvSpPr>
          <p:cNvPr id="8" name="Text 6"/>
          <p:cNvSpPr/>
          <p:nvPr/>
        </p:nvSpPr>
        <p:spPr>
          <a:xfrm>
            <a:off x="4725665" y="1338188"/>
            <a:ext cx="3613026" cy="205085"/>
          </a:xfrm>
          <a:prstGeom prst="rect">
            <a:avLst/>
          </a:prstGeom>
          <a:noFill/>
          <a:ln/>
        </p:spPr>
        <p:txBody>
          <a:bodyPr wrap="none" lIns="0" tIns="0" rIns="0" bIns="0" rtlCol="0" anchor="t"/>
          <a:lstStyle/>
          <a:p>
            <a:pPr algn="l" indent="0" marL="0">
              <a:lnSpc>
                <a:spcPct val="104000"/>
              </a:lnSpc>
              <a:buNone/>
            </a:pPr>
            <a:r>
              <a:rPr lang="en-US" sz="1250" dirty="0">
                <a:solidFill>
                  <a:srgbClr val="020202"/>
                </a:solidFill>
                <a:latin typeface="PT Serif" pitchFamily="34" charset="0"/>
                <a:ea typeface="PT Serif" pitchFamily="34" charset="-122"/>
                <a:cs typeface="PT Serif" pitchFamily="34" charset="-120"/>
              </a:rPr>
              <a:t>Ce que l'application bloque correctement </a:t>
            </a:r>
            <a:pPr algn="l" indent="0" marL="0">
              <a:lnSpc>
                <a:spcPct val="104000"/>
              </a:lnSpc>
              <a:buNone/>
            </a:pPr>
            <a:r>
              <a:rPr lang="en-US" sz="1250" dirty="0">
                <a:solidFill>
                  <a:srgbClr val="000000"/>
                </a:solidFill>
                <a:latin typeface="PT Serif" pitchFamily="34" charset="0"/>
                <a:ea typeface="PT Serif" pitchFamily="34" charset="-122"/>
                <a:cs typeface="PT Serif" pitchFamily="34" charset="-120"/>
              </a:rPr>
              <a:t>✅</a:t>
            </a:r>
            <a:endParaRPr lang="en-US" sz="1250" dirty="0"/>
          </a:p>
        </p:txBody>
      </p:sp>
      <p:sp>
        <p:nvSpPr>
          <p:cNvPr id="9" name="Text 7"/>
          <p:cNvSpPr/>
          <p:nvPr/>
        </p:nvSpPr>
        <p:spPr>
          <a:xfrm>
            <a:off x="4725665" y="1663452"/>
            <a:ext cx="3934718" cy="1298749"/>
          </a:xfrm>
          <a:prstGeom prst="rect">
            <a:avLst/>
          </a:prstGeom>
          <a:noFill/>
          <a:ln/>
        </p:spPr>
        <p:txBody>
          <a:bodyPr wrap="square" lIns="0" tIns="0" rIns="0" bIns="0" rtlCol="0" anchor="t">
            <a:normAutofit/>
          </a:bodyPr>
          <a:lstStyle/>
          <a:p>
            <a:pPr algn="l" marL="342900" indent="-342900">
              <a:lnSpc>
                <a:spcPct val="132000"/>
              </a:lnSpc>
              <a:buSzPct val="100000"/>
              <a:buChar char="•"/>
            </a:pPr>
            <a:r>
              <a:rPr lang="en-US" sz="950" dirty="0">
                <a:solidFill>
                  <a:srgbClr val="383838"/>
                </a:solidFill>
                <a:latin typeface="DM Sans" pitchFamily="34" charset="0"/>
                <a:ea typeface="DM Sans" pitchFamily="34" charset="-122"/>
                <a:cs typeface="DM Sans" pitchFamily="34" charset="-120"/>
              </a:rPr>
              <a:t>POST non authentifiés → </a:t>
            </a:r>
            <a:pPr algn="l" marL="342900" indent="-342900">
              <a:lnSpc>
                <a:spcPct val="132000"/>
              </a:lnSpc>
              <a:buSzPct val="100000"/>
              <a:buChar char="•"/>
            </a:pPr>
            <a:r>
              <a:rPr lang="en-US" sz="950" b="1" dirty="0">
                <a:solidFill>
                  <a:srgbClr val="383838"/>
                </a:solidFill>
                <a:latin typeface="DM Sans" pitchFamily="34" charset="0"/>
                <a:ea typeface="DM Sans" pitchFamily="34" charset="-122"/>
                <a:cs typeface="DM Sans" pitchFamily="34" charset="-120"/>
              </a:rPr>
              <a:t>403 Forbidden</a:t>
            </a:r>
            <a:pPr algn="l" marL="342900" indent="-342900">
              <a:lnSpc>
                <a:spcPct val="132000"/>
              </a:lnSpc>
              <a:buSzPct val="100000"/>
              <a:buChar char="•"/>
            </a:pPr>
            <a:r>
              <a:rPr lang="en-US" sz="950" dirty="0">
                <a:solidFill>
                  <a:srgbClr val="383838"/>
                </a:solidFill>
                <a:latin typeface="DM Sans" pitchFamily="34" charset="0"/>
                <a:ea typeface="DM Sans" pitchFamily="34" charset="-122"/>
                <a:cs typeface="DM Sans" pitchFamily="34" charset="-120"/>
              </a:rPr>
              <a:t> (middleware CSRF actif sur les endpoints non exemptés)</a:t>
            </a:r>
            <a:endParaRPr lang="en-US" sz="950" dirty="0"/>
          </a:p>
          <a:p>
            <a:pPr algn="l" marL="342900" indent="-342900">
              <a:lnSpc>
                <a:spcPct val="132000"/>
              </a:lnSpc>
              <a:buSzPct val="100000"/>
              <a:buChar char="•"/>
            </a:pPr>
            <a:r>
              <a:rPr lang="en-US" sz="950" dirty="0">
                <a:solidFill>
                  <a:srgbClr val="383838"/>
                </a:solidFill>
                <a:latin typeface="DM Sans" pitchFamily="34" charset="0"/>
                <a:ea typeface="DM Sans" pitchFamily="34" charset="-122"/>
                <a:cs typeface="DM Sans" pitchFamily="34" charset="-120"/>
              </a:rPr>
              <a:t>Injection SQL classique → requêtes paramétrées </a:t>
            </a:r>
            <a:pPr algn="l" marL="342900" indent="-342900">
              <a:lnSpc>
                <a:spcPct val="132000"/>
              </a:lnSpc>
              <a:buSzPct val="100000"/>
              <a:buChar char="•"/>
            </a:pPr>
            <a:r>
              <a:rPr lang="en-US" sz="950" dirty="0">
                <a:solidFill>
                  <a:srgbClr val="383838"/>
                </a:solidFill>
                <a:highlight>
                  <a:srgbClr val="F2F2F2"/>
                </a:highlight>
                <a:latin typeface="Consolas" pitchFamily="34" charset="0"/>
                <a:ea typeface="Consolas" pitchFamily="34" charset="-122"/>
                <a:cs typeface="Consolas" pitchFamily="34" charset="-120"/>
              </a:rPr>
              <a:t>%s</a:t>
            </a:r>
            <a:pPr algn="l" marL="342900" indent="-342900">
              <a:lnSpc>
                <a:spcPct val="132000"/>
              </a:lnSpc>
              <a:buSzPct val="100000"/>
              <a:buChar char="•"/>
            </a:pPr>
            <a:r>
              <a:rPr lang="en-US" sz="950" dirty="0">
                <a:solidFill>
                  <a:srgbClr val="383838"/>
                </a:solidFill>
                <a:latin typeface="DM Sans" pitchFamily="34" charset="0"/>
                <a:ea typeface="DM Sans" pitchFamily="34" charset="-122"/>
                <a:cs typeface="DM Sans" pitchFamily="34" charset="-120"/>
              </a:rPr>
              <a:t> protègent les vues</a:t>
            </a:r>
            <a:endParaRPr lang="en-US" sz="950" dirty="0"/>
          </a:p>
          <a:p>
            <a:pPr algn="l" marL="342900" indent="-342900">
              <a:lnSpc>
                <a:spcPct val="132000"/>
              </a:lnSpc>
              <a:buSzPct val="100000"/>
              <a:buChar char="•"/>
            </a:pPr>
            <a:r>
              <a:rPr lang="en-US" sz="950" dirty="0">
                <a:solidFill>
                  <a:srgbClr val="383838"/>
                </a:solidFill>
                <a:latin typeface="DM Sans" pitchFamily="34" charset="0"/>
                <a:ea typeface="DM Sans" pitchFamily="34" charset="-122"/>
                <a:cs typeface="DM Sans" pitchFamily="34" charset="-120"/>
              </a:rPr>
              <a:t>Données côté client → </a:t>
            </a:r>
            <a:pPr algn="l" marL="342900" indent="-342900">
              <a:lnSpc>
                <a:spcPct val="132000"/>
              </a:lnSpc>
              <a:buSzPct val="100000"/>
              <a:buChar char="•"/>
            </a:pPr>
            <a:r>
              <a:rPr lang="en-US" sz="950" dirty="0">
                <a:solidFill>
                  <a:srgbClr val="383838"/>
                </a:solidFill>
                <a:highlight>
                  <a:srgbClr val="F2F2F2"/>
                </a:highlight>
                <a:latin typeface="Consolas" pitchFamily="34" charset="0"/>
                <a:ea typeface="Consolas" pitchFamily="34" charset="-122"/>
                <a:cs typeface="Consolas" pitchFamily="34" charset="-120"/>
              </a:rPr>
              <a:t>localStorage = 0</a:t>
            </a:r>
            <a:pPr algn="l" marL="342900" indent="-342900">
              <a:lnSpc>
                <a:spcPct val="132000"/>
              </a:lnSpc>
              <a:buSzPct val="100000"/>
              <a:buChar char="•"/>
            </a:pPr>
            <a:r>
              <a:rPr lang="en-US" sz="950" dirty="0">
                <a:solidFill>
                  <a:srgbClr val="383838"/>
                </a:solidFill>
                <a:latin typeface="DM Sans" pitchFamily="34" charset="0"/>
                <a:ea typeface="DM Sans" pitchFamily="34" charset="-122"/>
                <a:cs typeface="DM Sans" pitchFamily="34" charset="-120"/>
              </a:rPr>
              <a:t> · </a:t>
            </a:r>
            <a:pPr algn="l" marL="342900" indent="-342900">
              <a:lnSpc>
                <a:spcPct val="132000"/>
              </a:lnSpc>
              <a:buSzPct val="100000"/>
              <a:buChar char="•"/>
            </a:pPr>
            <a:r>
              <a:rPr lang="en-US" sz="950" dirty="0">
                <a:solidFill>
                  <a:srgbClr val="383838"/>
                </a:solidFill>
                <a:highlight>
                  <a:srgbClr val="F2F2F2"/>
                </a:highlight>
                <a:latin typeface="Consolas" pitchFamily="34" charset="0"/>
                <a:ea typeface="Consolas" pitchFamily="34" charset="-122"/>
                <a:cs typeface="Consolas" pitchFamily="34" charset="-120"/>
              </a:rPr>
              <a:t>sessionStorage = 0</a:t>
            </a:r>
            <a:endParaRPr lang="en-US" sz="950" dirty="0"/>
          </a:p>
          <a:p>
            <a:pPr algn="l" marL="342900" indent="-342900">
              <a:lnSpc>
                <a:spcPct val="132000"/>
              </a:lnSpc>
              <a:buSzPct val="100000"/>
              <a:buChar char="•"/>
            </a:pPr>
            <a:r>
              <a:rPr lang="en-US" sz="950" dirty="0">
                <a:solidFill>
                  <a:srgbClr val="383838"/>
                </a:solidFill>
                <a:latin typeface="DM Sans" pitchFamily="34" charset="0"/>
                <a:ea typeface="DM Sans" pitchFamily="34" charset="-122"/>
                <a:cs typeface="DM Sans" pitchFamily="34" charset="-120"/>
              </a:rPr>
              <a:t>Dépendances à risque élevé → aucune détectée dans l'analyse</a:t>
            </a:r>
            <a:endParaRPr lang="en-US" sz="950" dirty="0"/>
          </a:p>
        </p:txBody>
      </p:sp>
      <p:sp>
        <p:nvSpPr>
          <p:cNvPr id="10" name="Shape 8"/>
          <p:cNvSpPr/>
          <p:nvPr/>
        </p:nvSpPr>
        <p:spPr>
          <a:xfrm>
            <a:off x="4725665" y="3097411"/>
            <a:ext cx="3934718" cy="901378"/>
          </a:xfrm>
          <a:prstGeom prst="roundRect">
            <a:avLst>
              <a:gd name="adj" fmla="val 2032"/>
            </a:avLst>
          </a:prstGeom>
          <a:solidFill>
            <a:srgbClr val="B6FCB8"/>
          </a:solidFill>
          <a:ln/>
        </p:spPr>
      </p:sp>
      <p:pic>
        <p:nvPicPr>
          <p:cNvPr id="11" name="Image 0" descr="preencoded.png">    </p:cNvPr>
          <p:cNvPicPr>
            <a:picLocks noChangeAspect="1"/>
          </p:cNvPicPr>
          <p:nvPr/>
        </p:nvPicPr>
        <p:blipFill>
          <a:blip r:embed="rId2"/>
          <a:stretch>
            <a:fillRect/>
          </a:stretch>
        </p:blipFill>
        <p:spPr>
          <a:xfrm>
            <a:off x="4847704" y="3276526"/>
            <a:ext cx="152623" cy="122039"/>
          </a:xfrm>
          <a:prstGeom prst="rect">
            <a:avLst/>
          </a:prstGeom>
        </p:spPr>
      </p:pic>
      <p:sp>
        <p:nvSpPr>
          <p:cNvPr id="12" name="Text 9"/>
          <p:cNvSpPr/>
          <p:nvPr/>
        </p:nvSpPr>
        <p:spPr>
          <a:xfrm>
            <a:off x="5122366" y="3248099"/>
            <a:ext cx="3415978" cy="581546"/>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000000"/>
                </a:solidFill>
                <a:latin typeface="DM Sans" pitchFamily="34" charset="0"/>
                <a:ea typeface="DM Sans" pitchFamily="34" charset="-122"/>
                <a:cs typeface="DM Sans" pitchFamily="34" charset="-120"/>
              </a:rPr>
              <a:t>L'application résiste correctement aux injections SQL grâce à l'usage de requêtes paramétrées — un point positif à consolider.</a:t>
            </a:r>
            <a:endParaRPr lang="en-US" sz="950" dirty="0"/>
          </a:p>
        </p:txBody>
      </p:sp>
      <p:sp>
        <p:nvSpPr>
          <p:cNvPr id="13" name="Text 10"/>
          <p:cNvSpPr/>
          <p:nvPr/>
        </p:nvSpPr>
        <p:spPr>
          <a:xfrm>
            <a:off x="259779" y="4269209"/>
            <a:ext cx="8395841" cy="193849"/>
          </a:xfrm>
          <a:prstGeom prst="rect">
            <a:avLst/>
          </a:prstGeom>
          <a:noFill/>
          <a:ln/>
        </p:spPr>
        <p:txBody>
          <a:bodyPr wrap="none" lIns="0" tIns="0" rIns="0" bIns="0" rtlCol="0" anchor="t"/>
          <a:lstStyle/>
          <a:p>
            <a:pPr algn="ctr" indent="0" marL="0">
              <a:lnSpc>
                <a:spcPct val="132000"/>
              </a:lnSpc>
              <a:buNone/>
            </a:pPr>
            <a:r>
              <a:rPr lang="en-US" sz="950" dirty="0">
                <a:solidFill>
                  <a:srgbClr val="383838"/>
                </a:solidFill>
                <a:latin typeface="DM Sans" pitchFamily="34" charset="0"/>
                <a:ea typeface="DM Sans" pitchFamily="34" charset="-122"/>
                <a:cs typeface="DM Sans" pitchFamily="34" charset="-120"/>
              </a:rPr>
              <a:t>                                                                                                                </a:t>
            </a:r>
            <a:endParaRPr lang="en-US" sz="950" dirty="0"/>
          </a:p>
        </p:txBody>
      </p:sp>
      <p:sp>
        <p:nvSpPr>
          <p:cNvPr id="14" name="Text 11"/>
          <p:cNvSpPr/>
          <p:nvPr/>
        </p:nvSpPr>
        <p:spPr>
          <a:xfrm>
            <a:off x="488379" y="4598268"/>
            <a:ext cx="8624441" cy="193849"/>
          </a:xfrm>
          <a:prstGeom prst="rect">
            <a:avLst/>
          </a:prstGeom>
          <a:noFill/>
          <a:ln/>
        </p:spPr>
        <p:txBody>
          <a:bodyPr wrap="none" lIns="0" tIns="0" rIns="0" bIns="0" rtlCol="0" anchor="t"/>
          <a:lstStyle/>
          <a:p>
            <a:pPr algn="l" indent="0" marL="0">
              <a:lnSpc>
                <a:spcPct val="132000"/>
              </a:lnSpc>
              <a:buNone/>
            </a:pPr>
            <a:r>
              <a:rPr lang="en-US" sz="950" u="sng" dirty="0">
                <a:solidFill>
                  <a:srgbClr val="E04F00"/>
                </a:solidFill>
                <a:latin typeface="DM Sans" pitchFamily="34" charset="0"/>
                <a:ea typeface="DM Sans" pitchFamily="34" charset="-122"/>
                <a:cs typeface="DM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Rapport PDF</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50912" y="319608"/>
            <a:ext cx="495523" cy="177998"/>
          </a:xfrm>
          <a:prstGeom prst="roundRect">
            <a:avLst>
              <a:gd name="adj" fmla="val 6533"/>
            </a:avLst>
          </a:prstGeom>
          <a:noFill/>
          <a:ln w="4763">
            <a:solidFill>
              <a:srgbClr val="E04F00"/>
            </a:solidFill>
            <a:prstDash val="solid"/>
          </a:ln>
        </p:spPr>
      </p:sp>
      <p:sp>
        <p:nvSpPr>
          <p:cNvPr id="3" name="Text 1"/>
          <p:cNvSpPr/>
          <p:nvPr/>
        </p:nvSpPr>
        <p:spPr>
          <a:xfrm>
            <a:off x="813792" y="353392"/>
            <a:ext cx="826963" cy="110430"/>
          </a:xfrm>
          <a:prstGeom prst="rect">
            <a:avLst/>
          </a:prstGeom>
          <a:noFill/>
          <a:ln/>
        </p:spPr>
        <p:txBody>
          <a:bodyPr wrap="none" lIns="0" tIns="0" rIns="0" bIns="0" rtlCol="0" anchor="t"/>
          <a:lstStyle/>
          <a:p>
            <a:pPr algn="l" indent="0" marL="0">
              <a:lnSpc>
                <a:spcPct val="119000"/>
              </a:lnSpc>
              <a:buNone/>
            </a:pPr>
            <a:r>
              <a:rPr lang="en-US" sz="600" dirty="0">
                <a:solidFill>
                  <a:srgbClr val="E04F00"/>
                </a:solidFill>
                <a:latin typeface="DM Sans" pitchFamily="34" charset="0"/>
                <a:ea typeface="DM Sans" pitchFamily="34" charset="-122"/>
                <a:cs typeface="DM Sans" pitchFamily="34" charset="-120"/>
              </a:rPr>
              <a:t>SYNTHÈSE</a:t>
            </a:r>
            <a:endParaRPr lang="en-US" sz="600" dirty="0"/>
          </a:p>
        </p:txBody>
      </p:sp>
      <p:sp>
        <p:nvSpPr>
          <p:cNvPr id="4" name="Text 2"/>
          <p:cNvSpPr/>
          <p:nvPr/>
        </p:nvSpPr>
        <p:spPr>
          <a:xfrm>
            <a:off x="750912" y="527819"/>
            <a:ext cx="6573738" cy="317971"/>
          </a:xfrm>
          <a:prstGeom prst="rect">
            <a:avLst/>
          </a:prstGeom>
          <a:noFill/>
          <a:ln/>
        </p:spPr>
        <p:txBody>
          <a:bodyPr wrap="none" lIns="0" tIns="0" rIns="0" bIns="0" rtlCol="0" anchor="t"/>
          <a:lstStyle/>
          <a:p>
            <a:pPr algn="l" indent="0" marL="0">
              <a:lnSpc>
                <a:spcPct val="104000"/>
              </a:lnSpc>
              <a:buNone/>
            </a:pPr>
            <a:r>
              <a:rPr lang="en-US" sz="2000" dirty="0">
                <a:solidFill>
                  <a:srgbClr val="020202"/>
                </a:solidFill>
                <a:latin typeface="PT Serif" pitchFamily="34" charset="0"/>
                <a:ea typeface="PT Serif" pitchFamily="34" charset="-122"/>
                <a:cs typeface="PT Serif" pitchFamily="34" charset="-120"/>
              </a:rPr>
              <a:t>Synthèse CVSS &amp; Mapping OWASP Top 10 — 30 failles</a:t>
            </a:r>
            <a:endParaRPr lang="en-US" sz="2000" dirty="0"/>
          </a:p>
        </p:txBody>
      </p:sp>
      <p:sp>
        <p:nvSpPr>
          <p:cNvPr id="5" name="Shape 3"/>
          <p:cNvSpPr/>
          <p:nvPr/>
        </p:nvSpPr>
        <p:spPr>
          <a:xfrm>
            <a:off x="750912" y="959346"/>
            <a:ext cx="7642101" cy="2631356"/>
          </a:xfrm>
          <a:prstGeom prst="roundRect">
            <a:avLst>
              <a:gd name="adj" fmla="val 552"/>
            </a:avLst>
          </a:prstGeom>
          <a:noFill/>
          <a:ln w="4763">
            <a:solidFill>
              <a:srgbClr val="000000">
                <a:alpha val="8000"/>
              </a:srgbClr>
            </a:solidFill>
            <a:prstDash val="solid"/>
          </a:ln>
        </p:spPr>
      </p:sp>
      <p:sp>
        <p:nvSpPr>
          <p:cNvPr id="6" name="Shape 4"/>
          <p:cNvSpPr/>
          <p:nvPr/>
        </p:nvSpPr>
        <p:spPr>
          <a:xfrm>
            <a:off x="755675" y="964109"/>
            <a:ext cx="6716613" cy="238348"/>
          </a:xfrm>
          <a:prstGeom prst="rect">
            <a:avLst/>
          </a:prstGeom>
          <a:solidFill>
            <a:srgbClr val="FFFFFF">
              <a:alpha val="4000"/>
            </a:srgbClr>
          </a:solidFill>
          <a:ln/>
        </p:spPr>
      </p:sp>
      <p:sp>
        <p:nvSpPr>
          <p:cNvPr id="7" name="Text 5"/>
          <p:cNvSpPr/>
          <p:nvPr/>
        </p:nvSpPr>
        <p:spPr>
          <a:xfrm>
            <a:off x="1658764" y="1014264"/>
            <a:ext cx="798314" cy="138038"/>
          </a:xfrm>
          <a:prstGeom prst="rect">
            <a:avLst/>
          </a:prstGeom>
          <a:noFill/>
          <a:ln/>
        </p:spPr>
        <p:txBody>
          <a:bodyPr wrap="none" lIns="0" tIns="0" rIns="0" bIns="0" rtlCol="0" anchor="t"/>
          <a:lstStyle/>
          <a:p>
            <a:pPr algn="l" indent="0" marL="0">
              <a:lnSpc>
                <a:spcPct val="119000"/>
              </a:lnSpc>
              <a:buNone/>
            </a:pPr>
            <a:r>
              <a:rPr lang="en-US" sz="750" b="1" dirty="0">
                <a:solidFill>
                  <a:srgbClr val="383838"/>
                </a:solidFill>
                <a:latin typeface="DM Sans" pitchFamily="34" charset="0"/>
                <a:ea typeface="DM Sans" pitchFamily="34" charset="-122"/>
                <a:cs typeface="DM Sans" pitchFamily="34" charset="-120"/>
              </a:rPr>
              <a:t>ID</a:t>
            </a:r>
            <a:endParaRPr lang="en-US" sz="750" dirty="0"/>
          </a:p>
        </p:txBody>
      </p:sp>
      <p:sp>
        <p:nvSpPr>
          <p:cNvPr id="8" name="Text 6"/>
          <p:cNvSpPr/>
          <p:nvPr/>
        </p:nvSpPr>
        <p:spPr>
          <a:xfrm>
            <a:off x="2198415" y="1014264"/>
            <a:ext cx="2139255" cy="138038"/>
          </a:xfrm>
          <a:prstGeom prst="rect">
            <a:avLst/>
          </a:prstGeom>
          <a:noFill/>
          <a:ln/>
        </p:spPr>
        <p:txBody>
          <a:bodyPr wrap="none" lIns="0" tIns="0" rIns="0" bIns="0" rtlCol="0" anchor="t"/>
          <a:lstStyle/>
          <a:p>
            <a:pPr algn="l" indent="0" marL="0">
              <a:lnSpc>
                <a:spcPct val="119000"/>
              </a:lnSpc>
              <a:buNone/>
            </a:pPr>
            <a:r>
              <a:rPr lang="en-US" sz="750" b="1" dirty="0">
                <a:solidFill>
                  <a:srgbClr val="383838"/>
                </a:solidFill>
                <a:latin typeface="DM Sans" pitchFamily="34" charset="0"/>
                <a:ea typeface="DM Sans" pitchFamily="34" charset="-122"/>
                <a:cs typeface="DM Sans" pitchFamily="34" charset="-120"/>
              </a:rPr>
              <a:t>Faille</a:t>
            </a:r>
            <a:endParaRPr lang="en-US" sz="750" dirty="0"/>
          </a:p>
        </p:txBody>
      </p:sp>
      <p:sp>
        <p:nvSpPr>
          <p:cNvPr id="9" name="Text 7"/>
          <p:cNvSpPr/>
          <p:nvPr/>
        </p:nvSpPr>
        <p:spPr>
          <a:xfrm>
            <a:off x="4079007" y="1014264"/>
            <a:ext cx="1601986" cy="138038"/>
          </a:xfrm>
          <a:prstGeom prst="rect">
            <a:avLst/>
          </a:prstGeom>
          <a:noFill/>
          <a:ln/>
        </p:spPr>
        <p:txBody>
          <a:bodyPr wrap="none" lIns="0" tIns="0" rIns="0" bIns="0" rtlCol="0" anchor="t"/>
          <a:lstStyle/>
          <a:p>
            <a:pPr algn="l" indent="0" marL="0">
              <a:lnSpc>
                <a:spcPct val="119000"/>
              </a:lnSpc>
              <a:buNone/>
            </a:pPr>
            <a:r>
              <a:rPr lang="en-US" sz="750" b="1" dirty="0">
                <a:solidFill>
                  <a:srgbClr val="383838"/>
                </a:solidFill>
                <a:latin typeface="DM Sans" pitchFamily="34" charset="0"/>
                <a:ea typeface="DM Sans" pitchFamily="34" charset="-122"/>
                <a:cs typeface="DM Sans" pitchFamily="34" charset="-120"/>
              </a:rPr>
              <a:t>Source</a:t>
            </a:r>
            <a:endParaRPr lang="en-US" sz="750" dirty="0"/>
          </a:p>
        </p:txBody>
      </p:sp>
      <p:sp>
        <p:nvSpPr>
          <p:cNvPr id="10" name="Text 8"/>
          <p:cNvSpPr/>
          <p:nvPr/>
        </p:nvSpPr>
        <p:spPr>
          <a:xfrm>
            <a:off x="5422329" y="1014264"/>
            <a:ext cx="1467594" cy="138038"/>
          </a:xfrm>
          <a:prstGeom prst="rect">
            <a:avLst/>
          </a:prstGeom>
          <a:noFill/>
          <a:ln/>
        </p:spPr>
        <p:txBody>
          <a:bodyPr wrap="none" lIns="0" tIns="0" rIns="0" bIns="0" rtlCol="0" anchor="t"/>
          <a:lstStyle/>
          <a:p>
            <a:pPr algn="l" indent="0" marL="0">
              <a:lnSpc>
                <a:spcPct val="119000"/>
              </a:lnSpc>
              <a:buNone/>
            </a:pPr>
            <a:r>
              <a:rPr lang="en-US" sz="750" b="1" dirty="0">
                <a:solidFill>
                  <a:srgbClr val="383838"/>
                </a:solidFill>
                <a:latin typeface="DM Sans" pitchFamily="34" charset="0"/>
                <a:ea typeface="DM Sans" pitchFamily="34" charset="-122"/>
                <a:cs typeface="DM Sans" pitchFamily="34" charset="-120"/>
              </a:rPr>
              <a:t>OWASP 2025</a:t>
            </a:r>
            <a:endParaRPr lang="en-US" sz="750" dirty="0"/>
          </a:p>
        </p:txBody>
      </p:sp>
      <p:sp>
        <p:nvSpPr>
          <p:cNvPr id="11" name="Text 9"/>
          <p:cNvSpPr/>
          <p:nvPr/>
        </p:nvSpPr>
        <p:spPr>
          <a:xfrm>
            <a:off x="6631260" y="1014264"/>
            <a:ext cx="1201341" cy="138038"/>
          </a:xfrm>
          <a:prstGeom prst="rect">
            <a:avLst/>
          </a:prstGeom>
          <a:noFill/>
          <a:ln/>
        </p:spPr>
        <p:txBody>
          <a:bodyPr wrap="none" lIns="0" tIns="0" rIns="0" bIns="0" rtlCol="0" anchor="t"/>
          <a:lstStyle/>
          <a:p>
            <a:pPr algn="l" indent="0" marL="0">
              <a:lnSpc>
                <a:spcPct val="119000"/>
              </a:lnSpc>
              <a:buNone/>
            </a:pPr>
            <a:r>
              <a:rPr lang="en-US" sz="750" b="1" dirty="0">
                <a:solidFill>
                  <a:srgbClr val="383838"/>
                </a:solidFill>
                <a:latin typeface="DM Sans" pitchFamily="34" charset="0"/>
                <a:ea typeface="DM Sans" pitchFamily="34" charset="-122"/>
                <a:cs typeface="DM Sans" pitchFamily="34" charset="-120"/>
              </a:rPr>
              <a:t>CVSS</a:t>
            </a:r>
            <a:endParaRPr lang="en-US" sz="750" dirty="0"/>
          </a:p>
        </p:txBody>
      </p:sp>
      <p:sp>
        <p:nvSpPr>
          <p:cNvPr id="12" name="Shape 10"/>
          <p:cNvSpPr/>
          <p:nvPr/>
        </p:nvSpPr>
        <p:spPr>
          <a:xfrm>
            <a:off x="755675" y="1202457"/>
            <a:ext cx="6716613" cy="238348"/>
          </a:xfrm>
          <a:prstGeom prst="rect">
            <a:avLst/>
          </a:prstGeom>
          <a:solidFill>
            <a:srgbClr val="000000">
              <a:alpha val="4000"/>
            </a:srgbClr>
          </a:solidFill>
          <a:ln/>
        </p:spPr>
      </p:sp>
      <p:sp>
        <p:nvSpPr>
          <p:cNvPr id="13" name="Text 11"/>
          <p:cNvSpPr/>
          <p:nvPr/>
        </p:nvSpPr>
        <p:spPr>
          <a:xfrm>
            <a:off x="1658764" y="1252612"/>
            <a:ext cx="79831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F-02</a:t>
            </a:r>
            <a:endParaRPr lang="en-US" sz="750" dirty="0"/>
          </a:p>
        </p:txBody>
      </p:sp>
      <p:sp>
        <p:nvSpPr>
          <p:cNvPr id="14" name="Text 12"/>
          <p:cNvSpPr/>
          <p:nvPr/>
        </p:nvSpPr>
        <p:spPr>
          <a:xfrm>
            <a:off x="2198415" y="1252612"/>
            <a:ext cx="2139255"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Password DB en clair</a:t>
            </a:r>
            <a:endParaRPr lang="en-US" sz="750" dirty="0"/>
          </a:p>
        </p:txBody>
      </p:sp>
      <p:sp>
        <p:nvSpPr>
          <p:cNvPr id="15" name="Text 13"/>
          <p:cNvSpPr/>
          <p:nvPr/>
        </p:nvSpPr>
        <p:spPr>
          <a:xfrm>
            <a:off x="4079007" y="1252612"/>
            <a:ext cx="1601986"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Code</a:t>
            </a:r>
            <a:endParaRPr lang="en-US" sz="750" dirty="0"/>
          </a:p>
        </p:txBody>
      </p:sp>
      <p:sp>
        <p:nvSpPr>
          <p:cNvPr id="16" name="Text 14"/>
          <p:cNvSpPr/>
          <p:nvPr/>
        </p:nvSpPr>
        <p:spPr>
          <a:xfrm>
            <a:off x="5422329" y="1252612"/>
            <a:ext cx="146759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A02 — Crypto</a:t>
            </a:r>
            <a:endParaRPr lang="en-US" sz="750" dirty="0"/>
          </a:p>
        </p:txBody>
      </p:sp>
      <p:sp>
        <p:nvSpPr>
          <p:cNvPr id="17" name="Text 15"/>
          <p:cNvSpPr/>
          <p:nvPr/>
        </p:nvSpPr>
        <p:spPr>
          <a:xfrm>
            <a:off x="6631260" y="1252612"/>
            <a:ext cx="1201341" cy="138038"/>
          </a:xfrm>
          <a:prstGeom prst="rect">
            <a:avLst/>
          </a:prstGeom>
          <a:noFill/>
          <a:ln/>
        </p:spPr>
        <p:txBody>
          <a:bodyPr wrap="none" lIns="0" tIns="0" rIns="0" bIns="0" rtlCol="0" anchor="t"/>
          <a:lstStyle/>
          <a:p>
            <a:pPr algn="l" indent="0" marL="0">
              <a:lnSpc>
                <a:spcPct val="119000"/>
              </a:lnSpc>
              <a:buNone/>
            </a:pPr>
            <a:r>
              <a:rPr lang="en-US" sz="750" dirty="0">
                <a:solidFill>
                  <a:srgbClr val="E04F00"/>
                </a:solidFill>
                <a:latin typeface="DM Sans" pitchFamily="34" charset="0"/>
                <a:ea typeface="DM Sans" pitchFamily="34" charset="-122"/>
                <a:cs typeface="DM Sans" pitchFamily="34" charset="-120"/>
              </a:rPr>
              <a:t>9.8 </a:t>
            </a:r>
            <a:pPr algn="l" indent="0" marL="0">
              <a:lnSpc>
                <a:spcPct val="119000"/>
              </a:lnSpc>
              <a:buNone/>
            </a:pPr>
            <a:r>
              <a:rPr lang="en-US" sz="750" dirty="0">
                <a:solidFill>
                  <a:srgbClr val="000000"/>
                </a:solidFill>
                <a:latin typeface="DM Sans" pitchFamily="34" charset="0"/>
                <a:ea typeface="DM Sans" pitchFamily="34" charset="-122"/>
                <a:cs typeface="DM Sans" pitchFamily="34" charset="-120"/>
              </a:rPr>
              <a:t>🔴</a:t>
            </a:r>
            <a:endParaRPr lang="en-US" sz="750" dirty="0"/>
          </a:p>
        </p:txBody>
      </p:sp>
      <p:sp>
        <p:nvSpPr>
          <p:cNvPr id="18" name="Shape 16"/>
          <p:cNvSpPr/>
          <p:nvPr/>
        </p:nvSpPr>
        <p:spPr>
          <a:xfrm>
            <a:off x="755675" y="1440805"/>
            <a:ext cx="6716613" cy="238348"/>
          </a:xfrm>
          <a:prstGeom prst="rect">
            <a:avLst/>
          </a:prstGeom>
          <a:solidFill>
            <a:srgbClr val="FFFFFF">
              <a:alpha val="4000"/>
            </a:srgbClr>
          </a:solidFill>
          <a:ln/>
        </p:spPr>
      </p:sp>
      <p:sp>
        <p:nvSpPr>
          <p:cNvPr id="19" name="Text 17"/>
          <p:cNvSpPr/>
          <p:nvPr/>
        </p:nvSpPr>
        <p:spPr>
          <a:xfrm>
            <a:off x="1658764" y="1490960"/>
            <a:ext cx="79831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F-01</a:t>
            </a:r>
            <a:endParaRPr lang="en-US" sz="750" dirty="0"/>
          </a:p>
        </p:txBody>
      </p:sp>
      <p:sp>
        <p:nvSpPr>
          <p:cNvPr id="20" name="Text 18"/>
          <p:cNvSpPr/>
          <p:nvPr/>
        </p:nvSpPr>
        <p:spPr>
          <a:xfrm>
            <a:off x="2198415" y="1490960"/>
            <a:ext cx="2139255"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SECRET_KEY hardcodée</a:t>
            </a:r>
            <a:endParaRPr lang="en-US" sz="750" dirty="0"/>
          </a:p>
        </p:txBody>
      </p:sp>
      <p:sp>
        <p:nvSpPr>
          <p:cNvPr id="21" name="Text 19"/>
          <p:cNvSpPr/>
          <p:nvPr/>
        </p:nvSpPr>
        <p:spPr>
          <a:xfrm>
            <a:off x="4079007" y="1490960"/>
            <a:ext cx="1601986"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Code / Sonar</a:t>
            </a:r>
            <a:endParaRPr lang="en-US" sz="750" dirty="0"/>
          </a:p>
        </p:txBody>
      </p:sp>
      <p:sp>
        <p:nvSpPr>
          <p:cNvPr id="22" name="Text 20"/>
          <p:cNvSpPr/>
          <p:nvPr/>
        </p:nvSpPr>
        <p:spPr>
          <a:xfrm>
            <a:off x="5422329" y="1490960"/>
            <a:ext cx="146759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A02 — Crypto</a:t>
            </a:r>
            <a:endParaRPr lang="en-US" sz="750" dirty="0"/>
          </a:p>
        </p:txBody>
      </p:sp>
      <p:sp>
        <p:nvSpPr>
          <p:cNvPr id="23" name="Text 21"/>
          <p:cNvSpPr/>
          <p:nvPr/>
        </p:nvSpPr>
        <p:spPr>
          <a:xfrm>
            <a:off x="6631260" y="1490960"/>
            <a:ext cx="1201341" cy="138038"/>
          </a:xfrm>
          <a:prstGeom prst="rect">
            <a:avLst/>
          </a:prstGeom>
          <a:noFill/>
          <a:ln/>
        </p:spPr>
        <p:txBody>
          <a:bodyPr wrap="none" lIns="0" tIns="0" rIns="0" bIns="0" rtlCol="0" anchor="t"/>
          <a:lstStyle/>
          <a:p>
            <a:pPr algn="l" indent="0" marL="0">
              <a:lnSpc>
                <a:spcPct val="119000"/>
              </a:lnSpc>
              <a:buNone/>
            </a:pPr>
            <a:r>
              <a:rPr lang="en-US" sz="750" dirty="0">
                <a:solidFill>
                  <a:srgbClr val="E04F00"/>
                </a:solidFill>
                <a:latin typeface="DM Sans" pitchFamily="34" charset="0"/>
                <a:ea typeface="DM Sans" pitchFamily="34" charset="-122"/>
                <a:cs typeface="DM Sans" pitchFamily="34" charset="-120"/>
              </a:rPr>
              <a:t>9.1 </a:t>
            </a:r>
            <a:pPr algn="l" indent="0" marL="0">
              <a:lnSpc>
                <a:spcPct val="119000"/>
              </a:lnSpc>
              <a:buNone/>
            </a:pPr>
            <a:r>
              <a:rPr lang="en-US" sz="750" dirty="0">
                <a:solidFill>
                  <a:srgbClr val="000000"/>
                </a:solidFill>
                <a:latin typeface="DM Sans" pitchFamily="34" charset="0"/>
                <a:ea typeface="DM Sans" pitchFamily="34" charset="-122"/>
                <a:cs typeface="DM Sans" pitchFamily="34" charset="-120"/>
              </a:rPr>
              <a:t>🔴</a:t>
            </a:r>
            <a:endParaRPr lang="en-US" sz="750" dirty="0"/>
          </a:p>
        </p:txBody>
      </p:sp>
      <p:sp>
        <p:nvSpPr>
          <p:cNvPr id="24" name="Shape 22"/>
          <p:cNvSpPr/>
          <p:nvPr/>
        </p:nvSpPr>
        <p:spPr>
          <a:xfrm>
            <a:off x="755675" y="1679153"/>
            <a:ext cx="6716613" cy="238348"/>
          </a:xfrm>
          <a:prstGeom prst="rect">
            <a:avLst/>
          </a:prstGeom>
          <a:solidFill>
            <a:srgbClr val="000000">
              <a:alpha val="4000"/>
            </a:srgbClr>
          </a:solidFill>
          <a:ln/>
        </p:spPr>
      </p:sp>
      <p:sp>
        <p:nvSpPr>
          <p:cNvPr id="25" name="Text 23"/>
          <p:cNvSpPr/>
          <p:nvPr/>
        </p:nvSpPr>
        <p:spPr>
          <a:xfrm>
            <a:off x="1658764" y="1729308"/>
            <a:ext cx="79831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F-03</a:t>
            </a:r>
            <a:endParaRPr lang="en-US" sz="750" dirty="0"/>
          </a:p>
        </p:txBody>
      </p:sp>
      <p:sp>
        <p:nvSpPr>
          <p:cNvPr id="26" name="Text 24"/>
          <p:cNvSpPr/>
          <p:nvPr/>
        </p:nvSpPr>
        <p:spPr>
          <a:xfrm>
            <a:off x="2198415" y="1729308"/>
            <a:ext cx="2139255"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@csrf_exempt sur LOAN</a:t>
            </a:r>
            <a:endParaRPr lang="en-US" sz="750" dirty="0"/>
          </a:p>
        </p:txBody>
      </p:sp>
      <p:sp>
        <p:nvSpPr>
          <p:cNvPr id="27" name="Text 25"/>
          <p:cNvSpPr/>
          <p:nvPr/>
        </p:nvSpPr>
        <p:spPr>
          <a:xfrm>
            <a:off x="4079007" y="1729308"/>
            <a:ext cx="1601986"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Code</a:t>
            </a:r>
            <a:endParaRPr lang="en-US" sz="750" dirty="0"/>
          </a:p>
        </p:txBody>
      </p:sp>
      <p:sp>
        <p:nvSpPr>
          <p:cNvPr id="28" name="Text 26"/>
          <p:cNvSpPr/>
          <p:nvPr/>
        </p:nvSpPr>
        <p:spPr>
          <a:xfrm>
            <a:off x="5422329" y="1729308"/>
            <a:ext cx="146759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A01 — Access Control</a:t>
            </a:r>
            <a:endParaRPr lang="en-US" sz="750" dirty="0"/>
          </a:p>
        </p:txBody>
      </p:sp>
      <p:sp>
        <p:nvSpPr>
          <p:cNvPr id="29" name="Text 27"/>
          <p:cNvSpPr/>
          <p:nvPr/>
        </p:nvSpPr>
        <p:spPr>
          <a:xfrm>
            <a:off x="6631260" y="1729308"/>
            <a:ext cx="1201341" cy="138038"/>
          </a:xfrm>
          <a:prstGeom prst="rect">
            <a:avLst/>
          </a:prstGeom>
          <a:noFill/>
          <a:ln/>
        </p:spPr>
        <p:txBody>
          <a:bodyPr wrap="none" lIns="0" tIns="0" rIns="0" bIns="0" rtlCol="0" anchor="t"/>
          <a:lstStyle/>
          <a:p>
            <a:pPr algn="l" indent="0" marL="0">
              <a:lnSpc>
                <a:spcPct val="119000"/>
              </a:lnSpc>
              <a:buNone/>
            </a:pPr>
            <a:r>
              <a:rPr lang="en-US" sz="750" dirty="0">
                <a:solidFill>
                  <a:srgbClr val="E04F00"/>
                </a:solidFill>
                <a:latin typeface="DM Sans" pitchFamily="34" charset="0"/>
                <a:ea typeface="DM Sans" pitchFamily="34" charset="-122"/>
                <a:cs typeface="DM Sans" pitchFamily="34" charset="-120"/>
              </a:rPr>
              <a:t>8.8 </a:t>
            </a:r>
            <a:pPr algn="l" indent="0" marL="0">
              <a:lnSpc>
                <a:spcPct val="119000"/>
              </a:lnSpc>
              <a:buNone/>
            </a:pPr>
            <a:r>
              <a:rPr lang="en-US" sz="750" dirty="0">
                <a:solidFill>
                  <a:srgbClr val="000000"/>
                </a:solidFill>
                <a:latin typeface="DM Sans" pitchFamily="34" charset="0"/>
                <a:ea typeface="DM Sans" pitchFamily="34" charset="-122"/>
                <a:cs typeface="DM Sans" pitchFamily="34" charset="-120"/>
              </a:rPr>
              <a:t>🔴</a:t>
            </a:r>
            <a:endParaRPr lang="en-US" sz="750" dirty="0"/>
          </a:p>
        </p:txBody>
      </p:sp>
      <p:sp>
        <p:nvSpPr>
          <p:cNvPr id="30" name="Shape 28"/>
          <p:cNvSpPr/>
          <p:nvPr/>
        </p:nvSpPr>
        <p:spPr>
          <a:xfrm>
            <a:off x="755675" y="1917502"/>
            <a:ext cx="6716613" cy="238348"/>
          </a:xfrm>
          <a:prstGeom prst="rect">
            <a:avLst/>
          </a:prstGeom>
          <a:solidFill>
            <a:srgbClr val="FFFFFF">
              <a:alpha val="4000"/>
            </a:srgbClr>
          </a:solidFill>
          <a:ln/>
        </p:spPr>
      </p:sp>
      <p:sp>
        <p:nvSpPr>
          <p:cNvPr id="31" name="Text 29"/>
          <p:cNvSpPr/>
          <p:nvPr/>
        </p:nvSpPr>
        <p:spPr>
          <a:xfrm>
            <a:off x="1658764" y="1967657"/>
            <a:ext cx="79831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F-09</a:t>
            </a:r>
            <a:endParaRPr lang="en-US" sz="750" dirty="0"/>
          </a:p>
        </p:txBody>
      </p:sp>
      <p:sp>
        <p:nvSpPr>
          <p:cNvPr id="32" name="Text 30"/>
          <p:cNvSpPr/>
          <p:nvPr/>
        </p:nvSpPr>
        <p:spPr>
          <a:xfrm>
            <a:off x="2198415" y="1967657"/>
            <a:ext cx="2139255"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add_book sans contrôle rôle</a:t>
            </a:r>
            <a:endParaRPr lang="en-US" sz="750" dirty="0"/>
          </a:p>
        </p:txBody>
      </p:sp>
      <p:sp>
        <p:nvSpPr>
          <p:cNvPr id="33" name="Text 31"/>
          <p:cNvSpPr/>
          <p:nvPr/>
        </p:nvSpPr>
        <p:spPr>
          <a:xfrm>
            <a:off x="4079007" y="1967657"/>
            <a:ext cx="1601986"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Pentest</a:t>
            </a:r>
            <a:endParaRPr lang="en-US" sz="750" dirty="0"/>
          </a:p>
        </p:txBody>
      </p:sp>
      <p:sp>
        <p:nvSpPr>
          <p:cNvPr id="34" name="Text 32"/>
          <p:cNvSpPr/>
          <p:nvPr/>
        </p:nvSpPr>
        <p:spPr>
          <a:xfrm>
            <a:off x="5422329" y="1967657"/>
            <a:ext cx="146759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A01 — Access Control</a:t>
            </a:r>
            <a:endParaRPr lang="en-US" sz="750" dirty="0"/>
          </a:p>
        </p:txBody>
      </p:sp>
      <p:sp>
        <p:nvSpPr>
          <p:cNvPr id="35" name="Text 33"/>
          <p:cNvSpPr/>
          <p:nvPr/>
        </p:nvSpPr>
        <p:spPr>
          <a:xfrm>
            <a:off x="6631260" y="1967657"/>
            <a:ext cx="1201341" cy="138038"/>
          </a:xfrm>
          <a:prstGeom prst="rect">
            <a:avLst/>
          </a:prstGeom>
          <a:noFill/>
          <a:ln/>
        </p:spPr>
        <p:txBody>
          <a:bodyPr wrap="none" lIns="0" tIns="0" rIns="0" bIns="0" rtlCol="0" anchor="t"/>
          <a:lstStyle/>
          <a:p>
            <a:pPr algn="l" indent="0" marL="0">
              <a:lnSpc>
                <a:spcPct val="119000"/>
              </a:lnSpc>
              <a:buNone/>
            </a:pPr>
            <a:r>
              <a:rPr lang="en-US" sz="750" dirty="0">
                <a:solidFill>
                  <a:srgbClr val="E04F00"/>
                </a:solidFill>
                <a:latin typeface="DM Sans" pitchFamily="34" charset="0"/>
                <a:ea typeface="DM Sans" pitchFamily="34" charset="-122"/>
                <a:cs typeface="DM Sans" pitchFamily="34" charset="-120"/>
              </a:rPr>
              <a:t>8.1 </a:t>
            </a:r>
            <a:pPr algn="l" indent="0" marL="0">
              <a:lnSpc>
                <a:spcPct val="119000"/>
              </a:lnSpc>
              <a:buNone/>
            </a:pPr>
            <a:r>
              <a:rPr lang="en-US" sz="750" dirty="0">
                <a:solidFill>
                  <a:srgbClr val="000000"/>
                </a:solidFill>
                <a:latin typeface="DM Sans" pitchFamily="34" charset="0"/>
                <a:ea typeface="DM Sans" pitchFamily="34" charset="-122"/>
                <a:cs typeface="DM Sans" pitchFamily="34" charset="-120"/>
              </a:rPr>
              <a:t>🔴</a:t>
            </a:r>
            <a:endParaRPr lang="en-US" sz="750" dirty="0"/>
          </a:p>
        </p:txBody>
      </p:sp>
      <p:sp>
        <p:nvSpPr>
          <p:cNvPr id="36" name="Shape 34"/>
          <p:cNvSpPr/>
          <p:nvPr/>
        </p:nvSpPr>
        <p:spPr>
          <a:xfrm>
            <a:off x="755675" y="2155850"/>
            <a:ext cx="6716613" cy="238348"/>
          </a:xfrm>
          <a:prstGeom prst="rect">
            <a:avLst/>
          </a:prstGeom>
          <a:solidFill>
            <a:srgbClr val="000000">
              <a:alpha val="4000"/>
            </a:srgbClr>
          </a:solidFill>
          <a:ln/>
        </p:spPr>
      </p:sp>
      <p:sp>
        <p:nvSpPr>
          <p:cNvPr id="37" name="Text 35"/>
          <p:cNvSpPr/>
          <p:nvPr/>
        </p:nvSpPr>
        <p:spPr>
          <a:xfrm>
            <a:off x="1658764" y="2206005"/>
            <a:ext cx="79831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F-05</a:t>
            </a:r>
            <a:endParaRPr lang="en-US" sz="750" dirty="0"/>
          </a:p>
        </p:txBody>
      </p:sp>
      <p:sp>
        <p:nvSpPr>
          <p:cNvPr id="38" name="Text 36"/>
          <p:cNvSpPr/>
          <p:nvPr/>
        </p:nvSpPr>
        <p:spPr>
          <a:xfrm>
            <a:off x="2198415" y="2206005"/>
            <a:ext cx="2139255"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DEBUG=True + traceback</a:t>
            </a:r>
            <a:endParaRPr lang="en-US" sz="750" dirty="0"/>
          </a:p>
        </p:txBody>
      </p:sp>
      <p:sp>
        <p:nvSpPr>
          <p:cNvPr id="39" name="Text 37"/>
          <p:cNvSpPr/>
          <p:nvPr/>
        </p:nvSpPr>
        <p:spPr>
          <a:xfrm>
            <a:off x="4079007" y="2206005"/>
            <a:ext cx="1601986"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Sonar / DAST</a:t>
            </a:r>
            <a:endParaRPr lang="en-US" sz="750" dirty="0"/>
          </a:p>
        </p:txBody>
      </p:sp>
      <p:sp>
        <p:nvSpPr>
          <p:cNvPr id="40" name="Text 38"/>
          <p:cNvSpPr/>
          <p:nvPr/>
        </p:nvSpPr>
        <p:spPr>
          <a:xfrm>
            <a:off x="5422329" y="2206005"/>
            <a:ext cx="146759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A05 — Misconfig.</a:t>
            </a:r>
            <a:endParaRPr lang="en-US" sz="750" dirty="0"/>
          </a:p>
        </p:txBody>
      </p:sp>
      <p:sp>
        <p:nvSpPr>
          <p:cNvPr id="41" name="Text 39"/>
          <p:cNvSpPr/>
          <p:nvPr/>
        </p:nvSpPr>
        <p:spPr>
          <a:xfrm>
            <a:off x="6631260" y="2206005"/>
            <a:ext cx="1201341" cy="138038"/>
          </a:xfrm>
          <a:prstGeom prst="rect">
            <a:avLst/>
          </a:prstGeom>
          <a:noFill/>
          <a:ln/>
        </p:spPr>
        <p:txBody>
          <a:bodyPr wrap="none" lIns="0" tIns="0" rIns="0" bIns="0" rtlCol="0" anchor="t"/>
          <a:lstStyle/>
          <a:p>
            <a:pPr algn="l" indent="0" marL="0">
              <a:lnSpc>
                <a:spcPct val="119000"/>
              </a:lnSpc>
              <a:buNone/>
            </a:pPr>
            <a:r>
              <a:rPr lang="en-US" sz="750" dirty="0">
                <a:solidFill>
                  <a:srgbClr val="E04F00"/>
                </a:solidFill>
                <a:latin typeface="DM Sans" pitchFamily="34" charset="0"/>
                <a:ea typeface="DM Sans" pitchFamily="34" charset="-122"/>
                <a:cs typeface="DM Sans" pitchFamily="34" charset="-120"/>
              </a:rPr>
              <a:t>7.5 </a:t>
            </a:r>
            <a:pPr algn="l" indent="0" marL="0">
              <a:lnSpc>
                <a:spcPct val="119000"/>
              </a:lnSpc>
              <a:buNone/>
            </a:pPr>
            <a:r>
              <a:rPr lang="en-US" sz="750" dirty="0">
                <a:solidFill>
                  <a:srgbClr val="000000"/>
                </a:solidFill>
                <a:latin typeface="DM Sans" pitchFamily="34" charset="0"/>
                <a:ea typeface="DM Sans" pitchFamily="34" charset="-122"/>
                <a:cs typeface="DM Sans" pitchFamily="34" charset="-120"/>
              </a:rPr>
              <a:t>🔴</a:t>
            </a:r>
            <a:endParaRPr lang="en-US" sz="750" dirty="0"/>
          </a:p>
        </p:txBody>
      </p:sp>
      <p:sp>
        <p:nvSpPr>
          <p:cNvPr id="42" name="Shape 40"/>
          <p:cNvSpPr/>
          <p:nvPr/>
        </p:nvSpPr>
        <p:spPr>
          <a:xfrm>
            <a:off x="755675" y="2394198"/>
            <a:ext cx="6716613" cy="238348"/>
          </a:xfrm>
          <a:prstGeom prst="rect">
            <a:avLst/>
          </a:prstGeom>
          <a:solidFill>
            <a:srgbClr val="FFFFFF">
              <a:alpha val="4000"/>
            </a:srgbClr>
          </a:solidFill>
          <a:ln/>
        </p:spPr>
      </p:sp>
      <p:sp>
        <p:nvSpPr>
          <p:cNvPr id="43" name="Text 41"/>
          <p:cNvSpPr/>
          <p:nvPr/>
        </p:nvSpPr>
        <p:spPr>
          <a:xfrm>
            <a:off x="1658764" y="2444353"/>
            <a:ext cx="79831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F-06</a:t>
            </a:r>
            <a:endParaRPr lang="en-US" sz="750" dirty="0"/>
          </a:p>
        </p:txBody>
      </p:sp>
      <p:sp>
        <p:nvSpPr>
          <p:cNvPr id="44" name="Text 42"/>
          <p:cNvSpPr/>
          <p:nvPr/>
        </p:nvSpPr>
        <p:spPr>
          <a:xfrm>
            <a:off x="2198415" y="2444353"/>
            <a:ext cx="2139255"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loan() sans @login_required</a:t>
            </a:r>
            <a:endParaRPr lang="en-US" sz="750" dirty="0"/>
          </a:p>
        </p:txBody>
      </p:sp>
      <p:sp>
        <p:nvSpPr>
          <p:cNvPr id="45" name="Text 43"/>
          <p:cNvSpPr/>
          <p:nvPr/>
        </p:nvSpPr>
        <p:spPr>
          <a:xfrm>
            <a:off x="4079007" y="2444353"/>
            <a:ext cx="1601986"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Code</a:t>
            </a:r>
            <a:endParaRPr lang="en-US" sz="750" dirty="0"/>
          </a:p>
        </p:txBody>
      </p:sp>
      <p:sp>
        <p:nvSpPr>
          <p:cNvPr id="46" name="Text 44"/>
          <p:cNvSpPr/>
          <p:nvPr/>
        </p:nvSpPr>
        <p:spPr>
          <a:xfrm>
            <a:off x="5422329" y="2444353"/>
            <a:ext cx="146759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A01 — Access Control</a:t>
            </a:r>
            <a:endParaRPr lang="en-US" sz="750" dirty="0"/>
          </a:p>
        </p:txBody>
      </p:sp>
      <p:sp>
        <p:nvSpPr>
          <p:cNvPr id="47" name="Text 45"/>
          <p:cNvSpPr/>
          <p:nvPr/>
        </p:nvSpPr>
        <p:spPr>
          <a:xfrm>
            <a:off x="6631260" y="2444353"/>
            <a:ext cx="1201341" cy="138038"/>
          </a:xfrm>
          <a:prstGeom prst="rect">
            <a:avLst/>
          </a:prstGeom>
          <a:noFill/>
          <a:ln/>
        </p:spPr>
        <p:txBody>
          <a:bodyPr wrap="none" lIns="0" tIns="0" rIns="0" bIns="0" rtlCol="0" anchor="t"/>
          <a:lstStyle/>
          <a:p>
            <a:pPr algn="l" indent="0" marL="0">
              <a:lnSpc>
                <a:spcPct val="119000"/>
              </a:lnSpc>
              <a:buNone/>
            </a:pPr>
            <a:r>
              <a:rPr lang="en-US" sz="750" dirty="0">
                <a:solidFill>
                  <a:srgbClr val="E04F00"/>
                </a:solidFill>
                <a:latin typeface="DM Sans" pitchFamily="34" charset="0"/>
                <a:ea typeface="DM Sans" pitchFamily="34" charset="-122"/>
                <a:cs typeface="DM Sans" pitchFamily="34" charset="-120"/>
              </a:rPr>
              <a:t>7.5 </a:t>
            </a:r>
            <a:pPr algn="l" indent="0" marL="0">
              <a:lnSpc>
                <a:spcPct val="119000"/>
              </a:lnSpc>
              <a:buNone/>
            </a:pPr>
            <a:r>
              <a:rPr lang="en-US" sz="750" dirty="0">
                <a:solidFill>
                  <a:srgbClr val="000000"/>
                </a:solidFill>
                <a:latin typeface="DM Sans" pitchFamily="34" charset="0"/>
                <a:ea typeface="DM Sans" pitchFamily="34" charset="-122"/>
                <a:cs typeface="DM Sans" pitchFamily="34" charset="-120"/>
              </a:rPr>
              <a:t>🔴</a:t>
            </a:r>
            <a:endParaRPr lang="en-US" sz="750" dirty="0"/>
          </a:p>
        </p:txBody>
      </p:sp>
      <p:sp>
        <p:nvSpPr>
          <p:cNvPr id="48" name="Shape 46"/>
          <p:cNvSpPr/>
          <p:nvPr/>
        </p:nvSpPr>
        <p:spPr>
          <a:xfrm>
            <a:off x="755675" y="2632546"/>
            <a:ext cx="6716613" cy="238348"/>
          </a:xfrm>
          <a:prstGeom prst="rect">
            <a:avLst/>
          </a:prstGeom>
          <a:solidFill>
            <a:srgbClr val="000000">
              <a:alpha val="4000"/>
            </a:srgbClr>
          </a:solidFill>
          <a:ln/>
        </p:spPr>
      </p:sp>
      <p:sp>
        <p:nvSpPr>
          <p:cNvPr id="49" name="Text 47"/>
          <p:cNvSpPr/>
          <p:nvPr/>
        </p:nvSpPr>
        <p:spPr>
          <a:xfrm>
            <a:off x="1658764" y="2682701"/>
            <a:ext cx="79831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F-04</a:t>
            </a:r>
            <a:endParaRPr lang="en-US" sz="750" dirty="0"/>
          </a:p>
        </p:txBody>
      </p:sp>
      <p:sp>
        <p:nvSpPr>
          <p:cNvPr id="50" name="Text 48"/>
          <p:cNvSpPr/>
          <p:nvPr/>
        </p:nvSpPr>
        <p:spPr>
          <a:xfrm>
            <a:off x="2198415" y="2682701"/>
            <a:ext cx="2139255"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Hash bcrypt dans SQL commité</a:t>
            </a:r>
            <a:endParaRPr lang="en-US" sz="750" dirty="0"/>
          </a:p>
        </p:txBody>
      </p:sp>
      <p:sp>
        <p:nvSpPr>
          <p:cNvPr id="51" name="Text 49"/>
          <p:cNvSpPr/>
          <p:nvPr/>
        </p:nvSpPr>
        <p:spPr>
          <a:xfrm>
            <a:off x="4079007" y="2682701"/>
            <a:ext cx="1601986"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Sonar</a:t>
            </a:r>
            <a:endParaRPr lang="en-US" sz="750" dirty="0"/>
          </a:p>
        </p:txBody>
      </p:sp>
      <p:sp>
        <p:nvSpPr>
          <p:cNvPr id="52" name="Text 50"/>
          <p:cNvSpPr/>
          <p:nvPr/>
        </p:nvSpPr>
        <p:spPr>
          <a:xfrm>
            <a:off x="5422329" y="2682701"/>
            <a:ext cx="146759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A02 — Crypto</a:t>
            </a:r>
            <a:endParaRPr lang="en-US" sz="750" dirty="0"/>
          </a:p>
        </p:txBody>
      </p:sp>
      <p:sp>
        <p:nvSpPr>
          <p:cNvPr id="53" name="Text 51"/>
          <p:cNvSpPr/>
          <p:nvPr/>
        </p:nvSpPr>
        <p:spPr>
          <a:xfrm>
            <a:off x="6631260" y="2682701"/>
            <a:ext cx="1201341" cy="138038"/>
          </a:xfrm>
          <a:prstGeom prst="rect">
            <a:avLst/>
          </a:prstGeom>
          <a:noFill/>
          <a:ln/>
        </p:spPr>
        <p:txBody>
          <a:bodyPr wrap="none" lIns="0" tIns="0" rIns="0" bIns="0" rtlCol="0" anchor="t"/>
          <a:lstStyle/>
          <a:p>
            <a:pPr algn="l" indent="0" marL="0">
              <a:lnSpc>
                <a:spcPct val="119000"/>
              </a:lnSpc>
              <a:buNone/>
            </a:pPr>
            <a:r>
              <a:rPr lang="en-US" sz="750" dirty="0">
                <a:solidFill>
                  <a:srgbClr val="E04F00"/>
                </a:solidFill>
                <a:latin typeface="DM Sans" pitchFamily="34" charset="0"/>
                <a:ea typeface="DM Sans" pitchFamily="34" charset="-122"/>
                <a:cs typeface="DM Sans" pitchFamily="34" charset="-120"/>
              </a:rPr>
              <a:t>7.4 </a:t>
            </a:r>
            <a:pPr algn="l" indent="0" marL="0">
              <a:lnSpc>
                <a:spcPct val="119000"/>
              </a:lnSpc>
              <a:buNone/>
            </a:pPr>
            <a:r>
              <a:rPr lang="en-US" sz="750" dirty="0">
                <a:solidFill>
                  <a:srgbClr val="000000"/>
                </a:solidFill>
                <a:latin typeface="DM Sans" pitchFamily="34" charset="0"/>
                <a:ea typeface="DM Sans" pitchFamily="34" charset="-122"/>
                <a:cs typeface="DM Sans" pitchFamily="34" charset="-120"/>
              </a:rPr>
              <a:t>🔴</a:t>
            </a:r>
            <a:endParaRPr lang="en-US" sz="750" dirty="0"/>
          </a:p>
        </p:txBody>
      </p:sp>
      <p:sp>
        <p:nvSpPr>
          <p:cNvPr id="54" name="Shape 52"/>
          <p:cNvSpPr/>
          <p:nvPr/>
        </p:nvSpPr>
        <p:spPr>
          <a:xfrm>
            <a:off x="755675" y="2870895"/>
            <a:ext cx="6716613" cy="238348"/>
          </a:xfrm>
          <a:prstGeom prst="rect">
            <a:avLst/>
          </a:prstGeom>
          <a:solidFill>
            <a:srgbClr val="FFFFFF">
              <a:alpha val="4000"/>
            </a:srgbClr>
          </a:solidFill>
          <a:ln/>
        </p:spPr>
      </p:sp>
      <p:sp>
        <p:nvSpPr>
          <p:cNvPr id="55" name="Text 53"/>
          <p:cNvSpPr/>
          <p:nvPr/>
        </p:nvSpPr>
        <p:spPr>
          <a:xfrm>
            <a:off x="1658764" y="2921050"/>
            <a:ext cx="79831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F-07</a:t>
            </a:r>
            <a:endParaRPr lang="en-US" sz="750" dirty="0"/>
          </a:p>
        </p:txBody>
      </p:sp>
      <p:sp>
        <p:nvSpPr>
          <p:cNvPr id="56" name="Text 54"/>
          <p:cNvSpPr/>
          <p:nvPr/>
        </p:nvSpPr>
        <p:spPr>
          <a:xfrm>
            <a:off x="2198415" y="2921050"/>
            <a:ext cx="2139255"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DOM XSS Bootstrap (×7)</a:t>
            </a:r>
            <a:endParaRPr lang="en-US" sz="750" dirty="0"/>
          </a:p>
        </p:txBody>
      </p:sp>
      <p:sp>
        <p:nvSpPr>
          <p:cNvPr id="57" name="Text 55"/>
          <p:cNvSpPr/>
          <p:nvPr/>
        </p:nvSpPr>
        <p:spPr>
          <a:xfrm>
            <a:off x="4079007" y="2921050"/>
            <a:ext cx="1601986"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IAST</a:t>
            </a:r>
            <a:endParaRPr lang="en-US" sz="750" dirty="0"/>
          </a:p>
        </p:txBody>
      </p:sp>
      <p:sp>
        <p:nvSpPr>
          <p:cNvPr id="58" name="Text 56"/>
          <p:cNvSpPr/>
          <p:nvPr/>
        </p:nvSpPr>
        <p:spPr>
          <a:xfrm>
            <a:off x="5422329" y="2921050"/>
            <a:ext cx="146759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A03 — Injection</a:t>
            </a:r>
            <a:endParaRPr lang="en-US" sz="750" dirty="0"/>
          </a:p>
        </p:txBody>
      </p:sp>
      <p:sp>
        <p:nvSpPr>
          <p:cNvPr id="59" name="Text 57"/>
          <p:cNvSpPr/>
          <p:nvPr/>
        </p:nvSpPr>
        <p:spPr>
          <a:xfrm>
            <a:off x="6631260" y="2921050"/>
            <a:ext cx="1201341" cy="138038"/>
          </a:xfrm>
          <a:prstGeom prst="rect">
            <a:avLst/>
          </a:prstGeom>
          <a:noFill/>
          <a:ln/>
        </p:spPr>
        <p:txBody>
          <a:bodyPr wrap="none" lIns="0" tIns="0" rIns="0" bIns="0" rtlCol="0" anchor="t"/>
          <a:lstStyle/>
          <a:p>
            <a:pPr algn="l" indent="0" marL="0">
              <a:lnSpc>
                <a:spcPct val="119000"/>
              </a:lnSpc>
              <a:buNone/>
            </a:pPr>
            <a:r>
              <a:rPr lang="en-US" sz="750" dirty="0">
                <a:solidFill>
                  <a:srgbClr val="E04F00"/>
                </a:solidFill>
                <a:latin typeface="DM Sans" pitchFamily="34" charset="0"/>
                <a:ea typeface="DM Sans" pitchFamily="34" charset="-122"/>
                <a:cs typeface="DM Sans" pitchFamily="34" charset="-120"/>
              </a:rPr>
              <a:t>6.1 </a:t>
            </a:r>
            <a:pPr algn="l" indent="0" marL="0">
              <a:lnSpc>
                <a:spcPct val="119000"/>
              </a:lnSpc>
              <a:buNone/>
            </a:pPr>
            <a:r>
              <a:rPr lang="en-US" sz="750" dirty="0">
                <a:solidFill>
                  <a:srgbClr val="000000"/>
                </a:solidFill>
                <a:latin typeface="DM Sans" pitchFamily="34" charset="0"/>
                <a:ea typeface="DM Sans" pitchFamily="34" charset="-122"/>
                <a:cs typeface="DM Sans" pitchFamily="34" charset="-120"/>
              </a:rPr>
              <a:t>🔴</a:t>
            </a:r>
            <a:endParaRPr lang="en-US" sz="750" dirty="0"/>
          </a:p>
        </p:txBody>
      </p:sp>
      <p:sp>
        <p:nvSpPr>
          <p:cNvPr id="60" name="Shape 58"/>
          <p:cNvSpPr/>
          <p:nvPr/>
        </p:nvSpPr>
        <p:spPr>
          <a:xfrm>
            <a:off x="755675" y="3109243"/>
            <a:ext cx="6716613" cy="238348"/>
          </a:xfrm>
          <a:prstGeom prst="rect">
            <a:avLst/>
          </a:prstGeom>
          <a:solidFill>
            <a:srgbClr val="000000">
              <a:alpha val="4000"/>
            </a:srgbClr>
          </a:solidFill>
          <a:ln/>
        </p:spPr>
      </p:sp>
      <p:sp>
        <p:nvSpPr>
          <p:cNvPr id="61" name="Text 59"/>
          <p:cNvSpPr/>
          <p:nvPr/>
        </p:nvSpPr>
        <p:spPr>
          <a:xfrm>
            <a:off x="1658764" y="3159398"/>
            <a:ext cx="79831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F-11</a:t>
            </a:r>
            <a:endParaRPr lang="en-US" sz="750" dirty="0"/>
          </a:p>
        </p:txBody>
      </p:sp>
      <p:sp>
        <p:nvSpPr>
          <p:cNvPr id="62" name="Text 60"/>
          <p:cNvSpPr/>
          <p:nvPr/>
        </p:nvSpPr>
        <p:spPr>
          <a:xfrm>
            <a:off x="2198415" y="3159398"/>
            <a:ext cx="2139255"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Cookie csrftoken sans HttpOnly</a:t>
            </a:r>
            <a:endParaRPr lang="en-US" sz="750" dirty="0"/>
          </a:p>
        </p:txBody>
      </p:sp>
      <p:sp>
        <p:nvSpPr>
          <p:cNvPr id="63" name="Text 61"/>
          <p:cNvSpPr/>
          <p:nvPr/>
        </p:nvSpPr>
        <p:spPr>
          <a:xfrm>
            <a:off x="4079007" y="3159398"/>
            <a:ext cx="1601986"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PTK</a:t>
            </a:r>
            <a:endParaRPr lang="en-US" sz="750" dirty="0"/>
          </a:p>
        </p:txBody>
      </p:sp>
      <p:sp>
        <p:nvSpPr>
          <p:cNvPr id="64" name="Text 62"/>
          <p:cNvSpPr/>
          <p:nvPr/>
        </p:nvSpPr>
        <p:spPr>
          <a:xfrm>
            <a:off x="5422329" y="3159398"/>
            <a:ext cx="146759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A05 — Misconfig.</a:t>
            </a:r>
            <a:endParaRPr lang="en-US" sz="750" dirty="0"/>
          </a:p>
        </p:txBody>
      </p:sp>
      <p:sp>
        <p:nvSpPr>
          <p:cNvPr id="65" name="Text 63"/>
          <p:cNvSpPr/>
          <p:nvPr/>
        </p:nvSpPr>
        <p:spPr>
          <a:xfrm>
            <a:off x="6631260" y="3159398"/>
            <a:ext cx="1201341"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5.4 </a:t>
            </a:r>
            <a:pPr algn="l" indent="0" marL="0">
              <a:lnSpc>
                <a:spcPct val="119000"/>
              </a:lnSpc>
              <a:buNone/>
            </a:pPr>
            <a:r>
              <a:rPr lang="en-US" sz="750" dirty="0">
                <a:solidFill>
                  <a:srgbClr val="000000"/>
                </a:solidFill>
                <a:latin typeface="DM Sans" pitchFamily="34" charset="0"/>
                <a:ea typeface="DM Sans" pitchFamily="34" charset="-122"/>
                <a:cs typeface="DM Sans" pitchFamily="34" charset="-120"/>
              </a:rPr>
              <a:t>🟡</a:t>
            </a:r>
            <a:endParaRPr lang="en-US" sz="750" dirty="0"/>
          </a:p>
        </p:txBody>
      </p:sp>
      <p:sp>
        <p:nvSpPr>
          <p:cNvPr id="66" name="Shape 64"/>
          <p:cNvSpPr/>
          <p:nvPr/>
        </p:nvSpPr>
        <p:spPr>
          <a:xfrm>
            <a:off x="755675" y="3347591"/>
            <a:ext cx="6716613" cy="238348"/>
          </a:xfrm>
          <a:prstGeom prst="rect">
            <a:avLst/>
          </a:prstGeom>
          <a:solidFill>
            <a:srgbClr val="FFFFFF">
              <a:alpha val="4000"/>
            </a:srgbClr>
          </a:solidFill>
          <a:ln/>
        </p:spPr>
      </p:sp>
      <p:sp>
        <p:nvSpPr>
          <p:cNvPr id="67" name="Text 65"/>
          <p:cNvSpPr/>
          <p:nvPr/>
        </p:nvSpPr>
        <p:spPr>
          <a:xfrm>
            <a:off x="1658764" y="3397746"/>
            <a:ext cx="79831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F-13/14</a:t>
            </a:r>
            <a:endParaRPr lang="en-US" sz="750" dirty="0"/>
          </a:p>
        </p:txBody>
      </p:sp>
      <p:sp>
        <p:nvSpPr>
          <p:cNvPr id="68" name="Text 66"/>
          <p:cNvSpPr/>
          <p:nvPr/>
        </p:nvSpPr>
        <p:spPr>
          <a:xfrm>
            <a:off x="2198415" y="3397746"/>
            <a:ext cx="2139255"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CSP + HSTS absents</a:t>
            </a:r>
            <a:endParaRPr lang="en-US" sz="750" dirty="0"/>
          </a:p>
        </p:txBody>
      </p:sp>
      <p:sp>
        <p:nvSpPr>
          <p:cNvPr id="69" name="Text 67"/>
          <p:cNvSpPr/>
          <p:nvPr/>
        </p:nvSpPr>
        <p:spPr>
          <a:xfrm>
            <a:off x="4079007" y="3397746"/>
            <a:ext cx="1601986"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PTK</a:t>
            </a:r>
            <a:endParaRPr lang="en-US" sz="750" dirty="0"/>
          </a:p>
        </p:txBody>
      </p:sp>
      <p:sp>
        <p:nvSpPr>
          <p:cNvPr id="70" name="Text 68"/>
          <p:cNvSpPr/>
          <p:nvPr/>
        </p:nvSpPr>
        <p:spPr>
          <a:xfrm>
            <a:off x="5422329" y="3397746"/>
            <a:ext cx="1467594"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A05 — Misconfig.</a:t>
            </a:r>
            <a:endParaRPr lang="en-US" sz="750" dirty="0"/>
          </a:p>
        </p:txBody>
      </p:sp>
      <p:sp>
        <p:nvSpPr>
          <p:cNvPr id="71" name="Text 69"/>
          <p:cNvSpPr/>
          <p:nvPr/>
        </p:nvSpPr>
        <p:spPr>
          <a:xfrm>
            <a:off x="6631260" y="3397746"/>
            <a:ext cx="1201341"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4.8 </a:t>
            </a:r>
            <a:pPr algn="l" indent="0" marL="0">
              <a:lnSpc>
                <a:spcPct val="119000"/>
              </a:lnSpc>
              <a:buNone/>
            </a:pPr>
            <a:r>
              <a:rPr lang="en-US" sz="750" dirty="0">
                <a:solidFill>
                  <a:srgbClr val="000000"/>
                </a:solidFill>
                <a:latin typeface="DM Sans" pitchFamily="34" charset="0"/>
                <a:ea typeface="DM Sans" pitchFamily="34" charset="-122"/>
                <a:cs typeface="DM Sans" pitchFamily="34" charset="-120"/>
              </a:rPr>
              <a:t>🟡</a:t>
            </a:r>
            <a:endParaRPr lang="en-US" sz="750" dirty="0"/>
          </a:p>
        </p:txBody>
      </p:sp>
      <p:sp>
        <p:nvSpPr>
          <p:cNvPr id="72" name="Shape 70"/>
          <p:cNvSpPr/>
          <p:nvPr/>
        </p:nvSpPr>
        <p:spPr>
          <a:xfrm>
            <a:off x="750912" y="3675831"/>
            <a:ext cx="3783211" cy="536153"/>
          </a:xfrm>
          <a:prstGeom prst="roundRect">
            <a:avLst>
              <a:gd name="adj" fmla="val 2711"/>
            </a:avLst>
          </a:prstGeom>
          <a:solidFill>
            <a:srgbClr val="F2EEEE"/>
          </a:solidFill>
          <a:ln/>
        </p:spPr>
      </p:sp>
      <p:sp>
        <p:nvSpPr>
          <p:cNvPr id="73" name="Text 71"/>
          <p:cNvSpPr/>
          <p:nvPr/>
        </p:nvSpPr>
        <p:spPr>
          <a:xfrm>
            <a:off x="847799" y="3772719"/>
            <a:ext cx="1645816" cy="158948"/>
          </a:xfrm>
          <a:prstGeom prst="rect">
            <a:avLst/>
          </a:prstGeom>
          <a:noFill/>
          <a:ln/>
        </p:spPr>
        <p:txBody>
          <a:bodyPr wrap="none" lIns="0" tIns="0" rIns="0" bIns="0" rtlCol="0" anchor="t"/>
          <a:lstStyle/>
          <a:p>
            <a:pPr algn="l" indent="0" marL="0">
              <a:lnSpc>
                <a:spcPct val="104000"/>
              </a:lnSpc>
              <a:buNone/>
            </a:pPr>
            <a:r>
              <a:rPr lang="en-US" sz="1000" dirty="0">
                <a:solidFill>
                  <a:srgbClr val="383838"/>
                </a:solidFill>
                <a:latin typeface="PT Serif" pitchFamily="34" charset="0"/>
                <a:ea typeface="PT Serif" pitchFamily="34" charset="-122"/>
                <a:cs typeface="PT Serif" pitchFamily="34" charset="-120"/>
              </a:rPr>
              <a:t>A01 — Broken Access Control</a:t>
            </a:r>
            <a:endParaRPr lang="en-US" sz="1000" dirty="0"/>
          </a:p>
        </p:txBody>
      </p:sp>
      <p:sp>
        <p:nvSpPr>
          <p:cNvPr id="74" name="Text 72"/>
          <p:cNvSpPr/>
          <p:nvPr/>
        </p:nvSpPr>
        <p:spPr>
          <a:xfrm>
            <a:off x="847799" y="3977060"/>
            <a:ext cx="3589437"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4 failles · CVSS max </a:t>
            </a:r>
            <a:pPr algn="l" indent="0" marL="0">
              <a:lnSpc>
                <a:spcPct val="119000"/>
              </a:lnSpc>
              <a:buNone/>
            </a:pPr>
            <a:r>
              <a:rPr lang="en-US" sz="750" b="1" dirty="0">
                <a:solidFill>
                  <a:srgbClr val="383838"/>
                </a:solidFill>
                <a:latin typeface="DM Sans" pitchFamily="34" charset="0"/>
                <a:ea typeface="DM Sans" pitchFamily="34" charset="-122"/>
                <a:cs typeface="DM Sans" pitchFamily="34" charset="-120"/>
              </a:rPr>
              <a:t>8.8</a:t>
            </a:r>
            <a:endParaRPr lang="en-US" sz="750" dirty="0"/>
          </a:p>
        </p:txBody>
      </p:sp>
      <p:sp>
        <p:nvSpPr>
          <p:cNvPr id="75" name="Shape 73"/>
          <p:cNvSpPr/>
          <p:nvPr/>
        </p:nvSpPr>
        <p:spPr>
          <a:xfrm>
            <a:off x="4609802" y="3675831"/>
            <a:ext cx="3783211" cy="536153"/>
          </a:xfrm>
          <a:prstGeom prst="roundRect">
            <a:avLst>
              <a:gd name="adj" fmla="val 2711"/>
            </a:avLst>
          </a:prstGeom>
          <a:solidFill>
            <a:srgbClr val="F2EEEE"/>
          </a:solidFill>
          <a:ln/>
        </p:spPr>
      </p:sp>
      <p:sp>
        <p:nvSpPr>
          <p:cNvPr id="76" name="Text 74"/>
          <p:cNvSpPr/>
          <p:nvPr/>
        </p:nvSpPr>
        <p:spPr>
          <a:xfrm>
            <a:off x="4706689" y="3772719"/>
            <a:ext cx="1676846" cy="158948"/>
          </a:xfrm>
          <a:prstGeom prst="rect">
            <a:avLst/>
          </a:prstGeom>
          <a:noFill/>
          <a:ln/>
        </p:spPr>
        <p:txBody>
          <a:bodyPr wrap="none" lIns="0" tIns="0" rIns="0" bIns="0" rtlCol="0" anchor="t"/>
          <a:lstStyle/>
          <a:p>
            <a:pPr algn="l" indent="0" marL="0">
              <a:lnSpc>
                <a:spcPct val="104000"/>
              </a:lnSpc>
              <a:buNone/>
            </a:pPr>
            <a:r>
              <a:rPr lang="en-US" sz="1000" dirty="0">
                <a:solidFill>
                  <a:srgbClr val="383838"/>
                </a:solidFill>
                <a:latin typeface="PT Serif" pitchFamily="34" charset="0"/>
                <a:ea typeface="PT Serif" pitchFamily="34" charset="-122"/>
                <a:cs typeface="PT Serif" pitchFamily="34" charset="-120"/>
              </a:rPr>
              <a:t>A02 — Cryptographic Failures</a:t>
            </a:r>
            <a:endParaRPr lang="en-US" sz="1000" dirty="0"/>
          </a:p>
        </p:txBody>
      </p:sp>
      <p:sp>
        <p:nvSpPr>
          <p:cNvPr id="77" name="Text 75"/>
          <p:cNvSpPr/>
          <p:nvPr/>
        </p:nvSpPr>
        <p:spPr>
          <a:xfrm>
            <a:off x="4706689" y="3977060"/>
            <a:ext cx="3589437"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3 failles · CVSS max </a:t>
            </a:r>
            <a:pPr algn="l" indent="0" marL="0">
              <a:lnSpc>
                <a:spcPct val="119000"/>
              </a:lnSpc>
              <a:buNone/>
            </a:pPr>
            <a:r>
              <a:rPr lang="en-US" sz="750" b="1" dirty="0">
                <a:solidFill>
                  <a:srgbClr val="383838"/>
                </a:solidFill>
                <a:latin typeface="DM Sans" pitchFamily="34" charset="0"/>
                <a:ea typeface="DM Sans" pitchFamily="34" charset="-122"/>
                <a:cs typeface="DM Sans" pitchFamily="34" charset="-120"/>
              </a:rPr>
              <a:t>9.8</a:t>
            </a:r>
            <a:endParaRPr lang="en-US" sz="750" dirty="0"/>
          </a:p>
        </p:txBody>
      </p:sp>
      <p:sp>
        <p:nvSpPr>
          <p:cNvPr id="78" name="Shape 76"/>
          <p:cNvSpPr/>
          <p:nvPr/>
        </p:nvSpPr>
        <p:spPr>
          <a:xfrm>
            <a:off x="750912" y="4287664"/>
            <a:ext cx="3783211" cy="536153"/>
          </a:xfrm>
          <a:prstGeom prst="roundRect">
            <a:avLst>
              <a:gd name="adj" fmla="val 2711"/>
            </a:avLst>
          </a:prstGeom>
          <a:solidFill>
            <a:srgbClr val="F2EEEE"/>
          </a:solidFill>
          <a:ln/>
        </p:spPr>
      </p:sp>
      <p:sp>
        <p:nvSpPr>
          <p:cNvPr id="79" name="Text 77"/>
          <p:cNvSpPr/>
          <p:nvPr/>
        </p:nvSpPr>
        <p:spPr>
          <a:xfrm>
            <a:off x="847799" y="4384551"/>
            <a:ext cx="1271960" cy="158948"/>
          </a:xfrm>
          <a:prstGeom prst="rect">
            <a:avLst/>
          </a:prstGeom>
          <a:noFill/>
          <a:ln/>
        </p:spPr>
        <p:txBody>
          <a:bodyPr wrap="none" lIns="0" tIns="0" rIns="0" bIns="0" rtlCol="0" anchor="t"/>
          <a:lstStyle/>
          <a:p>
            <a:pPr algn="l" indent="0" marL="0">
              <a:lnSpc>
                <a:spcPct val="104000"/>
              </a:lnSpc>
              <a:buNone/>
            </a:pPr>
            <a:r>
              <a:rPr lang="en-US" sz="1000" dirty="0">
                <a:solidFill>
                  <a:srgbClr val="383838"/>
                </a:solidFill>
                <a:latin typeface="PT Serif" pitchFamily="34" charset="0"/>
                <a:ea typeface="PT Serif" pitchFamily="34" charset="-122"/>
                <a:cs typeface="PT Serif" pitchFamily="34" charset="-120"/>
              </a:rPr>
              <a:t>A03 — Injection</a:t>
            </a:r>
            <a:endParaRPr lang="en-US" sz="1000" dirty="0"/>
          </a:p>
        </p:txBody>
      </p:sp>
      <p:sp>
        <p:nvSpPr>
          <p:cNvPr id="80" name="Text 78"/>
          <p:cNvSpPr/>
          <p:nvPr/>
        </p:nvSpPr>
        <p:spPr>
          <a:xfrm>
            <a:off x="847799" y="4588892"/>
            <a:ext cx="3589437"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2 failles · CVSS max </a:t>
            </a:r>
            <a:pPr algn="l" indent="0" marL="0">
              <a:lnSpc>
                <a:spcPct val="119000"/>
              </a:lnSpc>
              <a:buNone/>
            </a:pPr>
            <a:r>
              <a:rPr lang="en-US" sz="750" b="1" dirty="0">
                <a:solidFill>
                  <a:srgbClr val="383838"/>
                </a:solidFill>
                <a:latin typeface="DM Sans" pitchFamily="34" charset="0"/>
                <a:ea typeface="DM Sans" pitchFamily="34" charset="-122"/>
                <a:cs typeface="DM Sans" pitchFamily="34" charset="-120"/>
              </a:rPr>
              <a:t>6.1</a:t>
            </a:r>
            <a:endParaRPr lang="en-US" sz="750" dirty="0"/>
          </a:p>
        </p:txBody>
      </p:sp>
      <p:sp>
        <p:nvSpPr>
          <p:cNvPr id="81" name="Shape 79"/>
          <p:cNvSpPr/>
          <p:nvPr/>
        </p:nvSpPr>
        <p:spPr>
          <a:xfrm>
            <a:off x="4609802" y="4287664"/>
            <a:ext cx="3783211" cy="536153"/>
          </a:xfrm>
          <a:prstGeom prst="roundRect">
            <a:avLst>
              <a:gd name="adj" fmla="val 2711"/>
            </a:avLst>
          </a:prstGeom>
          <a:solidFill>
            <a:srgbClr val="F2EEEE"/>
          </a:solidFill>
          <a:ln/>
        </p:spPr>
      </p:sp>
      <p:sp>
        <p:nvSpPr>
          <p:cNvPr id="82" name="Text 80"/>
          <p:cNvSpPr/>
          <p:nvPr/>
        </p:nvSpPr>
        <p:spPr>
          <a:xfrm>
            <a:off x="4706689" y="4384551"/>
            <a:ext cx="1358429" cy="158948"/>
          </a:xfrm>
          <a:prstGeom prst="rect">
            <a:avLst/>
          </a:prstGeom>
          <a:noFill/>
          <a:ln/>
        </p:spPr>
        <p:txBody>
          <a:bodyPr wrap="none" lIns="0" tIns="0" rIns="0" bIns="0" rtlCol="0" anchor="t"/>
          <a:lstStyle/>
          <a:p>
            <a:pPr algn="l" indent="0" marL="0">
              <a:lnSpc>
                <a:spcPct val="104000"/>
              </a:lnSpc>
              <a:buNone/>
            </a:pPr>
            <a:r>
              <a:rPr lang="en-US" sz="1000" dirty="0">
                <a:solidFill>
                  <a:srgbClr val="383838"/>
                </a:solidFill>
                <a:latin typeface="PT Serif" pitchFamily="34" charset="0"/>
                <a:ea typeface="PT Serif" pitchFamily="34" charset="-122"/>
                <a:cs typeface="PT Serif" pitchFamily="34" charset="-120"/>
              </a:rPr>
              <a:t>A05 — Misconfiguration</a:t>
            </a:r>
            <a:endParaRPr lang="en-US" sz="1000" dirty="0"/>
          </a:p>
        </p:txBody>
      </p:sp>
      <p:sp>
        <p:nvSpPr>
          <p:cNvPr id="83" name="Text 81"/>
          <p:cNvSpPr/>
          <p:nvPr/>
        </p:nvSpPr>
        <p:spPr>
          <a:xfrm>
            <a:off x="4706689" y="4588892"/>
            <a:ext cx="3589437" cy="138038"/>
          </a:xfrm>
          <a:prstGeom prst="rect">
            <a:avLst/>
          </a:prstGeom>
          <a:noFill/>
          <a:ln/>
        </p:spPr>
        <p:txBody>
          <a:bodyPr wrap="none" lIns="0" tIns="0" rIns="0" bIns="0" rtlCol="0" anchor="t"/>
          <a:lstStyle/>
          <a:p>
            <a:pPr algn="l" indent="0" marL="0">
              <a:lnSpc>
                <a:spcPct val="119000"/>
              </a:lnSpc>
              <a:buNone/>
            </a:pPr>
            <a:r>
              <a:rPr lang="en-US" sz="750" dirty="0">
                <a:solidFill>
                  <a:srgbClr val="383838"/>
                </a:solidFill>
                <a:latin typeface="DM Sans" pitchFamily="34" charset="0"/>
                <a:ea typeface="DM Sans" pitchFamily="34" charset="-122"/>
                <a:cs typeface="DM Sans" pitchFamily="34" charset="-120"/>
              </a:rPr>
              <a:t>7 failles · CVSS max </a:t>
            </a:r>
            <a:pPr algn="l" indent="0" marL="0">
              <a:lnSpc>
                <a:spcPct val="119000"/>
              </a:lnSpc>
              <a:buNone/>
            </a:pPr>
            <a:r>
              <a:rPr lang="en-US" sz="750" b="1" dirty="0">
                <a:solidFill>
                  <a:srgbClr val="383838"/>
                </a:solidFill>
                <a:latin typeface="DM Sans" pitchFamily="34" charset="0"/>
                <a:ea typeface="DM Sans" pitchFamily="34" charset="-122"/>
                <a:cs typeface="DM Sans" pitchFamily="34" charset="-120"/>
              </a:rPr>
              <a:t>7.5</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41871" y="320353"/>
            <a:ext cx="1076474" cy="209401"/>
          </a:xfrm>
          <a:prstGeom prst="roundRect">
            <a:avLst>
              <a:gd name="adj" fmla="val 6331"/>
            </a:avLst>
          </a:prstGeom>
          <a:noFill/>
          <a:ln w="4763">
            <a:solidFill>
              <a:srgbClr val="E04F00"/>
            </a:solidFill>
            <a:prstDash val="solid"/>
          </a:ln>
        </p:spPr>
      </p:sp>
      <p:sp>
        <p:nvSpPr>
          <p:cNvPr id="3" name="Text 1"/>
          <p:cNvSpPr/>
          <p:nvPr/>
        </p:nvSpPr>
        <p:spPr>
          <a:xfrm>
            <a:off x="512862" y="358229"/>
            <a:ext cx="1391692" cy="133648"/>
          </a:xfrm>
          <a:prstGeom prst="rect">
            <a:avLst/>
          </a:prstGeom>
          <a:noFill/>
          <a:ln/>
        </p:spPr>
        <p:txBody>
          <a:bodyPr wrap="none" lIns="0" tIns="0" rIns="0" bIns="0" rtlCol="0" anchor="t"/>
          <a:lstStyle/>
          <a:p>
            <a:pPr algn="l" indent="0" marL="0">
              <a:lnSpc>
                <a:spcPct val="126000"/>
              </a:lnSpc>
              <a:buNone/>
            </a:pPr>
            <a:r>
              <a:rPr lang="en-US" sz="650" dirty="0">
                <a:solidFill>
                  <a:srgbClr val="E04F00"/>
                </a:solidFill>
                <a:latin typeface="DM Sans" pitchFamily="34" charset="0"/>
                <a:ea typeface="DM Sans" pitchFamily="34" charset="-122"/>
                <a:cs typeface="DM Sans" pitchFamily="34" charset="-120"/>
              </a:rPr>
              <a:t>PLAN DE REMÉDIATION</a:t>
            </a:r>
            <a:endParaRPr lang="en-US" sz="650" dirty="0"/>
          </a:p>
        </p:txBody>
      </p:sp>
      <p:sp>
        <p:nvSpPr>
          <p:cNvPr id="4" name="Text 2"/>
          <p:cNvSpPr/>
          <p:nvPr/>
        </p:nvSpPr>
        <p:spPr>
          <a:xfrm>
            <a:off x="441871" y="569044"/>
            <a:ext cx="7392591" cy="362471"/>
          </a:xfrm>
          <a:prstGeom prst="rect">
            <a:avLst/>
          </a:prstGeom>
          <a:noFill/>
          <a:ln/>
        </p:spPr>
        <p:txBody>
          <a:bodyPr wrap="none" lIns="0" tIns="0" rIns="0" bIns="0" rtlCol="0" anchor="t"/>
          <a:lstStyle/>
          <a:p>
            <a:pPr algn="l" indent="0" marL="0">
              <a:lnSpc>
                <a:spcPct val="104000"/>
              </a:lnSpc>
              <a:buNone/>
            </a:pPr>
            <a:r>
              <a:rPr lang="en-US" sz="2250" dirty="0">
                <a:solidFill>
                  <a:srgbClr val="020202"/>
                </a:solidFill>
                <a:latin typeface="PT Serif" pitchFamily="34" charset="0"/>
                <a:ea typeface="PT Serif" pitchFamily="34" charset="-122"/>
                <a:cs typeface="PT Serif" pitchFamily="34" charset="-120"/>
              </a:rPr>
              <a:t>Reformulation des specs &amp; Planning pré-déploiement</a:t>
            </a:r>
            <a:endParaRPr lang="en-US" sz="2250" dirty="0"/>
          </a:p>
        </p:txBody>
      </p:sp>
      <p:sp>
        <p:nvSpPr>
          <p:cNvPr id="5" name="Text 3"/>
          <p:cNvSpPr/>
          <p:nvPr/>
        </p:nvSpPr>
        <p:spPr>
          <a:xfrm>
            <a:off x="441871" y="970806"/>
            <a:ext cx="3567336" cy="181273"/>
          </a:xfrm>
          <a:prstGeom prst="rect">
            <a:avLst/>
          </a:prstGeom>
          <a:noFill/>
          <a:ln/>
        </p:spPr>
        <p:txBody>
          <a:bodyPr wrap="none" lIns="0" tIns="0" rIns="0" bIns="0" rtlCol="0" anchor="t"/>
          <a:lstStyle/>
          <a:p>
            <a:pPr algn="l" indent="0" marL="0">
              <a:lnSpc>
                <a:spcPct val="104000"/>
              </a:lnSpc>
              <a:buNone/>
            </a:pPr>
            <a:r>
              <a:rPr lang="en-US" sz="1100" dirty="0">
                <a:solidFill>
                  <a:srgbClr val="020202"/>
                </a:solidFill>
                <a:latin typeface="PT Serif" pitchFamily="34" charset="0"/>
                <a:ea typeface="PT Serif" pitchFamily="34" charset="-122"/>
                <a:cs typeface="PT Serif" pitchFamily="34" charset="-120"/>
              </a:rPr>
              <a:t>Specs reformulées — Module LOAN (après audit)</a:t>
            </a:r>
            <a:endParaRPr lang="en-US" sz="1100" dirty="0"/>
          </a:p>
        </p:txBody>
      </p:sp>
      <p:sp>
        <p:nvSpPr>
          <p:cNvPr id="6" name="Text 4"/>
          <p:cNvSpPr/>
          <p:nvPr/>
        </p:nvSpPr>
        <p:spPr>
          <a:xfrm>
            <a:off x="441871" y="1299642"/>
            <a:ext cx="8260259" cy="1203275"/>
          </a:xfrm>
          <a:prstGeom prst="rect">
            <a:avLst/>
          </a:prstGeom>
          <a:noFill/>
          <a:ln/>
        </p:spPr>
        <p:txBody>
          <a:bodyPr wrap="square" lIns="0" tIns="0" rIns="0" bIns="0" rtlCol="0" anchor="t">
            <a:normAutofit/>
          </a:bodyPr>
          <a:lstStyle/>
          <a:p>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Toute vue LOAN exige </a:t>
            </a:r>
            <a:pPr algn="l" marL="342900" indent="-342900">
              <a:lnSpc>
                <a:spcPct val="126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@login_required</a:t>
            </a:r>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 (Django Auth natif — abandon de </a:t>
            </a:r>
            <a:pPr algn="l" marL="342900" indent="-342900">
              <a:lnSpc>
                <a:spcPct val="126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session['user_id']</a:t>
            </a:r>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 custom)</a:t>
            </a:r>
            <a:endParaRPr lang="en-US" sz="850" dirty="0"/>
          </a:p>
          <a:p>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CRUD livres réservé au rôle admin → contrôle via </a:t>
            </a:r>
            <a:pPr algn="l" marL="342900" indent="-342900">
              <a:lnSpc>
                <a:spcPct val="126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request.user.is_staff</a:t>
            </a:r>
            <a:endParaRPr lang="en-US" sz="850" dirty="0"/>
          </a:p>
          <a:p>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Tous les endpoints LOAN protégés par CSRF → supprimer </a:t>
            </a:r>
            <a:pPr algn="l" marL="342900" indent="-342900">
              <a:lnSpc>
                <a:spcPct val="126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@csrf_exempt</a:t>
            </a:r>
            <a:endParaRPr lang="en-US" sz="850" dirty="0"/>
          </a:p>
          <a:p>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Configuration via variables d'environnement </a:t>
            </a:r>
            <a:pPr algn="l" marL="342900" indent="-342900">
              <a:lnSpc>
                <a:spcPct val="126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.env</a:t>
            </a:r>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 : </a:t>
            </a:r>
            <a:pPr algn="l" marL="342900" indent="-342900">
              <a:lnSpc>
                <a:spcPct val="126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SECRET_KEY</a:t>
            </a:r>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 </a:t>
            </a:r>
            <a:pPr algn="l" marL="342900" indent="-342900">
              <a:lnSpc>
                <a:spcPct val="126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DB_PASSWORD</a:t>
            </a:r>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 </a:t>
            </a:r>
            <a:pPr algn="l" marL="342900" indent="-342900">
              <a:lnSpc>
                <a:spcPct val="126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ALLOWED_HOSTS</a:t>
            </a:r>
            <a:endParaRPr lang="en-US" sz="850" dirty="0"/>
          </a:p>
          <a:p>
            <a:pPr algn="l" marL="342900" indent="-342900">
              <a:lnSpc>
                <a:spcPct val="126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DEBUG = False</a:t>
            </a:r>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 + pages d'erreur génériques en production</a:t>
            </a:r>
            <a:endParaRPr lang="en-US" sz="850" dirty="0"/>
          </a:p>
          <a:p>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Cookies : </a:t>
            </a:r>
            <a:pPr algn="l" marL="342900" indent="-342900">
              <a:lnSpc>
                <a:spcPct val="126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Secure</a:t>
            </a:r>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 + </a:t>
            </a:r>
            <a:pPr algn="l" marL="342900" indent="-342900">
              <a:lnSpc>
                <a:spcPct val="126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HttpOnly</a:t>
            </a:r>
            <a:pPr algn="l" marL="342900" indent="-342900">
              <a:lnSpc>
                <a:spcPct val="126000"/>
              </a:lnSpc>
              <a:buSzPct val="100000"/>
              <a:buChar char="•"/>
            </a:pPr>
            <a:r>
              <a:rPr lang="en-US" sz="850" dirty="0">
                <a:solidFill>
                  <a:srgbClr val="383838"/>
                </a:solidFill>
                <a:latin typeface="DM Sans" pitchFamily="34" charset="0"/>
                <a:ea typeface="DM Sans" pitchFamily="34" charset="-122"/>
                <a:cs typeface="DM Sans" pitchFamily="34" charset="-120"/>
              </a:rPr>
              <a:t> + </a:t>
            </a:r>
            <a:pPr algn="l" marL="342900" indent="-342900">
              <a:lnSpc>
                <a:spcPct val="126000"/>
              </a:lnSpc>
              <a:buSzPct val="100000"/>
              <a:buChar char="•"/>
            </a:pPr>
            <a:r>
              <a:rPr lang="en-US" sz="850" dirty="0">
                <a:solidFill>
                  <a:srgbClr val="383838"/>
                </a:solidFill>
                <a:highlight>
                  <a:srgbClr val="F2F2F2"/>
                </a:highlight>
                <a:latin typeface="Consolas" pitchFamily="34" charset="0"/>
                <a:ea typeface="Consolas" pitchFamily="34" charset="-122"/>
                <a:cs typeface="Consolas" pitchFamily="34" charset="-120"/>
              </a:rPr>
              <a:t>SameSite=Lax</a:t>
            </a:r>
            <a:endParaRPr lang="en-US" sz="850" dirty="0"/>
          </a:p>
        </p:txBody>
      </p:sp>
      <p:sp>
        <p:nvSpPr>
          <p:cNvPr id="7" name="Shape 5"/>
          <p:cNvSpPr/>
          <p:nvPr/>
        </p:nvSpPr>
        <p:spPr>
          <a:xfrm>
            <a:off x="441871" y="3801889"/>
            <a:ext cx="8260259" cy="14288"/>
          </a:xfrm>
          <a:prstGeom prst="roundRect">
            <a:avLst>
              <a:gd name="adj" fmla="val 115984"/>
            </a:avLst>
          </a:prstGeom>
          <a:solidFill>
            <a:srgbClr val="D8D4D4"/>
          </a:solidFill>
          <a:ln/>
        </p:spPr>
      </p:sp>
      <p:sp>
        <p:nvSpPr>
          <p:cNvPr id="8" name="Shape 6"/>
          <p:cNvSpPr/>
          <p:nvPr/>
        </p:nvSpPr>
        <p:spPr>
          <a:xfrm>
            <a:off x="2469059" y="3470523"/>
            <a:ext cx="14288" cy="331366"/>
          </a:xfrm>
          <a:prstGeom prst="roundRect">
            <a:avLst>
              <a:gd name="adj" fmla="val 115984"/>
            </a:avLst>
          </a:prstGeom>
          <a:solidFill>
            <a:srgbClr val="D8D4D4"/>
          </a:solidFill>
          <a:ln/>
        </p:spPr>
      </p:sp>
      <p:sp>
        <p:nvSpPr>
          <p:cNvPr id="9" name="Shape 7"/>
          <p:cNvSpPr/>
          <p:nvPr/>
        </p:nvSpPr>
        <p:spPr>
          <a:xfrm>
            <a:off x="2351931" y="3677617"/>
            <a:ext cx="248543" cy="248543"/>
          </a:xfrm>
          <a:prstGeom prst="roundRect">
            <a:avLst>
              <a:gd name="adj" fmla="val 6668"/>
            </a:avLst>
          </a:prstGeom>
          <a:solidFill>
            <a:srgbClr val="F2EEEE"/>
          </a:solidFill>
          <a:ln/>
        </p:spPr>
      </p:sp>
      <p:sp>
        <p:nvSpPr>
          <p:cNvPr id="10" name="Text 8"/>
          <p:cNvSpPr/>
          <p:nvPr/>
        </p:nvSpPr>
        <p:spPr>
          <a:xfrm>
            <a:off x="2389212" y="3693170"/>
            <a:ext cx="173980" cy="217438"/>
          </a:xfrm>
          <a:prstGeom prst="rect">
            <a:avLst/>
          </a:prstGeom>
          <a:noFill/>
          <a:ln/>
        </p:spPr>
        <p:txBody>
          <a:bodyPr wrap="none" lIns="0" tIns="0" rIns="0" bIns="0" rtlCol="0" anchor="ctr"/>
          <a:lstStyle/>
          <a:p>
            <a:pPr algn="ctr" indent="0" marL="0">
              <a:lnSpc>
                <a:spcPct val="100000"/>
              </a:lnSpc>
              <a:buNone/>
            </a:pPr>
            <a:r>
              <a:rPr lang="en-US" sz="1350" dirty="0">
                <a:solidFill>
                  <a:srgbClr val="383838"/>
                </a:solidFill>
                <a:latin typeface="PT Serif" pitchFamily="34" charset="0"/>
                <a:ea typeface="PT Serif" pitchFamily="34" charset="-122"/>
                <a:cs typeface="PT Serif" pitchFamily="34" charset="-120"/>
              </a:rPr>
              <a:t>1</a:t>
            </a:r>
            <a:endParaRPr lang="en-US" sz="1350" dirty="0"/>
          </a:p>
        </p:txBody>
      </p:sp>
      <p:sp>
        <p:nvSpPr>
          <p:cNvPr id="11" name="Text 9"/>
          <p:cNvSpPr/>
          <p:nvPr/>
        </p:nvSpPr>
        <p:spPr>
          <a:xfrm>
            <a:off x="1595958" y="2613571"/>
            <a:ext cx="1760488" cy="186035"/>
          </a:xfrm>
          <a:prstGeom prst="rect">
            <a:avLst/>
          </a:prstGeom>
          <a:noFill/>
          <a:ln/>
        </p:spPr>
        <p:txBody>
          <a:bodyPr wrap="none" lIns="0" tIns="0" rIns="0" bIns="0" rtlCol="0" anchor="t"/>
          <a:lstStyle/>
          <a:p>
            <a:pPr algn="ctr" indent="0" marL="0">
              <a:lnSpc>
                <a:spcPct val="104000"/>
              </a:lnSpc>
              <a:buNone/>
            </a:pPr>
            <a:r>
              <a:rPr lang="en-US" sz="1100" dirty="0">
                <a:solidFill>
                  <a:srgbClr val="000000"/>
                </a:solidFill>
                <a:latin typeface="PT Serif" pitchFamily="34" charset="0"/>
                <a:ea typeface="PT Serif" pitchFamily="34" charset="-122"/>
                <a:cs typeface="PT Serif" pitchFamily="34" charset="-120"/>
              </a:rPr>
              <a:t>🔴</a:t>
            </a:r>
            <a:pPr algn="ctr" indent="0" marL="0">
              <a:lnSpc>
                <a:spcPct val="104000"/>
              </a:lnSpc>
              <a:buNone/>
            </a:pPr>
            <a:r>
              <a:rPr lang="en-US" sz="1100" dirty="0">
                <a:solidFill>
                  <a:srgbClr val="383838"/>
                </a:solidFill>
                <a:latin typeface="PT Serif" pitchFamily="34" charset="0"/>
                <a:ea typeface="PT Serif" pitchFamily="34" charset="-122"/>
                <a:cs typeface="PT Serif" pitchFamily="34" charset="-120"/>
              </a:rPr>
              <a:t> Sprint Urgence — J0 à J7</a:t>
            </a:r>
            <a:endParaRPr lang="en-US" sz="1100" dirty="0"/>
          </a:p>
        </p:txBody>
      </p:sp>
      <p:sp>
        <p:nvSpPr>
          <p:cNvPr id="12" name="Text 10"/>
          <p:cNvSpPr/>
          <p:nvPr/>
        </p:nvSpPr>
        <p:spPr>
          <a:xfrm>
            <a:off x="552301" y="2858616"/>
            <a:ext cx="3847802" cy="501402"/>
          </a:xfrm>
          <a:prstGeom prst="rect">
            <a:avLst/>
          </a:prstGeom>
          <a:noFill/>
          <a:ln/>
        </p:spPr>
        <p:txBody>
          <a:bodyPr wrap="square" lIns="0" tIns="0" rIns="0" bIns="0" rtlCol="0" anchor="t">
            <a:normAutofit/>
          </a:bodyPr>
          <a:lstStyle/>
          <a:p>
            <a:pPr algn="ctr" indent="0" marL="0">
              <a:lnSpc>
                <a:spcPct val="126000"/>
              </a:lnSpc>
              <a:buNone/>
            </a:pPr>
            <a:r>
              <a:rPr lang="en-US" sz="850" dirty="0">
                <a:solidFill>
                  <a:srgbClr val="383838"/>
                </a:solidFill>
                <a:latin typeface="DM Sans" pitchFamily="34" charset="0"/>
                <a:ea typeface="DM Sans" pitchFamily="34" charset="-122"/>
                <a:cs typeface="DM Sans" pitchFamily="34" charset="-120"/>
              </a:rPr>
              <a:t>7 correctifs bloquants : .env (SECRET_KEY, DB_PASSWORD) · DEBUG=False · Supprimer @csrf_exempt · @login_required sur LOAN · ALLOWED_HOSTS · Contrôle rôle admin · Migrer vers request.user</a:t>
            </a:r>
            <a:endParaRPr lang="en-US" sz="850" dirty="0"/>
          </a:p>
        </p:txBody>
      </p:sp>
      <p:sp>
        <p:nvSpPr>
          <p:cNvPr id="13" name="Shape 11"/>
          <p:cNvSpPr/>
          <p:nvPr/>
        </p:nvSpPr>
        <p:spPr>
          <a:xfrm>
            <a:off x="4564856" y="3801889"/>
            <a:ext cx="14288" cy="331366"/>
          </a:xfrm>
          <a:prstGeom prst="roundRect">
            <a:avLst>
              <a:gd name="adj" fmla="val 115984"/>
            </a:avLst>
          </a:prstGeom>
          <a:solidFill>
            <a:srgbClr val="D8D4D4"/>
          </a:solidFill>
          <a:ln/>
        </p:spPr>
      </p:sp>
      <p:sp>
        <p:nvSpPr>
          <p:cNvPr id="14" name="Shape 12"/>
          <p:cNvSpPr/>
          <p:nvPr/>
        </p:nvSpPr>
        <p:spPr>
          <a:xfrm>
            <a:off x="4447729" y="3677617"/>
            <a:ext cx="248543" cy="248543"/>
          </a:xfrm>
          <a:prstGeom prst="roundRect">
            <a:avLst>
              <a:gd name="adj" fmla="val 6668"/>
            </a:avLst>
          </a:prstGeom>
          <a:solidFill>
            <a:srgbClr val="F2EEEE"/>
          </a:solidFill>
          <a:ln/>
        </p:spPr>
      </p:sp>
      <p:sp>
        <p:nvSpPr>
          <p:cNvPr id="15" name="Text 13"/>
          <p:cNvSpPr/>
          <p:nvPr/>
        </p:nvSpPr>
        <p:spPr>
          <a:xfrm>
            <a:off x="4485010" y="3693170"/>
            <a:ext cx="173980" cy="217438"/>
          </a:xfrm>
          <a:prstGeom prst="rect">
            <a:avLst/>
          </a:prstGeom>
          <a:noFill/>
          <a:ln/>
        </p:spPr>
        <p:txBody>
          <a:bodyPr wrap="none" lIns="0" tIns="0" rIns="0" bIns="0" rtlCol="0" anchor="ctr"/>
          <a:lstStyle/>
          <a:p>
            <a:pPr algn="ctr" indent="0" marL="0">
              <a:lnSpc>
                <a:spcPct val="100000"/>
              </a:lnSpc>
              <a:buNone/>
            </a:pPr>
            <a:r>
              <a:rPr lang="en-US" sz="1350" dirty="0">
                <a:solidFill>
                  <a:srgbClr val="383838"/>
                </a:solidFill>
                <a:latin typeface="PT Serif" pitchFamily="34" charset="0"/>
                <a:ea typeface="PT Serif" pitchFamily="34" charset="-122"/>
                <a:cs typeface="PT Serif" pitchFamily="34" charset="-120"/>
              </a:rPr>
              <a:t>2</a:t>
            </a:r>
            <a:endParaRPr lang="en-US" sz="1350" dirty="0"/>
          </a:p>
        </p:txBody>
      </p:sp>
      <p:sp>
        <p:nvSpPr>
          <p:cNvPr id="16" name="Text 14"/>
          <p:cNvSpPr/>
          <p:nvPr/>
        </p:nvSpPr>
        <p:spPr>
          <a:xfrm>
            <a:off x="3846984" y="4243760"/>
            <a:ext cx="1450032" cy="186035"/>
          </a:xfrm>
          <a:prstGeom prst="rect">
            <a:avLst/>
          </a:prstGeom>
          <a:noFill/>
          <a:ln/>
        </p:spPr>
        <p:txBody>
          <a:bodyPr wrap="none" lIns="0" tIns="0" rIns="0" bIns="0" rtlCol="0" anchor="t"/>
          <a:lstStyle/>
          <a:p>
            <a:pPr algn="ctr" indent="0" marL="0">
              <a:lnSpc>
                <a:spcPct val="104000"/>
              </a:lnSpc>
              <a:buNone/>
            </a:pPr>
            <a:r>
              <a:rPr lang="en-US" sz="1100" dirty="0">
                <a:solidFill>
                  <a:srgbClr val="000000"/>
                </a:solidFill>
                <a:latin typeface="PT Serif" pitchFamily="34" charset="0"/>
                <a:ea typeface="PT Serif" pitchFamily="34" charset="-122"/>
                <a:cs typeface="PT Serif" pitchFamily="34" charset="-120"/>
              </a:rPr>
              <a:t>🟡</a:t>
            </a:r>
            <a:pPr algn="ctr" indent="0" marL="0">
              <a:lnSpc>
                <a:spcPct val="104000"/>
              </a:lnSpc>
              <a:buNone/>
            </a:pPr>
            <a:r>
              <a:rPr lang="en-US" sz="1100" dirty="0">
                <a:solidFill>
                  <a:srgbClr val="383838"/>
                </a:solidFill>
                <a:latin typeface="PT Serif" pitchFamily="34" charset="0"/>
                <a:ea typeface="PT Serif" pitchFamily="34" charset="-122"/>
                <a:cs typeface="PT Serif" pitchFamily="34" charset="-120"/>
              </a:rPr>
              <a:t> Sprint 2 — J7 à J30</a:t>
            </a:r>
            <a:endParaRPr lang="en-US" sz="1100" dirty="0"/>
          </a:p>
        </p:txBody>
      </p:sp>
      <p:sp>
        <p:nvSpPr>
          <p:cNvPr id="17" name="Text 15"/>
          <p:cNvSpPr/>
          <p:nvPr/>
        </p:nvSpPr>
        <p:spPr>
          <a:xfrm>
            <a:off x="2648099" y="4488805"/>
            <a:ext cx="3847802" cy="334268"/>
          </a:xfrm>
          <a:prstGeom prst="rect">
            <a:avLst/>
          </a:prstGeom>
          <a:noFill/>
          <a:ln/>
        </p:spPr>
        <p:txBody>
          <a:bodyPr wrap="square" lIns="0" tIns="0" rIns="0" bIns="0" rtlCol="0" anchor="t">
            <a:normAutofit/>
          </a:bodyPr>
          <a:lstStyle/>
          <a:p>
            <a:pPr algn="ctr" indent="0" marL="0">
              <a:lnSpc>
                <a:spcPct val="126000"/>
              </a:lnSpc>
              <a:buNone/>
            </a:pPr>
            <a:r>
              <a:rPr lang="en-US" sz="850" dirty="0">
                <a:solidFill>
                  <a:srgbClr val="383838"/>
                </a:solidFill>
                <a:latin typeface="DM Sans" pitchFamily="34" charset="0"/>
                <a:ea typeface="DM Sans" pitchFamily="34" charset="-122"/>
                <a:cs typeface="DM Sans" pitchFamily="34" charset="-120"/>
              </a:rPr>
              <a:t>Supprimer hashes SQL committés · Ajouter CSP · Activer HSTS · COOKIE_HTTPONLY=True · Nettoyer données injectées (livres ID 5, 6)</a:t>
            </a:r>
            <a:endParaRPr lang="en-US" sz="850" dirty="0"/>
          </a:p>
        </p:txBody>
      </p:sp>
      <p:sp>
        <p:nvSpPr>
          <p:cNvPr id="18" name="Shape 16"/>
          <p:cNvSpPr/>
          <p:nvPr/>
        </p:nvSpPr>
        <p:spPr>
          <a:xfrm>
            <a:off x="6660654" y="3470523"/>
            <a:ext cx="14288" cy="331366"/>
          </a:xfrm>
          <a:prstGeom prst="roundRect">
            <a:avLst>
              <a:gd name="adj" fmla="val 115984"/>
            </a:avLst>
          </a:prstGeom>
          <a:solidFill>
            <a:srgbClr val="D8D4D4"/>
          </a:solidFill>
          <a:ln/>
        </p:spPr>
      </p:sp>
      <p:sp>
        <p:nvSpPr>
          <p:cNvPr id="19" name="Shape 17"/>
          <p:cNvSpPr/>
          <p:nvPr/>
        </p:nvSpPr>
        <p:spPr>
          <a:xfrm>
            <a:off x="6543526" y="3677617"/>
            <a:ext cx="248543" cy="248543"/>
          </a:xfrm>
          <a:prstGeom prst="roundRect">
            <a:avLst>
              <a:gd name="adj" fmla="val 6668"/>
            </a:avLst>
          </a:prstGeom>
          <a:solidFill>
            <a:srgbClr val="F2EEEE"/>
          </a:solidFill>
          <a:ln/>
        </p:spPr>
      </p:sp>
      <p:sp>
        <p:nvSpPr>
          <p:cNvPr id="20" name="Text 18"/>
          <p:cNvSpPr/>
          <p:nvPr/>
        </p:nvSpPr>
        <p:spPr>
          <a:xfrm>
            <a:off x="6580808" y="3693170"/>
            <a:ext cx="173980" cy="217438"/>
          </a:xfrm>
          <a:prstGeom prst="rect">
            <a:avLst/>
          </a:prstGeom>
          <a:noFill/>
          <a:ln/>
        </p:spPr>
        <p:txBody>
          <a:bodyPr wrap="none" lIns="0" tIns="0" rIns="0" bIns="0" rtlCol="0" anchor="ctr"/>
          <a:lstStyle/>
          <a:p>
            <a:pPr algn="ctr" indent="0" marL="0">
              <a:lnSpc>
                <a:spcPct val="100000"/>
              </a:lnSpc>
              <a:buNone/>
            </a:pPr>
            <a:r>
              <a:rPr lang="en-US" sz="1350" dirty="0">
                <a:solidFill>
                  <a:srgbClr val="383838"/>
                </a:solidFill>
                <a:latin typeface="PT Serif" pitchFamily="34" charset="0"/>
                <a:ea typeface="PT Serif" pitchFamily="34" charset="-122"/>
                <a:cs typeface="PT Serif" pitchFamily="34" charset="-120"/>
              </a:rPr>
              <a:t>3</a:t>
            </a:r>
            <a:endParaRPr lang="en-US" sz="1350" dirty="0"/>
          </a:p>
        </p:txBody>
      </p:sp>
      <p:sp>
        <p:nvSpPr>
          <p:cNvPr id="21" name="Text 19"/>
          <p:cNvSpPr/>
          <p:nvPr/>
        </p:nvSpPr>
        <p:spPr>
          <a:xfrm>
            <a:off x="5942781" y="2613571"/>
            <a:ext cx="1450032" cy="186035"/>
          </a:xfrm>
          <a:prstGeom prst="rect">
            <a:avLst/>
          </a:prstGeom>
          <a:noFill/>
          <a:ln/>
        </p:spPr>
        <p:txBody>
          <a:bodyPr wrap="none" lIns="0" tIns="0" rIns="0" bIns="0" rtlCol="0" anchor="t"/>
          <a:lstStyle/>
          <a:p>
            <a:pPr algn="ctr" indent="0" marL="0">
              <a:lnSpc>
                <a:spcPct val="104000"/>
              </a:lnSpc>
              <a:buNone/>
            </a:pPr>
            <a:r>
              <a:rPr lang="en-US" sz="1100" dirty="0">
                <a:solidFill>
                  <a:srgbClr val="000000"/>
                </a:solidFill>
                <a:latin typeface="PT Serif" pitchFamily="34" charset="0"/>
                <a:ea typeface="PT Serif" pitchFamily="34" charset="-122"/>
                <a:cs typeface="PT Serif" pitchFamily="34" charset="-120"/>
              </a:rPr>
              <a:t>🟢</a:t>
            </a:r>
            <a:pPr algn="ctr" indent="0" marL="0">
              <a:lnSpc>
                <a:spcPct val="104000"/>
              </a:lnSpc>
              <a:buNone/>
            </a:pPr>
            <a:r>
              <a:rPr lang="en-US" sz="1100" dirty="0">
                <a:solidFill>
                  <a:srgbClr val="383838"/>
                </a:solidFill>
                <a:latin typeface="PT Serif" pitchFamily="34" charset="0"/>
                <a:ea typeface="PT Serif" pitchFamily="34" charset="-122"/>
                <a:cs typeface="PT Serif" pitchFamily="34" charset="-120"/>
              </a:rPr>
              <a:t> Backlog</a:t>
            </a:r>
            <a:endParaRPr lang="en-US" sz="1100" dirty="0"/>
          </a:p>
        </p:txBody>
      </p:sp>
      <p:sp>
        <p:nvSpPr>
          <p:cNvPr id="22" name="Text 20"/>
          <p:cNvSpPr/>
          <p:nvPr/>
        </p:nvSpPr>
        <p:spPr>
          <a:xfrm>
            <a:off x="4743896" y="2858616"/>
            <a:ext cx="3847802" cy="167134"/>
          </a:xfrm>
          <a:prstGeom prst="rect">
            <a:avLst/>
          </a:prstGeom>
          <a:noFill/>
          <a:ln/>
        </p:spPr>
        <p:txBody>
          <a:bodyPr wrap="none" lIns="0" tIns="0" rIns="0" bIns="0" rtlCol="0" anchor="t"/>
          <a:lstStyle/>
          <a:p>
            <a:pPr algn="ctr" indent="0" marL="0">
              <a:lnSpc>
                <a:spcPct val="126000"/>
              </a:lnSpc>
              <a:buNone/>
            </a:pPr>
            <a:r>
              <a:rPr lang="en-US" sz="850" dirty="0">
                <a:solidFill>
                  <a:srgbClr val="383838"/>
                </a:solidFill>
                <a:latin typeface="DM Sans" pitchFamily="34" charset="0"/>
                <a:ea typeface="DM Sans" pitchFamily="34" charset="-122"/>
                <a:cs typeface="DM Sans" pitchFamily="34" charset="-120"/>
              </a:rPr>
              <a:t>Accessibilité HTML · Contraste CSS · Sélecteurs dupliqués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F2EEEE"/>
          </a:solidFill>
          <a:ln/>
        </p:spPr>
      </p:sp>
      <p:pic>
        <p:nvPicPr>
          <p:cNvPr id="3" name="Image 0" descr="preencoded.png">    </p:cNvPr>
          <p:cNvPicPr>
            <a:picLocks noChangeAspect="1"/>
          </p:cNvPicPr>
          <p:nvPr/>
        </p:nvPicPr>
        <p:blipFill>
          <a:blip r:embed="rId1"/>
          <a:stretch>
            <a:fillRect/>
          </a:stretch>
        </p:blipFill>
        <p:spPr>
          <a:xfrm>
            <a:off x="5767313" y="78432"/>
            <a:ext cx="3324374" cy="4986561"/>
          </a:xfrm>
          <a:prstGeom prst="rect">
            <a:avLst/>
          </a:prstGeom>
        </p:spPr>
      </p:pic>
      <p:sp>
        <p:nvSpPr>
          <p:cNvPr id="4" name="Shape 1"/>
          <p:cNvSpPr/>
          <p:nvPr/>
        </p:nvSpPr>
        <p:spPr>
          <a:xfrm>
            <a:off x="418654" y="406003"/>
            <a:ext cx="655439" cy="186110"/>
          </a:xfrm>
          <a:prstGeom prst="roundRect">
            <a:avLst>
              <a:gd name="adj" fmla="val 6749"/>
            </a:avLst>
          </a:prstGeom>
          <a:solidFill>
            <a:srgbClr val="FFDECC"/>
          </a:solidFill>
          <a:ln/>
        </p:spPr>
      </p:sp>
      <p:sp>
        <p:nvSpPr>
          <p:cNvPr id="5" name="Text 2"/>
          <p:cNvSpPr/>
          <p:nvPr/>
        </p:nvSpPr>
        <p:spPr>
          <a:xfrm>
            <a:off x="481385" y="437331"/>
            <a:ext cx="987177" cy="123453"/>
          </a:xfrm>
          <a:prstGeom prst="rect">
            <a:avLst/>
          </a:prstGeom>
          <a:noFill/>
          <a:ln/>
        </p:spPr>
        <p:txBody>
          <a:bodyPr wrap="none" lIns="0" tIns="0" rIns="0" bIns="0" rtlCol="0" anchor="t"/>
          <a:lstStyle/>
          <a:p>
            <a:pPr algn="l" indent="0" marL="0">
              <a:lnSpc>
                <a:spcPct val="123000"/>
              </a:lnSpc>
              <a:buNone/>
            </a:pPr>
            <a:r>
              <a:rPr lang="en-US" sz="650" dirty="0">
                <a:solidFill>
                  <a:srgbClr val="383838"/>
                </a:solidFill>
                <a:latin typeface="DM Sans" pitchFamily="34" charset="0"/>
                <a:ea typeface="DM Sans" pitchFamily="34" charset="-122"/>
                <a:cs typeface="DM Sans" pitchFamily="34" charset="-120"/>
              </a:rPr>
              <a:t>CONCLUSION</a:t>
            </a:r>
            <a:endParaRPr lang="en-US" sz="650" dirty="0"/>
          </a:p>
        </p:txBody>
      </p:sp>
      <p:sp>
        <p:nvSpPr>
          <p:cNvPr id="6" name="Text 3"/>
          <p:cNvSpPr/>
          <p:nvPr/>
        </p:nvSpPr>
        <p:spPr>
          <a:xfrm>
            <a:off x="418654" y="627385"/>
            <a:ext cx="4877693" cy="686842"/>
          </a:xfrm>
          <a:prstGeom prst="rect">
            <a:avLst/>
          </a:prstGeom>
          <a:noFill/>
          <a:ln/>
        </p:spPr>
        <p:txBody>
          <a:bodyPr wrap="square" lIns="0" tIns="0" rIns="0" bIns="0" rtlCol="0" anchor="t">
            <a:normAutofit/>
          </a:bodyPr>
          <a:lstStyle/>
          <a:p>
            <a:pPr algn="l" indent="0" marL="0">
              <a:lnSpc>
                <a:spcPct val="104000"/>
              </a:lnSpc>
              <a:buNone/>
            </a:pPr>
            <a:r>
              <a:rPr lang="en-US" sz="2150" dirty="0">
                <a:solidFill>
                  <a:srgbClr val="020202"/>
                </a:solidFill>
                <a:latin typeface="PT Serif" pitchFamily="34" charset="0"/>
                <a:ea typeface="PT Serif" pitchFamily="34" charset="-122"/>
                <a:cs typeface="PT Serif" pitchFamily="34" charset="-120"/>
              </a:rPr>
              <a:t>Conclusion — L'application n'est pas déployable en l'état</a:t>
            </a:r>
            <a:endParaRPr lang="en-US" sz="2150" dirty="0"/>
          </a:p>
        </p:txBody>
      </p:sp>
      <p:sp>
        <p:nvSpPr>
          <p:cNvPr id="7" name="Shape 4"/>
          <p:cNvSpPr/>
          <p:nvPr/>
        </p:nvSpPr>
        <p:spPr>
          <a:xfrm>
            <a:off x="343346" y="1446684"/>
            <a:ext cx="2461840" cy="3290813"/>
          </a:xfrm>
          <a:prstGeom prst="roundRect">
            <a:avLst>
              <a:gd name="adj" fmla="val 638"/>
            </a:avLst>
          </a:prstGeom>
          <a:solidFill>
            <a:srgbClr val="E04F00"/>
          </a:solidFill>
          <a:ln/>
        </p:spPr>
      </p:sp>
      <p:sp>
        <p:nvSpPr>
          <p:cNvPr id="8" name="Text 5"/>
          <p:cNvSpPr/>
          <p:nvPr/>
        </p:nvSpPr>
        <p:spPr>
          <a:xfrm>
            <a:off x="447973" y="1534939"/>
            <a:ext cx="2427015" cy="171673"/>
          </a:xfrm>
          <a:prstGeom prst="rect">
            <a:avLst/>
          </a:prstGeom>
          <a:noFill/>
          <a:ln/>
        </p:spPr>
        <p:txBody>
          <a:bodyPr wrap="none" lIns="0" tIns="0" rIns="0" bIns="0" rtlCol="0" anchor="t"/>
          <a:lstStyle/>
          <a:p>
            <a:pPr algn="l" indent="0" marL="0">
              <a:lnSpc>
                <a:spcPct val="104000"/>
              </a:lnSpc>
              <a:buNone/>
            </a:pPr>
            <a:r>
              <a:rPr lang="en-US" sz="1050" dirty="0">
                <a:solidFill>
                  <a:srgbClr val="020202"/>
                </a:solidFill>
                <a:latin typeface="PT Serif" pitchFamily="34" charset="0"/>
                <a:ea typeface="PT Serif" pitchFamily="34" charset="-122"/>
                <a:cs typeface="PT Serif" pitchFamily="34" charset="-120"/>
              </a:rPr>
              <a:t>Avant remédiation — État actuel</a:t>
            </a:r>
            <a:endParaRPr lang="en-US" sz="1050" dirty="0"/>
          </a:p>
        </p:txBody>
      </p:sp>
      <p:sp>
        <p:nvSpPr>
          <p:cNvPr id="9" name="Text 6"/>
          <p:cNvSpPr/>
          <p:nvPr/>
        </p:nvSpPr>
        <p:spPr>
          <a:xfrm>
            <a:off x="447973" y="1794867"/>
            <a:ext cx="2252588" cy="710282"/>
          </a:xfrm>
          <a:prstGeom prst="rect">
            <a:avLst/>
          </a:prstGeom>
          <a:noFill/>
          <a:ln/>
        </p:spPr>
        <p:txBody>
          <a:bodyPr wrap="square" lIns="0" tIns="0" rIns="0" bIns="0" rtlCol="0" anchor="t">
            <a:normAutofit/>
          </a:bodyPr>
          <a:lstStyle/>
          <a:p>
            <a:pPr algn="l" marL="342900" indent="-342900">
              <a:lnSpc>
                <a:spcPct val="123000"/>
              </a:lnSpc>
              <a:buSzPct val="100000"/>
              <a:buChar char="•"/>
            </a:pPr>
            <a:r>
              <a:rPr lang="en-US" sz="800" dirty="0">
                <a:solidFill>
                  <a:srgbClr val="000000"/>
                </a:solidFill>
                <a:latin typeface="DM Sans" pitchFamily="34" charset="0"/>
                <a:ea typeface="DM Sans" pitchFamily="34" charset="-122"/>
                <a:cs typeface="DM Sans" pitchFamily="34" charset="-120"/>
              </a:rPr>
              <a:t>3 exploits réussis en production confirmés</a:t>
            </a:r>
            <a:endParaRPr lang="en-US" sz="800" dirty="0"/>
          </a:p>
          <a:p>
            <a:pPr algn="l" marL="342900" indent="-342900">
              <a:lnSpc>
                <a:spcPct val="123000"/>
              </a:lnSpc>
              <a:buSzPct val="100000"/>
              <a:buChar char="•"/>
            </a:pPr>
            <a:r>
              <a:rPr lang="en-US" sz="800" dirty="0">
                <a:solidFill>
                  <a:srgbClr val="000000"/>
                </a:solidFill>
                <a:latin typeface="DM Sans" pitchFamily="34" charset="0"/>
                <a:ea typeface="DM Sans" pitchFamily="34" charset="-122"/>
                <a:cs typeface="DM Sans" pitchFamily="34" charset="-120"/>
              </a:rPr>
              <a:t>CVSS max = </a:t>
            </a:r>
            <a:pPr algn="l" marL="342900" indent="-342900">
              <a:lnSpc>
                <a:spcPct val="123000"/>
              </a:lnSpc>
              <a:buSzPct val="100000"/>
              <a:buChar char="•"/>
            </a:pPr>
            <a:r>
              <a:rPr lang="en-US" sz="800" b="1" dirty="0">
                <a:solidFill>
                  <a:srgbClr val="000000"/>
                </a:solidFill>
                <a:latin typeface="DM Sans" pitchFamily="34" charset="0"/>
                <a:ea typeface="DM Sans" pitchFamily="34" charset="-122"/>
                <a:cs typeface="DM Sans" pitchFamily="34" charset="-120"/>
              </a:rPr>
              <a:t>9.8</a:t>
            </a:r>
            <a:pPr algn="l" marL="342900" indent="-342900">
              <a:lnSpc>
                <a:spcPct val="123000"/>
              </a:lnSpc>
              <a:buSzPct val="100000"/>
              <a:buChar char="•"/>
            </a:pPr>
            <a:r>
              <a:rPr lang="en-US" sz="800" dirty="0">
                <a:solidFill>
                  <a:srgbClr val="000000"/>
                </a:solidFill>
                <a:latin typeface="DM Sans" pitchFamily="34" charset="0"/>
                <a:ea typeface="DM Sans" pitchFamily="34" charset="-122"/>
                <a:cs typeface="DM Sans" pitchFamily="34" charset="-120"/>
              </a:rPr>
              <a:t> (credentials DB en clair)</a:t>
            </a:r>
            <a:endParaRPr lang="en-US" sz="800" dirty="0"/>
          </a:p>
          <a:p>
            <a:pPr algn="l" marL="342900" indent="-342900">
              <a:lnSpc>
                <a:spcPct val="123000"/>
              </a:lnSpc>
              <a:buSzPct val="100000"/>
              <a:buChar char="•"/>
            </a:pPr>
            <a:r>
              <a:rPr lang="en-US" sz="800" dirty="0">
                <a:solidFill>
                  <a:srgbClr val="000000"/>
                </a:solidFill>
                <a:latin typeface="DM Sans" pitchFamily="34" charset="0"/>
                <a:ea typeface="DM Sans" pitchFamily="34" charset="-122"/>
                <a:cs typeface="DM Sans" pitchFamily="34" charset="-120"/>
              </a:rPr>
              <a:t>SonarCloud Security : note </a:t>
            </a:r>
            <a:pPr algn="l" marL="342900" indent="-342900">
              <a:lnSpc>
                <a:spcPct val="123000"/>
              </a:lnSpc>
              <a:buSzPct val="100000"/>
              <a:buChar char="•"/>
            </a:pPr>
            <a:r>
              <a:rPr lang="en-US" sz="800" b="1" dirty="0">
                <a:solidFill>
                  <a:srgbClr val="000000"/>
                </a:solidFill>
                <a:latin typeface="DM Sans" pitchFamily="34" charset="0"/>
                <a:ea typeface="DM Sans" pitchFamily="34" charset="-122"/>
                <a:cs typeface="DM Sans" pitchFamily="34" charset="-120"/>
              </a:rPr>
              <a:t>E</a:t>
            </a:r>
            <a:endParaRPr lang="en-US" sz="800" dirty="0"/>
          </a:p>
          <a:p>
            <a:pPr algn="l" marL="342900" indent="-342900">
              <a:lnSpc>
                <a:spcPct val="123000"/>
              </a:lnSpc>
              <a:buSzPct val="100000"/>
              <a:buChar char="•"/>
            </a:pPr>
            <a:r>
              <a:rPr lang="en-US" sz="800" dirty="0">
                <a:solidFill>
                  <a:srgbClr val="000000"/>
                </a:solidFill>
                <a:latin typeface="DM Sans" pitchFamily="34" charset="0"/>
                <a:ea typeface="DM Sans" pitchFamily="34" charset="-122"/>
                <a:cs typeface="DM Sans" pitchFamily="34" charset="-120"/>
              </a:rPr>
              <a:t>❌</a:t>
            </a:r>
            <a:pPr algn="l" marL="342900" indent="-342900">
              <a:lnSpc>
                <a:spcPct val="123000"/>
              </a:lnSpc>
              <a:buSzPct val="100000"/>
              <a:buChar char="•"/>
            </a:pPr>
            <a:r>
              <a:rPr lang="en-US" sz="800" b="1" dirty="0">
                <a:solidFill>
                  <a:srgbClr val="000000"/>
                </a:solidFill>
                <a:latin typeface="DM Sans" pitchFamily="34" charset="0"/>
                <a:ea typeface="DM Sans" pitchFamily="34" charset="-122"/>
                <a:cs typeface="DM Sans" pitchFamily="34" charset="-120"/>
              </a:rPr>
              <a:t> Non déployable en production</a:t>
            </a:r>
            <a:endParaRPr lang="en-US" sz="800" dirty="0"/>
          </a:p>
        </p:txBody>
      </p:sp>
      <p:sp>
        <p:nvSpPr>
          <p:cNvPr id="10" name="Text 7"/>
          <p:cNvSpPr/>
          <p:nvPr/>
        </p:nvSpPr>
        <p:spPr>
          <a:xfrm>
            <a:off x="2989883" y="1534939"/>
            <a:ext cx="2368525" cy="171673"/>
          </a:xfrm>
          <a:prstGeom prst="rect">
            <a:avLst/>
          </a:prstGeom>
          <a:noFill/>
          <a:ln/>
        </p:spPr>
        <p:txBody>
          <a:bodyPr wrap="none" lIns="0" tIns="0" rIns="0" bIns="0" rtlCol="0" anchor="t"/>
          <a:lstStyle/>
          <a:p>
            <a:pPr algn="l" indent="0" marL="0">
              <a:lnSpc>
                <a:spcPct val="104000"/>
              </a:lnSpc>
              <a:buNone/>
            </a:pPr>
            <a:r>
              <a:rPr lang="en-US" sz="1050" dirty="0">
                <a:solidFill>
                  <a:srgbClr val="020202"/>
                </a:solidFill>
                <a:latin typeface="PT Serif" pitchFamily="34" charset="0"/>
                <a:ea typeface="PT Serif" pitchFamily="34" charset="-122"/>
                <a:cs typeface="PT Serif" pitchFamily="34" charset="-120"/>
              </a:rPr>
              <a:t>Après sprint d'urgence (7 jours)</a:t>
            </a:r>
            <a:endParaRPr lang="en-US" sz="1050" dirty="0"/>
          </a:p>
        </p:txBody>
      </p:sp>
      <p:sp>
        <p:nvSpPr>
          <p:cNvPr id="11" name="Text 8"/>
          <p:cNvSpPr/>
          <p:nvPr/>
        </p:nvSpPr>
        <p:spPr>
          <a:xfrm>
            <a:off x="2989883" y="1794867"/>
            <a:ext cx="2311226" cy="864691"/>
          </a:xfrm>
          <a:prstGeom prst="rect">
            <a:avLst/>
          </a:prstGeom>
          <a:noFill/>
          <a:ln/>
        </p:spPr>
        <p:txBody>
          <a:bodyPr wrap="square" lIns="0" tIns="0" rIns="0" bIns="0" rtlCol="0" anchor="t">
            <a:normAutofit/>
          </a:bodyPr>
          <a:lstStyle/>
          <a:p>
            <a:pPr algn="l" marL="342900" indent="-342900">
              <a:lnSpc>
                <a:spcPct val="123000"/>
              </a:lnSpc>
              <a:buSzPct val="100000"/>
              <a:buChar char="•"/>
            </a:pPr>
            <a:r>
              <a:rPr lang="en-US" sz="800" dirty="0">
                <a:solidFill>
                  <a:srgbClr val="383838"/>
                </a:solidFill>
                <a:latin typeface="DM Sans" pitchFamily="34" charset="0"/>
                <a:ea typeface="DM Sans" pitchFamily="34" charset="-122"/>
                <a:cs typeface="DM Sans" pitchFamily="34" charset="-120"/>
              </a:rPr>
              <a:t>7 failles bloquantes corrigées → risque passe de CRITIQUE à </a:t>
            </a:r>
            <a:pPr algn="l" marL="342900" indent="-342900">
              <a:lnSpc>
                <a:spcPct val="123000"/>
              </a:lnSpc>
              <a:buSzPct val="100000"/>
              <a:buChar char="•"/>
            </a:pPr>
            <a:r>
              <a:rPr lang="en-US" sz="800" b="1" dirty="0">
                <a:solidFill>
                  <a:srgbClr val="383838"/>
                </a:solidFill>
                <a:latin typeface="DM Sans" pitchFamily="34" charset="0"/>
                <a:ea typeface="DM Sans" pitchFamily="34" charset="-122"/>
                <a:cs typeface="DM Sans" pitchFamily="34" charset="-120"/>
              </a:rPr>
              <a:t>MODÉRÉ</a:t>
            </a:r>
            <a:endParaRPr lang="en-US" sz="800" dirty="0"/>
          </a:p>
          <a:p>
            <a:pPr algn="l" marL="342900" indent="-342900">
              <a:lnSpc>
                <a:spcPct val="123000"/>
              </a:lnSpc>
              <a:buSzPct val="100000"/>
              <a:buChar char="•"/>
            </a:pPr>
            <a:r>
              <a:rPr lang="en-US" sz="800" dirty="0">
                <a:solidFill>
                  <a:srgbClr val="383838"/>
                </a:solidFill>
                <a:latin typeface="DM Sans" pitchFamily="34" charset="0"/>
                <a:ea typeface="DM Sans" pitchFamily="34" charset="-122"/>
                <a:cs typeface="DM Sans" pitchFamily="34" charset="-120"/>
              </a:rPr>
              <a:t>Aucune credential en clair</a:t>
            </a:r>
            <a:endParaRPr lang="en-US" sz="800" dirty="0"/>
          </a:p>
          <a:p>
            <a:pPr algn="l" marL="342900" indent="-342900">
              <a:lnSpc>
                <a:spcPct val="123000"/>
              </a:lnSpc>
              <a:buSzPct val="100000"/>
              <a:buChar char="•"/>
            </a:pPr>
            <a:r>
              <a:rPr lang="en-US" sz="800" dirty="0">
                <a:solidFill>
                  <a:srgbClr val="383838"/>
                </a:solidFill>
                <a:latin typeface="DM Sans" pitchFamily="34" charset="0"/>
                <a:ea typeface="DM Sans" pitchFamily="34" charset="-122"/>
                <a:cs typeface="DM Sans" pitchFamily="34" charset="-120"/>
              </a:rPr>
              <a:t>CSRF + authentification correctement gérés</a:t>
            </a:r>
            <a:endParaRPr lang="en-US" sz="800" dirty="0"/>
          </a:p>
          <a:p>
            <a:pPr algn="l" marL="342900" indent="-342900">
              <a:lnSpc>
                <a:spcPct val="123000"/>
              </a:lnSpc>
              <a:buSzPct val="100000"/>
              <a:buChar char="•"/>
            </a:pPr>
            <a:r>
              <a:rPr lang="en-US" sz="800" dirty="0">
                <a:solidFill>
                  <a:srgbClr val="000000"/>
                </a:solidFill>
                <a:latin typeface="DM Sans" pitchFamily="34" charset="0"/>
                <a:ea typeface="DM Sans" pitchFamily="34" charset="-122"/>
                <a:cs typeface="DM Sans" pitchFamily="34" charset="-120"/>
              </a:rPr>
              <a:t>✅</a:t>
            </a:r>
            <a:pPr algn="l" marL="342900" indent="-342900">
              <a:lnSpc>
                <a:spcPct val="123000"/>
              </a:lnSpc>
              <a:buSzPct val="100000"/>
              <a:buChar char="•"/>
            </a:pPr>
            <a:r>
              <a:rPr lang="en-US" sz="800" b="1" dirty="0">
                <a:solidFill>
                  <a:srgbClr val="383838"/>
                </a:solidFill>
                <a:latin typeface="DM Sans" pitchFamily="34" charset="0"/>
                <a:ea typeface="DM Sans" pitchFamily="34" charset="-122"/>
                <a:cs typeface="DM Sans" pitchFamily="34" charset="-120"/>
              </a:rPr>
              <a:t> Déployable sous surveillance</a:t>
            </a:r>
            <a:endParaRPr lang="en-US" sz="800" dirty="0"/>
          </a:p>
        </p:txBody>
      </p:sp>
      <p:sp>
        <p:nvSpPr>
          <p:cNvPr id="12" name="Shape 9"/>
          <p:cNvSpPr/>
          <p:nvPr/>
        </p:nvSpPr>
        <p:spPr>
          <a:xfrm>
            <a:off x="2989883" y="2758901"/>
            <a:ext cx="2311226" cy="1172617"/>
          </a:xfrm>
          <a:prstGeom prst="roundRect">
            <a:avLst>
              <a:gd name="adj" fmla="val 1339"/>
            </a:avLst>
          </a:prstGeom>
          <a:solidFill>
            <a:srgbClr val="FCF2B5"/>
          </a:solidFill>
          <a:ln/>
        </p:spPr>
      </p:sp>
      <p:pic>
        <p:nvPicPr>
          <p:cNvPr id="13" name="Image 1" descr="preencoded.png">    </p:cNvPr>
          <p:cNvPicPr>
            <a:picLocks noChangeAspect="1"/>
          </p:cNvPicPr>
          <p:nvPr/>
        </p:nvPicPr>
        <p:blipFill>
          <a:blip r:embed="rId2"/>
          <a:stretch>
            <a:fillRect/>
          </a:stretch>
        </p:blipFill>
        <p:spPr>
          <a:xfrm>
            <a:off x="3094509" y="2907581"/>
            <a:ext cx="130820" cy="104626"/>
          </a:xfrm>
          <a:prstGeom prst="rect">
            <a:avLst/>
          </a:prstGeom>
        </p:spPr>
      </p:pic>
      <p:sp>
        <p:nvSpPr>
          <p:cNvPr id="14" name="Text 10"/>
          <p:cNvSpPr/>
          <p:nvPr/>
        </p:nvSpPr>
        <p:spPr>
          <a:xfrm>
            <a:off x="3329955" y="2873276"/>
            <a:ext cx="1866528" cy="926455"/>
          </a:xfrm>
          <a:prstGeom prst="rect">
            <a:avLst/>
          </a:prstGeom>
          <a:noFill/>
          <a:ln/>
        </p:spPr>
        <p:txBody>
          <a:bodyPr wrap="square" lIns="0" tIns="0" rIns="0" bIns="0" rtlCol="0" anchor="t">
            <a:normAutofit/>
          </a:bodyPr>
          <a:lstStyle/>
          <a:p>
            <a:pPr algn="l" indent="0" marL="0">
              <a:lnSpc>
                <a:spcPct val="123000"/>
              </a:lnSpc>
              <a:buNone/>
            </a:pPr>
            <a:r>
              <a:rPr lang="en-US" sz="800" b="1" dirty="0">
                <a:solidFill>
                  <a:srgbClr val="000000"/>
                </a:solidFill>
                <a:latin typeface="DM Sans" pitchFamily="34" charset="0"/>
                <a:ea typeface="DM Sans" pitchFamily="34" charset="-122"/>
                <a:cs typeface="DM Sans" pitchFamily="34" charset="-120"/>
              </a:rPr>
              <a:t>Message clé :</a:t>
            </a:r>
            <a:pPr algn="l" indent="0" marL="0">
              <a:lnSpc>
                <a:spcPct val="123000"/>
              </a:lnSpc>
              <a:buNone/>
            </a:pPr>
            <a:r>
              <a:rPr lang="en-US" sz="800" dirty="0">
                <a:solidFill>
                  <a:srgbClr val="000000"/>
                </a:solidFill>
                <a:latin typeface="DM Sans" pitchFamily="34" charset="0"/>
                <a:ea typeface="DM Sans" pitchFamily="34" charset="-122"/>
                <a:cs typeface="DM Sans" pitchFamily="34" charset="-120"/>
              </a:rPr>
              <a:t> La version livrée est fonctionnelle mais présente des failles OWASP Top 10 élémentaires non corrigées. Le sprint d'urgence est un </a:t>
            </a:r>
            <a:pPr algn="l" indent="0" marL="0">
              <a:lnSpc>
                <a:spcPct val="123000"/>
              </a:lnSpc>
              <a:buNone/>
            </a:pPr>
            <a:r>
              <a:rPr lang="en-US" sz="800" b="1" dirty="0">
                <a:solidFill>
                  <a:srgbClr val="000000"/>
                </a:solidFill>
                <a:latin typeface="DM Sans" pitchFamily="34" charset="0"/>
                <a:ea typeface="DM Sans" pitchFamily="34" charset="-122"/>
                <a:cs typeface="DM Sans" pitchFamily="34" charset="-120"/>
              </a:rPr>
              <a:t>prérequis absolu</a:t>
            </a:r>
            <a:pPr algn="l" indent="0" marL="0">
              <a:lnSpc>
                <a:spcPct val="123000"/>
              </a:lnSpc>
              <a:buNone/>
            </a:pPr>
            <a:r>
              <a:rPr lang="en-US" sz="800" dirty="0">
                <a:solidFill>
                  <a:srgbClr val="000000"/>
                </a:solidFill>
                <a:latin typeface="DM Sans" pitchFamily="34" charset="0"/>
                <a:ea typeface="DM Sans" pitchFamily="34" charset="-122"/>
                <a:cs typeface="DM Sans" pitchFamily="34" charset="-120"/>
              </a:rPr>
              <a:t> avant toute mise en production.</a:t>
            </a:r>
            <a:endParaRPr lang="en-US" sz="800" dirty="0"/>
          </a:p>
        </p:txBody>
      </p:sp>
      <p:sp>
        <p:nvSpPr>
          <p:cNvPr id="15" name="Text 11"/>
          <p:cNvSpPr/>
          <p:nvPr/>
        </p:nvSpPr>
        <p:spPr>
          <a:xfrm>
            <a:off x="2989883" y="4030861"/>
            <a:ext cx="2311226" cy="627162"/>
          </a:xfrm>
          <a:prstGeom prst="rect">
            <a:avLst/>
          </a:prstGeom>
          <a:noFill/>
          <a:ln/>
        </p:spPr>
        <p:txBody>
          <a:bodyPr wrap="square" lIns="0" tIns="0" rIns="0" bIns="0" rtlCol="0" anchor="t">
            <a:normAutofit/>
          </a:bodyPr>
          <a:lstStyle/>
          <a:p>
            <a:pPr algn="l" indent="0" marL="0">
              <a:lnSpc>
                <a:spcPct val="123000"/>
              </a:lnSpc>
              <a:buNone/>
            </a:pPr>
            <a:r>
              <a:rPr lang="en-US" sz="800" b="1" dirty="0">
                <a:solidFill>
                  <a:srgbClr val="383838"/>
                </a:solidFill>
                <a:latin typeface="DM Sans" pitchFamily="34" charset="0"/>
                <a:ea typeface="DM Sans" pitchFamily="34" charset="-122"/>
                <a:cs typeface="DM Sans" pitchFamily="34" charset="-120"/>
              </a:rPr>
              <a:t>Références :</a:t>
            </a:r>
            <a:pPr algn="l" indent="0" marL="0">
              <a:lnSpc>
                <a:spcPct val="123000"/>
              </a:lnSpc>
              <a:buNone/>
            </a:pPr>
            <a:r>
              <a:rPr lang="en-US" sz="800" dirty="0">
                <a:solidFill>
                  <a:srgbClr val="383838"/>
                </a:solidFill>
                <a:latin typeface="DM Sans" pitchFamily="34" charset="0"/>
                <a:ea typeface="DM Sans" pitchFamily="34" charset="-122"/>
                <a:cs typeface="DM Sans" pitchFamily="34" charset="-120"/>
              </a:rPr>
              <a:t> Repo : </a:t>
            </a:r>
            <a:pPr algn="l" indent="0" marL="0">
              <a:lnSpc>
                <a:spcPct val="123000"/>
              </a:lnSpc>
              <a:buNone/>
            </a:pPr>
            <a:r>
              <a:rPr lang="en-US" sz="800" dirty="0">
                <a:solidFill>
                  <a:srgbClr val="383838"/>
                </a:solidFill>
                <a:highlight>
                  <a:srgbClr val="F2F2F2"/>
                </a:highlight>
                <a:latin typeface="Consolas" pitchFamily="34" charset="0"/>
                <a:ea typeface="Consolas" pitchFamily="34" charset="-122"/>
                <a:cs typeface="Consolas" pitchFamily="34" charset="-120"/>
              </a:rPr>
              <a:t>github.com/m1d0b4n/BC4SJ2-PYTHON</a:t>
            </a:r>
            <a:pPr algn="l" indent="0" marL="0">
              <a:lnSpc>
                <a:spcPct val="123000"/>
              </a:lnSpc>
              <a:buNone/>
            </a:pPr>
            <a:r>
              <a:rPr lang="en-US" sz="800" u="sng" dirty="0">
                <a:solidFill>
                  <a:srgbClr val="E04F00"/>
                </a:solidFill>
                <a:latin typeface="DM Sans" pitchFamily="34" charset="0"/>
                <a:ea typeface="DM Sans" pitchFamily="34" charset="-122"/>
                <a:cs typeface="DM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 </a:t>
            </a:r>
            <a:pPr algn="l" indent="0" marL="0">
              <a:lnSpc>
                <a:spcPct val="123000"/>
              </a:lnSpc>
              <a:buNone/>
            </a:pPr>
            <a:r>
              <a:rPr lang="en-US" sz="800" dirty="0">
                <a:solidFill>
                  <a:srgbClr val="383838"/>
                </a:solidFill>
                <a:latin typeface="DM Sans" pitchFamily="34" charset="0"/>
                <a:ea typeface="DM Sans" pitchFamily="34" charset="-122"/>
                <a:cs typeface="DM Sans" pitchFamily="34" charset="-120"/>
              </a:rPr>
              <a:t>· Kanban : GitHub Projects BC4SJ2-PYTHON · SonarCloud : </a:t>
            </a:r>
            <a:pPr algn="l" indent="0" marL="0">
              <a:lnSpc>
                <a:spcPct val="123000"/>
              </a:lnSpc>
              <a:buNone/>
            </a:pPr>
            <a:r>
              <a:rPr lang="en-US" sz="800" dirty="0">
                <a:solidFill>
                  <a:srgbClr val="383838"/>
                </a:solidFill>
                <a:highlight>
                  <a:srgbClr val="F2F2F2"/>
                </a:highlight>
                <a:latin typeface="Consolas" pitchFamily="34" charset="0"/>
                <a:ea typeface="Consolas" pitchFamily="34" charset="-122"/>
                <a:cs typeface="Consolas" pitchFamily="34" charset="-120"/>
              </a:rPr>
              <a:t>m1d0b4n_BC4SJ2-PYTHON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2026-05-28T14:53:56Z</dcterms:created>
  <dcterms:modified xsi:type="dcterms:W3CDTF">2026-05-28T14:53:56Z</dcterms:modified>
</cp:coreProperties>
</file>